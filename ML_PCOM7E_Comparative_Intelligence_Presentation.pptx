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This presentation compares two forms of machine-learning intelligence applied to the same recommendation problem: a classical matrix-factorisation model and a deep neural collaborative-filtering model.</a:t>
            </a:r>
          </a:p>
          <a:p>
            <a:endParaRPr/>
          </a:p>
          <a:p>
            <a:r>
              <a:t>The aim is not simply to identify the model with the lowest error. I evaluate prediction and ranking performance, validation stability, explainability, bias, privacy, operational cost and deployment risk. The central argument is that a more complex model is only preferable when its measurable benefit is stable and large enough to justify its additional ethical and operational burden.</a:t>
            </a:r>
          </a:p>
          <a:p>
            <a:endParaRPr/>
          </a:p>
          <a:p>
            <a:r>
              <a:t>The supporting notebook contains the reproducible implementation, fixed random seeds, preprocessing, model training, evaluation and subgroup diagnostics. I will first explain the dataset and experimental design, then compare the models, and finally make a deployment recommendation.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comparison is organised around four questions. First, can each model predict ratings and rank relevant films? Second, does that performance generalise, or is it a consequence of a convenient split? Third, can the model’s behaviour be explained to developers and users? Finally, can it be operated safely, privately and fairly in a real service?</a:t>
            </a:r>
          </a:p>
          <a:p>
            <a:endParaRPr/>
          </a:p>
          <a:p>
            <a:r>
              <a:t>These dimensions matter because offline accuracy is only one part of system quality. A recommender can achieve a good average score while performing poorly for low-activity users, repeatedly promoting already-popular items, or creating explanations that are too weak for meaningful oversight.</a:t>
            </a:r>
          </a:p>
          <a:p>
            <a:endParaRPr/>
          </a:p>
          <a:p>
            <a:r>
              <a:t>Therefore, I treat deployment intelligence as the combination of performance, reliability and accountability. This framing also prevents the analysis from assuming that deep learning is automatically superior simply because it is newer or more flexible.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selected MovieLens 100K from GroupLens Research. It contains one hundred thousand explicit ratings, provided by 943 users across 1,682 films on a one-to-five scale. It is a reputable benchmark with a manageable size, making it suitable for a transparent comparison that can be reproduced on an ordinary computer.</a:t>
            </a:r>
          </a:p>
          <a:p>
            <a:endParaRPr/>
          </a:p>
          <a:p>
            <a:r>
              <a:t>The same user–item interactions are used by both models, which improves comparability. The dataset also includes limited demographic information. I do not use those fields to make predictions; I use them only after prediction to inspect whether error differs across groups.</a:t>
            </a:r>
          </a:p>
          <a:p>
            <a:endParaRPr/>
          </a:p>
          <a:p>
            <a:r>
              <a:t>There are important limitations. The data were collected in the 1990s, so they cannot represent contemporary streaming catalogues, user expectations or interface effects. Missing ratings are also ambiguous: a user may not have seen a film, may not know it exists, or may have deliberately avoided it. This means offline results should be treated as benchmark evidence, not proof of current commercial impact.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pipeline begins by downloading the official GroupLens archive and loading the ratings, user and item files. User and item identifiers are then mapped to contiguous integers. Ratings remain on their original scale, avoiding unnecessary transformations that would complicate interpretation.</a:t>
            </a:r>
          </a:p>
          <a:p>
            <a:endParaRPr/>
          </a:p>
          <a:p>
            <a:r>
              <a:t>The key design choice is the split. For every user, the most recent interaction is reserved for testing and the second most recent for validation. Earlier interactions are used for training. This temporal structure is closer to deployment than an unrestricted random split and reduces future-to-past leakage.</a:t>
            </a:r>
          </a:p>
          <a:p>
            <a:endParaRPr/>
          </a:p>
          <a:p>
            <a:r>
              <a:t>Both models use the same split and the same fixed seed. The code also checks missing core values and duplicate user–item pairs. Preprocessing maps must be stored with the model, because an inference service must apply exactly the same mapping used during training. Finally, the test set remains untouched until model selection is complete.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temporal holdout. The large blue region contains earlier ratings used to learn parameters. The amber interaction supports hyperparameter decisions and early stopping. The teal interaction is the latest rating and remains untouched until final evaluation.</a:t>
            </a:r>
          </a:p>
          <a:p>
            <a:endParaRPr/>
          </a:p>
          <a:p>
            <a:r>
              <a:t>Why is this important? If interactions are randomly mixed, a model may learn from a user’s later preferences when predicting an earlier rating. That is unrealistic for a live service. A per-user temporal split makes the question clearer: using what was known before, how well can the system predict the next observed preference?</a:t>
            </a:r>
          </a:p>
          <a:p>
            <a:endParaRPr/>
          </a:p>
          <a:p>
            <a:r>
              <a:t>I also include a three-fold sensitivity analysis within the development data. Cross-validation estimates how sensitive RMSE is to a particular partition and supports a mean and standard deviation rather than a single potentially lucky result. However, temporal test performance remains the primary deployment estimate because standard shuffled folds are not a perfect simulation of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classical model is regularised biased matrix factorisation. Its prediction is the sum of four interpretable components: the global average rating, a user bias, a movie bias, and the dot product of user and movie latent vectors.</a:t>
            </a:r>
          </a:p>
          <a:p>
            <a:endParaRPr/>
          </a:p>
          <a:p>
            <a:r>
              <a:t>The biases capture systematic behaviour. For example, some users consistently rate more generously, while some films attract higher ratings across many users. The latent interaction captures preference dimensions learned from rating patterns. These factors are not automatically human-labelled genres, but similar users and films become closer in the latent space.</a:t>
            </a:r>
          </a:p>
          <a:p>
            <a:endParaRPr/>
          </a:p>
          <a:p>
            <a:r>
              <a:t>I selected 20 factors as a moderate capacity for this dataset, stochastic gradient descent for optimisation, L2 regularisation to discourage extreme parameters, and early stopping based on validation RMSE. Outputs are clipped to the valid one-to-five range. The model is computationally efficient and its additive prediction can be decomposed, making it a strong baseline for both performance and explainability.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deep model is neural collaborative filtering. User and movie identifiers enter separate 24-dimensional embedding layers. The embeddings are concatenated and passed through dense layers with 64 and 32 ReLU units. A sigmoid output is rescaled to the one-to-five rating range.</a:t>
            </a:r>
          </a:p>
          <a:p>
            <a:endParaRPr/>
          </a:p>
          <a:p>
            <a:r>
              <a:t>This architecture can represent nonlinear interactions that a simple dot product cannot. That flexibility is the main argument for NCF. However, flexibility also increases parameter count, training time, sensitivity to hyperparameters and explanation difficulty.</a:t>
            </a:r>
          </a:p>
          <a:p>
            <a:endParaRPr/>
          </a:p>
          <a:p>
            <a:r>
              <a:t>The training strategy uses mini-batch Adam, dropout of 0.15, small weight decay, learning-rate reduction when validation improvement stalls, and early stopping. PyTorch was chosen because its modules make the architecture explicit and automatic differentiation reduces implementation error. The key question is therefore empirical: does this additional flexibility produce a stable improvement in RMSE or ranking quality large enough to justify its complexity?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summarises the central trade-off. Matrix factorisation is structurally simple: it represents interactions through a dot product. NCF replaces this with a nonlinear network, increasing expressive capacity.</a:t>
            </a:r>
          </a:p>
          <a:p>
            <a:endParaRPr/>
          </a:p>
          <a:p>
            <a:r>
              <a:t>The benefit is potential performance. The costs are greater tuning sensitivity, more parameters, longer training and a weaker direct explanation. Neither model solves cold start by itself because both depend on learned identifiers. A production design would need popularity fallbacks, content features, onboarding preferences or carefully governed exploration for new users and items.</a:t>
            </a:r>
          </a:p>
          <a:p>
            <a:endParaRPr/>
          </a:p>
          <a:p>
            <a:r>
              <a:t>Operationally, matrix factorisation is usually easier to serve with predictable latency and smaller memory use. NCF may still be justified when it produces a meaningful and repeatable ranking improvement. This is why I do not select a winner based on architecture. The decision rule combines executed metrics, cross-validation stability, subgroup behaviour and deployment cost.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use two complementary metrics. RMSE measures the difference between observed and predicted ratings. Squaring the errors penalises large mistakes more strongly, and a lower score is better. It answers a point-prediction question but does not directly measure recommendation order.</a:t>
            </a:r>
          </a:p>
          <a:p>
            <a:endParaRPr/>
          </a:p>
          <a:p>
            <a:r>
              <a:t>NDCG at ten evaluates ranking. A relevant held-out item receives more credit when it appears near the top of the list, with gains discounted at lower positions. In this notebook, relevance means a held-out rating of at least four. Each positive is compared with up to one hundred reproducibly sampled unseen items.</a:t>
            </a:r>
          </a:p>
          <a:p>
            <a:endParaRPr/>
          </a:p>
          <a:p>
            <a:r>
              <a:t>That sampling protocol must be reported because sampled NDCG is not identical to ranking the full catalogue. Metrics can also disagree: one model may predict ratings more precisely while another produces a better top-ten order. The deployment choice should reflect the real product objective. If the interface displays a ranked carousel, NDCG is especially important.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notebook automatically produces the evidence that should be reported: final test RMSE, sampled NDCG at ten, the mean and standard deviation across three development folds, parameter counts, and training curves. Runtime can also be recorded in the execution environment.</a:t>
            </a:r>
          </a:p>
          <a:p>
            <a:endParaRPr/>
          </a:p>
          <a:p>
            <a:r>
              <a:t>A single score is insufficient. A small NCF advantage that changes across folds may reflect sampling variation rather than a reliable benefit. A practical decision should ask whether the ranking gain is meaningful in relation to user experience and whether it justifies additional latency, energy use, failure modes and explanation burden.</a:t>
            </a:r>
          </a:p>
          <a:p>
            <a:endParaRPr/>
          </a:p>
          <a:p>
            <a:r>
              <a:t>The slide deliberately does not invent numerical results. Before recording, I will run all notebook cells and replace this evidence prompt with the exact output table or screenshot. This preserves academic integrity and ensures that every stated finding is reproducible from the submitted code. The recommendation remains conditional until those final values are available.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Explainability is handled differently for each model. Matrix factorisation supports a local additive explanation. For one user–film prediction, the notebook displays the global mean, the user bias, the movie bias and the latent interaction. These components reconstruct the score and help identify whether a recommendation is driven by general popularity or a user-specific match.</a:t>
            </a:r>
          </a:p>
          <a:p>
            <a:endParaRPr/>
          </a:p>
          <a:p>
            <a:r>
              <a:t>For NCF, I apply model-agnostic permutation importance. User or movie identifiers are independently shuffled in the test set, and the increase in RMSE is measured. A larger increase indicates that the trained model relies more strongly on that input identity.</a:t>
            </a:r>
          </a:p>
          <a:p>
            <a:endParaRPr/>
          </a:p>
          <a:p>
            <a:r>
              <a:t>This is useful for comparative diagnosis, but it is not a causal explanation and it does not translate automatically into a user-friendly reason. Permuting identifiers can also create unrealistic combinations. Therefore, explainability results should support debugging and oversight, while user-facing explanations should use validated reasons such as similar rated films or genre patterns and must be tested for faithfulness.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bias question is whether aggregate performance hides disparities. I compare RMSE across low-, medium- and high-activity users, as historical activity is directly connected to how much evidence the model receives. I also inspect the dataset’s gender and age bands, but only after prediction and only in aggregate.</a:t>
            </a:r>
          </a:p>
          <a:p>
            <a:endParaRPr/>
          </a:p>
          <a:p>
            <a:r>
              <a:t>Every subgroup result must be presented with its sample size. A dramatic difference in a very small group may be unstable, while a small average difference can conceal intersectional harm. Equal RMSE also does not guarantee equal recommendation quality, catalogue coverage or exposure.</a:t>
            </a:r>
          </a:p>
          <a:p>
            <a:endParaRPr/>
          </a:p>
          <a:p>
            <a:r>
              <a:t>The dataset’s gender field is binary and historically imposed, so it should not be treated as a complete representation of identity. This audit identifies warning signs; it does not certify fairness. In a real service, monitoring should include activity-stratified ranking quality, exposure concentration, coverage, feedback and carefully governed demographic analysis where collection is lawful and genuinely necessary.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ethical analysis is grounded in recommendation. Although MovieLens uses pseudonymous identifiers, combinations such as age, occupation and postcode can increase re-identification risk. Production systems should minimise collection, separate identity from event data, encrypt information, restrict access, define retention limits and support deletion and opt-out.</a:t>
            </a:r>
          </a:p>
          <a:p>
            <a:endParaRPr/>
          </a:p>
          <a:p>
            <a:r>
              <a:t>Error types also matter. A false positive can waste attention or expose someone to unsuitable content. A false negative can suppress relevant films, including niche or minority-interest content. Repeated recommendations can influence what users watch, which then becomes future training data and reinforces popularity.</a:t>
            </a:r>
          </a:p>
          <a:p>
            <a:endParaRPr/>
          </a:p>
          <a:p>
            <a:r>
              <a:t>Users should be able to dismiss recommendations, correct preferences and understand the principal reason for a suggestion. Monitoring must examine not only accuracy but also catalogue coverage and exposure concentration. The NIST AI Risk Management Framework supports ongoing governance rather than treating ethics as a one-time checklist completed before launch.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real deployment requires more than a model endpoint. The client calls an authenticated API. Candidate retrieval narrows the catalogue, the model scores candidates, and a policy layer applies safety, availability, diversity and business constraints before returning the ranked list.</a:t>
            </a:r>
          </a:p>
          <a:p>
            <a:endParaRPr/>
          </a:p>
          <a:p>
            <a:r>
              <a:t>The model and its user/item maps must be versioned together. The service should monitor p95 latency, failures, input and score drift, catalogue coverage, activity-stratified NDCG, exposure concentration and user feedback. Threshold breaches should trigger investigation, not uncontrolled automatic retraining.</a:t>
            </a:r>
          </a:p>
          <a:p>
            <a:endParaRPr/>
          </a:p>
          <a:p>
            <a:r>
              <a:t>Retraining should use a versioned snapshot, repeat offline validation and fairness checks, require human approval, and support rollback. Unseen users need a transparent fallback such as diverse popular items or onboarding preferences. Unseen films require content features or governed exploration. A managed platform such as SageMaker, Vertex AI or Azure ML can provide model registry, autoscaling and monitoring, but governance responsibilities remain with the deploying organisation.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deployment recommendation is to begin with matrix factorisation. For a dataset of this size, it offers a strong balance of predictive capability, speed, parameter efficiency and direct decomposition. It also provides a clear benchmark against which later complexity can be judged.</a:t>
            </a:r>
          </a:p>
          <a:p>
            <a:endParaRPr/>
          </a:p>
          <a:p>
            <a:r>
              <a:t>NCF should be promoted only if the executed notebook shows a meaningful ranking improvement that is stable across folds, persists on the temporal test set, and does not create unacceptable subgroup disparities. The gain must also justify its additional training cost, inference latency and explanation burden.</a:t>
            </a:r>
          </a:p>
          <a:p>
            <a:endParaRPr/>
          </a:p>
          <a:p>
            <a:r>
              <a:t>This is not a claim that classical ML is universally better. With richer contextual features, larger data and carefully measured online outcomes, a neural model may create genuine value. The conclusion is narrower: in responsible deployment, complexity must earn its place through reproducible evidence and manageable risk.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conclude, this study compares classical and deep learning under a common experimental design. Matrix factorisation makes a constrained linear assumption about latent interaction, while NCF introduces nonlinear capacity and a larger operational footprint.</a:t>
            </a:r>
          </a:p>
          <a:p>
            <a:endParaRPr/>
          </a:p>
          <a:p>
            <a:r>
              <a:t>Robust validation is what turns model scores into credible evidence. RMSE and NDCG answer different questions, and subgroup diagnostics show whether average performance is distributed unevenly. Explainability helps identify reliance and supports debugging, but it must not be confused with causal proof.</a:t>
            </a:r>
          </a:p>
          <a:p>
            <a:endParaRPr/>
          </a:p>
          <a:p>
            <a:r>
              <a:t>The final recommendation is therefore evidence-based and conditional: choose the simplest model that reliably meets the real objective, then surround it with privacy controls, a policy layer, monitoring, human approval, fallbacks and rollback. Responsible machine-learning intelligence is not defined only by what a model can predict. It is defined by whether the complete system can be understood, governed and trusted after it leaves training.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principal sources supporting the dataset, model architectures, evaluation caution and risk-management approach. Full links and bibliographic details are also included in the Jupyter Notebook.</a:t>
            </a:r>
          </a:p>
          <a:p>
            <a:endParaRPr/>
          </a:p>
          <a:p>
            <a:r>
              <a:t>Harper and Konstan document the MovieLens dataset. Koren and colleagues provide the matrix-factorisation basis. He and colleagues introduce neural collaborative filtering. Rendle and colleagues explain why recommender-system baselines and evaluation protocols must be reported carefully. The NIST AI Risk Management Framework informs the governance and monitoring discussion.</a:t>
            </a:r>
          </a:p>
          <a:p>
            <a:endParaRPr/>
          </a:p>
          <a:p>
            <a:r>
              <a:t>Thank you. I am now ready to answer questions about the modelling choices, validation design, explainability, ethical risks or deployment recommendation.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71525"/>
            </a:gs>
            <a:gs pos="100000">
              <a:srgbClr val="103452"/>
            </a:gs>
          </a:gsLst>
          <a:lin ang="8100000"/>
        </a:gra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C343F6FC-13A0-4DCB-9252-216E43B20B81}"/>
              </a:ext>
            </a:extLst>
          </p:cNvPr>
          <p:cNvSpPr>
            <a:spLocks noGrp="1"/>
          </p:cNvSpPr>
          <p:nvPr/>
        </p:nvSpPr>
        <p:spPr>
          <a:xfrm>
            <a:off x="609600" y="552450"/>
            <a:ext cx="2152650" cy="323850"/>
          </a:xfrm>
          <a:prstGeom prst="roundRect">
            <a:avLst>
              <a:gd name="adj" fmla="val 35294"/>
            </a:avLst>
          </a:prstGeom>
          <a:solidFill>
            <a:srgbClr val="32D3C7"/>
          </a:solidFill>
          <a:ln w="0">
            <a:noFill/>
            <a:prstDash val="solid"/>
          </a:ln>
        </p:spPr>
        <p:txBody>
          <a:bodyPr/>
          <a:lstStyle/>
          <a:p>
            <a:endParaRPr lang="en-US"/>
          </a:p>
        </p:txBody>
      </p:sp>
      <p:sp>
        <p:nvSpPr>
          <p:cNvPr id="2" name="Rectangle 1">
            <a:extLst>
              <a:ext uri="{FF2B5EF4-FFF2-40B4-BE49-F238E27FC236}">
                <a16:creationId xmlns:a16="http://schemas.microsoft.com/office/drawing/2014/main" id="{DD610A85-600A-4782-9362-17206A1649C1}"/>
              </a:ext>
            </a:extLst>
          </p:cNvPr>
          <p:cNvSpPr>
            <a:spLocks noGrp="1"/>
          </p:cNvSpPr>
          <p:nvPr/>
        </p:nvSpPr>
        <p:spPr>
          <a:xfrm>
            <a:off x="609600" y="552450"/>
            <a:ext cx="2152650" cy="323850"/>
          </a:xfrm>
          <a:prstGeom prst="rect">
            <a:avLst/>
          </a:prstGeom>
          <a:noFill/>
          <a:ln w="0">
            <a:noFill/>
            <a:prstDash val="solid"/>
          </a:ln>
        </p:spPr>
        <p:txBody>
          <a:bodyPr anchor="ctr"/>
          <a:lstStyle/>
          <a:p>
            <a:pPr algn="ctr">
              <a:defRPr sz="1125" b="1">
                <a:solidFill>
                  <a:srgbClr val="071525"/>
                </a:solidFill>
              </a:defRPr>
            </a:pPr>
            <a:r>
              <a:rPr sz="1125" b="1">
                <a:solidFill>
                  <a:srgbClr val="071525"/>
                </a:solidFill>
              </a:rPr>
              <a:t>RECOMMENDER SYSTEMS</a:t>
            </a:r>
          </a:p>
        </p:txBody>
      </p:sp>
      <p:sp>
        <p:nvSpPr>
          <p:cNvPr id="3" name="Rectangle 2">
            <a:extLst>
              <a:ext uri="{FF2B5EF4-FFF2-40B4-BE49-F238E27FC236}">
                <a16:creationId xmlns:a16="http://schemas.microsoft.com/office/drawing/2014/main" id="{8BCD094D-DD81-4F9A-977C-F50BC8C19979}"/>
              </a:ext>
            </a:extLst>
          </p:cNvPr>
          <p:cNvSpPr>
            <a:spLocks noGrp="1"/>
          </p:cNvSpPr>
          <p:nvPr/>
        </p:nvSpPr>
        <p:spPr>
          <a:xfrm>
            <a:off x="609600" y="1476375"/>
            <a:ext cx="7239000" cy="1809750"/>
          </a:xfrm>
          <a:prstGeom prst="rect">
            <a:avLst/>
          </a:prstGeom>
          <a:noFill/>
          <a:ln w="0">
            <a:noFill/>
            <a:prstDash val="solid"/>
          </a:ln>
        </p:spPr>
        <p:txBody>
          <a:bodyPr anchor="ctr"/>
          <a:lstStyle/>
          <a:p>
            <a:pPr algn="l">
              <a:defRPr sz="3750" b="1">
                <a:solidFill>
                  <a:srgbClr val="F8FBFF"/>
                </a:solidFill>
              </a:defRPr>
            </a:pPr>
            <a:r>
              <a:rPr sz="3750" b="1">
                <a:solidFill>
                  <a:srgbClr val="F8FBFF"/>
                </a:solidFill>
              </a:rPr>
              <a:t>Comparative Intelligence</a:t>
            </a:r>
          </a:p>
          <a:p>
            <a:pPr algn="l">
              <a:defRPr sz="3750" b="1">
                <a:solidFill>
                  <a:srgbClr val="F8FBFF"/>
                </a:solidFill>
              </a:defRPr>
            </a:pPr>
            <a:r>
              <a:rPr sz="3750" b="1">
                <a:solidFill>
                  <a:srgbClr val="F8FBFF"/>
                </a:solidFill>
              </a:rPr>
              <a:t>and Ethics in Machine Learning</a:t>
            </a:r>
          </a:p>
        </p:txBody>
      </p:sp>
      <p:sp>
        <p:nvSpPr>
          <p:cNvPr id="4" name="Rectangle 3">
            <a:extLst>
              <a:ext uri="{FF2B5EF4-FFF2-40B4-BE49-F238E27FC236}">
                <a16:creationId xmlns:a16="http://schemas.microsoft.com/office/drawing/2014/main" id="{1BA4C503-3DCF-4338-830C-2B597637C10E}"/>
              </a:ext>
            </a:extLst>
          </p:cNvPr>
          <p:cNvSpPr>
            <a:spLocks noGrp="1"/>
          </p:cNvSpPr>
          <p:nvPr/>
        </p:nvSpPr>
        <p:spPr>
          <a:xfrm>
            <a:off x="647700" y="3524250"/>
            <a:ext cx="7239000" cy="647700"/>
          </a:xfrm>
          <a:prstGeom prst="rect">
            <a:avLst/>
          </a:prstGeom>
          <a:noFill/>
          <a:ln w="0">
            <a:noFill/>
            <a:prstDash val="solid"/>
          </a:ln>
        </p:spPr>
        <p:txBody>
          <a:bodyPr anchor="ctr"/>
          <a:lstStyle/>
          <a:p>
            <a:pPr algn="l">
              <a:defRPr sz="1800" b="0">
                <a:solidFill>
                  <a:srgbClr val="A8B8C8"/>
                </a:solidFill>
              </a:defRPr>
            </a:pPr>
            <a:r>
              <a:rPr sz="1800" b="0">
                <a:solidFill>
                  <a:srgbClr val="A8B8C8"/>
                </a:solidFill>
              </a:rPr>
              <a:t>Classical matrix factorisation vs deep neural collaborative filtering</a:t>
            </a:r>
          </a:p>
        </p:txBody>
      </p:sp>
      <p:sp>
        <p:nvSpPr>
          <p:cNvPr id="5" name="Rectangle: Rounded Corners 4">
            <a:extLst>
              <a:ext uri="{FF2B5EF4-FFF2-40B4-BE49-F238E27FC236}">
                <a16:creationId xmlns:a16="http://schemas.microsoft.com/office/drawing/2014/main" id="{C84374C8-E987-4B68-B4E2-94C1CA8DE0B2}"/>
              </a:ext>
            </a:extLst>
          </p:cNvPr>
          <p:cNvSpPr>
            <a:spLocks noGrp="1"/>
          </p:cNvSpPr>
          <p:nvPr/>
        </p:nvSpPr>
        <p:spPr>
          <a:xfrm>
            <a:off x="8572500" y="1285875"/>
            <a:ext cx="2286000" cy="2286000"/>
          </a:xfrm>
          <a:prstGeom prst="roundRect">
            <a:avLst>
              <a:gd name="adj" fmla="val 5000"/>
            </a:avLst>
          </a:prstGeom>
          <a:solidFill>
            <a:srgbClr val="32D3C7"/>
          </a:solidFill>
          <a:ln w="0">
            <a:noFill/>
            <a:prstDash val="solid"/>
          </a:ln>
        </p:spPr>
        <p:txBody>
          <a:bodyPr/>
          <a:lstStyle/>
          <a:p>
            <a:endParaRPr lang="en-US"/>
          </a:p>
        </p:txBody>
      </p:sp>
      <p:sp>
        <p:nvSpPr>
          <p:cNvPr id="6" name="Rectangle 5">
            <a:extLst>
              <a:ext uri="{FF2B5EF4-FFF2-40B4-BE49-F238E27FC236}">
                <a16:creationId xmlns:a16="http://schemas.microsoft.com/office/drawing/2014/main" id="{C62D0DF1-1860-4E52-BF4A-047956BAB85A}"/>
              </a:ext>
            </a:extLst>
          </p:cNvPr>
          <p:cNvSpPr>
            <a:spLocks noGrp="1"/>
          </p:cNvSpPr>
          <p:nvPr/>
        </p:nvSpPr>
        <p:spPr>
          <a:xfrm>
            <a:off x="8572500" y="1285875"/>
            <a:ext cx="2286000" cy="2286000"/>
          </a:xfrm>
          <a:prstGeom prst="rect">
            <a:avLst/>
          </a:prstGeom>
          <a:noFill/>
          <a:ln w="0">
            <a:noFill/>
            <a:prstDash val="solid"/>
          </a:ln>
        </p:spPr>
        <p:txBody>
          <a:bodyPr anchor="ctr"/>
          <a:lstStyle/>
          <a:p>
            <a:pPr algn="ctr">
              <a:defRPr sz="5400" b="1">
                <a:solidFill>
                  <a:srgbClr val="071525"/>
                </a:solidFill>
              </a:defRPr>
            </a:pPr>
            <a:r>
              <a:rPr sz="5400" b="1">
                <a:solidFill>
                  <a:srgbClr val="071525"/>
                </a:solidFill>
              </a:rPr>
              <a:t>ML</a:t>
            </a:r>
          </a:p>
        </p:txBody>
      </p:sp>
      <p:sp>
        <p:nvSpPr>
          <p:cNvPr id="7" name="Rectangle 6">
            <a:extLst>
              <a:ext uri="{FF2B5EF4-FFF2-40B4-BE49-F238E27FC236}">
                <a16:creationId xmlns:a16="http://schemas.microsoft.com/office/drawing/2014/main" id="{526035BC-4565-4ABD-883C-444695A5F0F4}"/>
              </a:ext>
            </a:extLst>
          </p:cNvPr>
          <p:cNvSpPr>
            <a:spLocks noGrp="1"/>
          </p:cNvSpPr>
          <p:nvPr/>
        </p:nvSpPr>
        <p:spPr>
          <a:xfrm>
            <a:off x="8572500" y="3848100"/>
            <a:ext cx="2286000" cy="342900"/>
          </a:xfrm>
          <a:prstGeom prst="rect">
            <a:avLst/>
          </a:prstGeom>
          <a:noFill/>
          <a:ln w="0">
            <a:noFill/>
            <a:prstDash val="solid"/>
          </a:ln>
        </p:spPr>
        <p:txBody>
          <a:bodyPr anchor="ctr"/>
          <a:lstStyle/>
          <a:p>
            <a:pPr algn="ctr">
              <a:defRPr sz="1650" b="1">
                <a:solidFill>
                  <a:srgbClr val="FFB547"/>
                </a:solidFill>
              </a:defRPr>
            </a:pPr>
            <a:r>
              <a:rPr sz="1650" b="1">
                <a:solidFill>
                  <a:srgbClr val="FFB547"/>
                </a:solidFill>
              </a:rPr>
              <a:t>MovieLens 100K</a:t>
            </a:r>
          </a:p>
        </p:txBody>
      </p:sp>
      <p:sp>
        <p:nvSpPr>
          <p:cNvPr id="8" name="Rectangle 7">
            <a:extLst>
              <a:ext uri="{FF2B5EF4-FFF2-40B4-BE49-F238E27FC236}">
                <a16:creationId xmlns:a16="http://schemas.microsoft.com/office/drawing/2014/main" id="{839DDF7C-844A-4990-9806-9882F5A028E1}"/>
              </a:ext>
            </a:extLst>
          </p:cNvPr>
          <p:cNvSpPr>
            <a:spLocks noGrp="1"/>
          </p:cNvSpPr>
          <p:nvPr/>
        </p:nvSpPr>
        <p:spPr>
          <a:xfrm>
            <a:off x="647700" y="5905500"/>
            <a:ext cx="7239000" cy="228600"/>
          </a:xfrm>
          <a:prstGeom prst="rect">
            <a:avLst/>
          </a:prstGeom>
          <a:noFill/>
          <a:ln w="0">
            <a:noFill/>
            <a:prstDash val="solid"/>
          </a:ln>
        </p:spPr>
        <p:txBody>
          <a:bodyPr anchor="ctr"/>
          <a:lstStyle/>
          <a:p>
            <a:pPr algn="l">
              <a:defRPr sz="1200" b="1">
                <a:solidFill>
                  <a:srgbClr val="F8FBFF"/>
                </a:solidFill>
              </a:defRPr>
            </a:pPr>
            <a:r>
              <a:rPr sz="1200" b="1">
                <a:solidFill>
                  <a:srgbClr val="F8FBFF"/>
                </a:solidFill>
              </a:rPr>
              <a:t>ML_PCOM7E • Unit 11 Summative Assessment</a:t>
            </a:r>
          </a:p>
        </p:txBody>
      </p:sp>
    </p:spTree>
    <p:extLst>
      <p:ext uri="{BB962C8B-B14F-4D97-AF65-F5344CB8AC3E}">
        <p14:creationId xmlns:p14="http://schemas.microsoft.com/office/powerpoint/2010/main" val="998451896"/>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C3020E2-3D44-4EFB-87D8-1445DB60E499}"/>
              </a:ext>
            </a:extLst>
          </p:cNvPr>
          <p:cNvSpPr>
            <a:spLocks noGrp="1"/>
          </p:cNvSpPr>
          <p:nvPr/>
        </p:nvSpPr>
        <p:spPr>
          <a:xfrm>
            <a:off x="609600" y="323850"/>
            <a:ext cx="4762500" cy="228600"/>
          </a:xfrm>
          <a:prstGeom prst="rect">
            <a:avLst/>
          </a:prstGeom>
          <a:noFill/>
          <a:ln w="0">
            <a:noFill/>
            <a:prstDash val="solid"/>
          </a:ln>
        </p:spPr>
        <p:txBody>
          <a:bodyPr anchor="ctr"/>
          <a:lstStyle/>
          <a:p>
            <a:pPr algn="l">
              <a:defRPr sz="975" b="1">
                <a:solidFill>
                  <a:srgbClr val="32D3C7"/>
                </a:solidFill>
              </a:defRPr>
            </a:pPr>
            <a:r>
              <a:rPr sz="975" b="1">
                <a:solidFill>
                  <a:srgbClr val="32D3C7"/>
                </a:solidFill>
              </a:rPr>
              <a:t>DECISION FRAMING</a:t>
            </a:r>
          </a:p>
        </p:txBody>
      </p:sp>
      <p:sp>
        <p:nvSpPr>
          <p:cNvPr id="2" name="Rectangle 1">
            <a:extLst>
              <a:ext uri="{FF2B5EF4-FFF2-40B4-BE49-F238E27FC236}">
                <a16:creationId xmlns:a16="http://schemas.microsoft.com/office/drawing/2014/main" id="{437FBE73-08D4-4B74-8EC6-B13E7DD31B4E}"/>
              </a:ext>
            </a:extLst>
          </p:cNvPr>
          <p:cNvSpPr>
            <a:spLocks noGrp="1"/>
          </p:cNvSpPr>
          <p:nvPr/>
        </p:nvSpPr>
        <p:spPr>
          <a:xfrm>
            <a:off x="609600" y="638175"/>
            <a:ext cx="10668000" cy="552450"/>
          </a:xfrm>
          <a:prstGeom prst="rect">
            <a:avLst/>
          </a:prstGeom>
          <a:noFill/>
          <a:ln w="0">
            <a:noFill/>
            <a:prstDash val="solid"/>
          </a:ln>
        </p:spPr>
        <p:txBody>
          <a:bodyPr anchor="ctr"/>
          <a:lstStyle/>
          <a:p>
            <a:pPr algn="l">
              <a:defRPr sz="2700" b="1">
                <a:solidFill>
                  <a:srgbClr val="F8FBFF"/>
                </a:solidFill>
              </a:defRPr>
            </a:pPr>
            <a:r>
              <a:rPr sz="2700" b="1">
                <a:solidFill>
                  <a:srgbClr val="F8FBFF"/>
                </a:solidFill>
              </a:rPr>
              <a:t>The decision is broader than “Which model is most accurate?”</a:t>
            </a:r>
          </a:p>
        </p:txBody>
      </p:sp>
      <p:sp>
        <p:nvSpPr>
          <p:cNvPr id="3" name="Straight Connector 2">
            <a:extLst>
              <a:ext uri="{FF2B5EF4-FFF2-40B4-BE49-F238E27FC236}">
                <a16:creationId xmlns:a16="http://schemas.microsoft.com/office/drawing/2014/main" id="{6083EFF6-CF84-4F90-93D8-025184B655C4}"/>
              </a:ext>
            </a:extLst>
          </p:cNvPr>
          <p:cNvSpPr>
            <a:spLocks noGrp="1"/>
          </p:cNvSpPr>
          <p:nvPr/>
        </p:nvSpPr>
        <p:spPr>
          <a:xfrm>
            <a:off x="609600" y="1304925"/>
            <a:ext cx="10972800" cy="0"/>
          </a:xfrm>
          <a:prstGeom prst="line">
            <a:avLst/>
          </a:prstGeom>
          <a:ln w="9525">
            <a:solidFill>
              <a:srgbClr val="28445F"/>
            </a:solidFill>
            <a:prstDash val="solid"/>
          </a:ln>
        </p:spPr>
        <p:txBody>
          <a:bodyPr/>
          <a:lstStyle/>
          <a:p>
            <a:endParaRPr lang="en-US"/>
          </a:p>
        </p:txBody>
      </p:sp>
      <p:sp>
        <p:nvSpPr>
          <p:cNvPr id="4" name="Rectangle 3">
            <a:extLst>
              <a:ext uri="{FF2B5EF4-FFF2-40B4-BE49-F238E27FC236}">
                <a16:creationId xmlns:a16="http://schemas.microsoft.com/office/drawing/2014/main" id="{A728F9C6-B893-46B4-BF3B-542F04F6E099}"/>
              </a:ext>
            </a:extLst>
          </p:cNvPr>
          <p:cNvSpPr>
            <a:spLocks noGrp="1"/>
          </p:cNvSpPr>
          <p:nvPr/>
        </p:nvSpPr>
        <p:spPr>
          <a:xfrm>
            <a:off x="11239500" y="6238875"/>
            <a:ext cx="428625" cy="228600"/>
          </a:xfrm>
          <a:prstGeom prst="rect">
            <a:avLst/>
          </a:prstGeom>
          <a:noFill/>
          <a:ln w="0">
            <a:noFill/>
            <a:prstDash val="solid"/>
          </a:ln>
        </p:spPr>
        <p:txBody>
          <a:bodyPr anchor="ctr"/>
          <a:lstStyle/>
          <a:p>
            <a:pPr algn="r">
              <a:defRPr sz="900" b="1">
                <a:solidFill>
                  <a:srgbClr val="A8B8C8"/>
                </a:solidFill>
              </a:defRPr>
            </a:pPr>
            <a:r>
              <a:rPr sz="900" b="1">
                <a:solidFill>
                  <a:srgbClr val="A8B8C8"/>
                </a:solidFill>
              </a:rPr>
              <a:t>02</a:t>
            </a:r>
          </a:p>
        </p:txBody>
      </p:sp>
      <p:sp>
        <p:nvSpPr>
          <p:cNvPr id="5" name="Rectangle: Rounded Corners 4">
            <a:extLst>
              <a:ext uri="{FF2B5EF4-FFF2-40B4-BE49-F238E27FC236}">
                <a16:creationId xmlns:a16="http://schemas.microsoft.com/office/drawing/2014/main" id="{1CF1DDAD-320B-47EF-8298-84FE1530D12C}"/>
              </a:ext>
            </a:extLst>
          </p:cNvPr>
          <p:cNvSpPr>
            <a:spLocks noGrp="1"/>
          </p:cNvSpPr>
          <p:nvPr/>
        </p:nvSpPr>
        <p:spPr>
          <a:xfrm>
            <a:off x="609600" y="1809750"/>
            <a:ext cx="2400300" cy="3000375"/>
          </a:xfrm>
          <a:prstGeom prst="roundRect">
            <a:avLst>
              <a:gd name="adj" fmla="val 4762"/>
            </a:avLst>
          </a:prstGeom>
          <a:solidFill>
            <a:srgbClr val="102A43"/>
          </a:solidFill>
          <a:ln w="0">
            <a:noFill/>
            <a:prstDash val="solid"/>
          </a:ln>
        </p:spPr>
        <p:txBody>
          <a:bodyPr/>
          <a:lstStyle/>
          <a:p>
            <a:endParaRPr lang="en-US"/>
          </a:p>
        </p:txBody>
      </p:sp>
      <p:sp>
        <p:nvSpPr>
          <p:cNvPr id="6" name="Rectangle 5">
            <a:extLst>
              <a:ext uri="{FF2B5EF4-FFF2-40B4-BE49-F238E27FC236}">
                <a16:creationId xmlns:a16="http://schemas.microsoft.com/office/drawing/2014/main" id="{44FFED5C-219B-4DB0-AF8E-1704FA626EAD}"/>
              </a:ext>
            </a:extLst>
          </p:cNvPr>
          <p:cNvSpPr>
            <a:spLocks noGrp="1"/>
          </p:cNvSpPr>
          <p:nvPr/>
        </p:nvSpPr>
        <p:spPr>
          <a:xfrm>
            <a:off x="800100" y="2019300"/>
            <a:ext cx="523875" cy="419100"/>
          </a:xfrm>
          <a:prstGeom prst="rect">
            <a:avLst/>
          </a:prstGeom>
          <a:noFill/>
          <a:ln w="0">
            <a:noFill/>
            <a:prstDash val="solid"/>
          </a:ln>
        </p:spPr>
        <p:txBody>
          <a:bodyPr anchor="ctr"/>
          <a:lstStyle/>
          <a:p>
            <a:pPr algn="l">
              <a:defRPr sz="1275" b="1">
                <a:solidFill>
                  <a:srgbClr val="FFB547"/>
                </a:solidFill>
              </a:defRPr>
            </a:pPr>
            <a:r>
              <a:rPr sz="1275" b="1">
                <a:solidFill>
                  <a:srgbClr val="FFB547"/>
                </a:solidFill>
              </a:rPr>
              <a:t>01</a:t>
            </a:r>
          </a:p>
        </p:txBody>
      </p:sp>
      <p:sp>
        <p:nvSpPr>
          <p:cNvPr id="7" name="Rectangle 6">
            <a:extLst>
              <a:ext uri="{FF2B5EF4-FFF2-40B4-BE49-F238E27FC236}">
                <a16:creationId xmlns:a16="http://schemas.microsoft.com/office/drawing/2014/main" id="{59858EF9-F67F-49A1-B598-48BECD96D47C}"/>
              </a:ext>
            </a:extLst>
          </p:cNvPr>
          <p:cNvSpPr>
            <a:spLocks noGrp="1"/>
          </p:cNvSpPr>
          <p:nvPr/>
        </p:nvSpPr>
        <p:spPr>
          <a:xfrm>
            <a:off x="800100" y="2667000"/>
            <a:ext cx="2000250" cy="381000"/>
          </a:xfrm>
          <a:prstGeom prst="rect">
            <a:avLst/>
          </a:prstGeom>
          <a:noFill/>
          <a:ln w="0">
            <a:noFill/>
            <a:prstDash val="solid"/>
          </a:ln>
        </p:spPr>
        <p:txBody>
          <a:bodyPr anchor="ctr"/>
          <a:lstStyle/>
          <a:p>
            <a:pPr algn="l">
              <a:defRPr sz="2025" b="1">
                <a:solidFill>
                  <a:srgbClr val="F8FBFF"/>
                </a:solidFill>
              </a:defRPr>
            </a:pPr>
            <a:r>
              <a:rPr sz="2025" b="1">
                <a:solidFill>
                  <a:srgbClr val="F8FBFF"/>
                </a:solidFill>
              </a:rPr>
              <a:t>Predict</a:t>
            </a:r>
          </a:p>
        </p:txBody>
      </p:sp>
      <p:sp>
        <p:nvSpPr>
          <p:cNvPr id="8" name="Rectangle 7">
            <a:extLst>
              <a:ext uri="{FF2B5EF4-FFF2-40B4-BE49-F238E27FC236}">
                <a16:creationId xmlns:a16="http://schemas.microsoft.com/office/drawing/2014/main" id="{0EBBD747-B1FF-4C3F-9AD7-DADF5AAD5C19}"/>
              </a:ext>
            </a:extLst>
          </p:cNvPr>
          <p:cNvSpPr>
            <a:spLocks noGrp="1"/>
          </p:cNvSpPr>
          <p:nvPr/>
        </p:nvSpPr>
        <p:spPr>
          <a:xfrm>
            <a:off x="800100" y="3295650"/>
            <a:ext cx="2000250" cy="952500"/>
          </a:xfrm>
          <a:prstGeom prst="rect">
            <a:avLst/>
          </a:prstGeom>
          <a:noFill/>
          <a:ln w="0">
            <a:noFill/>
            <a:prstDash val="solid"/>
          </a:ln>
        </p:spPr>
        <p:txBody>
          <a:bodyPr anchor="ctr"/>
          <a:lstStyle/>
          <a:p>
            <a:pPr algn="l">
              <a:defRPr sz="1350" b="0">
                <a:solidFill>
                  <a:srgbClr val="A8B8C8"/>
                </a:solidFill>
              </a:defRPr>
            </a:pPr>
            <a:r>
              <a:rPr sz="1350" b="0">
                <a:solidFill>
                  <a:srgbClr val="A8B8C8"/>
                </a:solidFill>
              </a:rPr>
              <a:t>Estimate ratings and rank relevant films</a:t>
            </a:r>
          </a:p>
        </p:txBody>
      </p:sp>
      <p:sp>
        <p:nvSpPr>
          <p:cNvPr id="9" name="Rectangle: Rounded Corners 8">
            <a:extLst>
              <a:ext uri="{FF2B5EF4-FFF2-40B4-BE49-F238E27FC236}">
                <a16:creationId xmlns:a16="http://schemas.microsoft.com/office/drawing/2014/main" id="{81CCE263-1B6F-450F-9996-4DB2377B62C8}"/>
              </a:ext>
            </a:extLst>
          </p:cNvPr>
          <p:cNvSpPr>
            <a:spLocks noGrp="1"/>
          </p:cNvSpPr>
          <p:nvPr/>
        </p:nvSpPr>
        <p:spPr>
          <a:xfrm>
            <a:off x="3381375" y="1809750"/>
            <a:ext cx="2400300" cy="3000375"/>
          </a:xfrm>
          <a:prstGeom prst="roundRect">
            <a:avLst>
              <a:gd name="adj" fmla="val 4762"/>
            </a:avLst>
          </a:prstGeom>
          <a:solidFill>
            <a:srgbClr val="102A43"/>
          </a:solidFill>
          <a:ln w="0">
            <a:noFill/>
            <a:prstDash val="solid"/>
          </a:ln>
        </p:spPr>
        <p:txBody>
          <a:bodyPr/>
          <a:lstStyle/>
          <a:p>
            <a:endParaRPr lang="en-US"/>
          </a:p>
        </p:txBody>
      </p:sp>
      <p:sp>
        <p:nvSpPr>
          <p:cNvPr id="10" name="Rectangle 9">
            <a:extLst>
              <a:ext uri="{FF2B5EF4-FFF2-40B4-BE49-F238E27FC236}">
                <a16:creationId xmlns:a16="http://schemas.microsoft.com/office/drawing/2014/main" id="{B1F60FFD-3613-448D-A3F3-0746C289B739}"/>
              </a:ext>
            </a:extLst>
          </p:cNvPr>
          <p:cNvSpPr>
            <a:spLocks noGrp="1"/>
          </p:cNvSpPr>
          <p:nvPr/>
        </p:nvSpPr>
        <p:spPr>
          <a:xfrm>
            <a:off x="3571875" y="2019300"/>
            <a:ext cx="523875" cy="419100"/>
          </a:xfrm>
          <a:prstGeom prst="rect">
            <a:avLst/>
          </a:prstGeom>
          <a:noFill/>
          <a:ln w="0">
            <a:noFill/>
            <a:prstDash val="solid"/>
          </a:ln>
        </p:spPr>
        <p:txBody>
          <a:bodyPr anchor="ctr"/>
          <a:lstStyle/>
          <a:p>
            <a:pPr algn="l">
              <a:defRPr sz="1275" b="1">
                <a:solidFill>
                  <a:srgbClr val="FFB547"/>
                </a:solidFill>
              </a:defRPr>
            </a:pPr>
            <a:r>
              <a:rPr sz="1275" b="1">
                <a:solidFill>
                  <a:srgbClr val="FFB547"/>
                </a:solidFill>
              </a:rPr>
              <a:t>02</a:t>
            </a:r>
          </a:p>
        </p:txBody>
      </p:sp>
      <p:sp>
        <p:nvSpPr>
          <p:cNvPr id="11" name="Rectangle 10">
            <a:extLst>
              <a:ext uri="{FF2B5EF4-FFF2-40B4-BE49-F238E27FC236}">
                <a16:creationId xmlns:a16="http://schemas.microsoft.com/office/drawing/2014/main" id="{49EC6D87-CB8B-4F8D-B0A7-7014F70AFA52}"/>
              </a:ext>
            </a:extLst>
          </p:cNvPr>
          <p:cNvSpPr>
            <a:spLocks noGrp="1"/>
          </p:cNvSpPr>
          <p:nvPr/>
        </p:nvSpPr>
        <p:spPr>
          <a:xfrm>
            <a:off x="3571875" y="2667000"/>
            <a:ext cx="2000250" cy="381000"/>
          </a:xfrm>
          <a:prstGeom prst="rect">
            <a:avLst/>
          </a:prstGeom>
          <a:noFill/>
          <a:ln w="0">
            <a:noFill/>
            <a:prstDash val="solid"/>
          </a:ln>
        </p:spPr>
        <p:txBody>
          <a:bodyPr anchor="ctr"/>
          <a:lstStyle/>
          <a:p>
            <a:pPr algn="l">
              <a:defRPr sz="2025" b="1">
                <a:solidFill>
                  <a:srgbClr val="F8FBFF"/>
                </a:solidFill>
              </a:defRPr>
            </a:pPr>
            <a:r>
              <a:rPr sz="2025" b="1">
                <a:solidFill>
                  <a:srgbClr val="F8FBFF"/>
                </a:solidFill>
              </a:rPr>
              <a:t>Generalise</a:t>
            </a:r>
          </a:p>
        </p:txBody>
      </p:sp>
      <p:sp>
        <p:nvSpPr>
          <p:cNvPr id="12" name="Rectangle 11">
            <a:extLst>
              <a:ext uri="{FF2B5EF4-FFF2-40B4-BE49-F238E27FC236}">
                <a16:creationId xmlns:a16="http://schemas.microsoft.com/office/drawing/2014/main" id="{AE2042BA-BB1F-4108-946B-6B0AED72D884}"/>
              </a:ext>
            </a:extLst>
          </p:cNvPr>
          <p:cNvSpPr>
            <a:spLocks noGrp="1"/>
          </p:cNvSpPr>
          <p:nvPr/>
        </p:nvSpPr>
        <p:spPr>
          <a:xfrm>
            <a:off x="3571875" y="3295650"/>
            <a:ext cx="2000250" cy="952500"/>
          </a:xfrm>
          <a:prstGeom prst="rect">
            <a:avLst/>
          </a:prstGeom>
          <a:noFill/>
          <a:ln w="0">
            <a:noFill/>
            <a:prstDash val="solid"/>
          </a:ln>
        </p:spPr>
        <p:txBody>
          <a:bodyPr anchor="ctr"/>
          <a:lstStyle/>
          <a:p>
            <a:pPr algn="l">
              <a:defRPr sz="1350" b="0">
                <a:solidFill>
                  <a:srgbClr val="A8B8C8"/>
                </a:solidFill>
              </a:defRPr>
            </a:pPr>
            <a:r>
              <a:rPr sz="1350" b="0">
                <a:solidFill>
                  <a:srgbClr val="A8B8C8"/>
                </a:solidFill>
              </a:rPr>
              <a:t>Remain stable beyond the training sample</a:t>
            </a:r>
          </a:p>
        </p:txBody>
      </p:sp>
      <p:sp>
        <p:nvSpPr>
          <p:cNvPr id="13" name="Rectangle: Rounded Corners 12">
            <a:extLst>
              <a:ext uri="{FF2B5EF4-FFF2-40B4-BE49-F238E27FC236}">
                <a16:creationId xmlns:a16="http://schemas.microsoft.com/office/drawing/2014/main" id="{23A2C2C7-570E-4F1D-8654-9550FE682090}"/>
              </a:ext>
            </a:extLst>
          </p:cNvPr>
          <p:cNvSpPr>
            <a:spLocks noGrp="1"/>
          </p:cNvSpPr>
          <p:nvPr/>
        </p:nvSpPr>
        <p:spPr>
          <a:xfrm>
            <a:off x="6153150" y="1809750"/>
            <a:ext cx="2400300" cy="3000375"/>
          </a:xfrm>
          <a:prstGeom prst="roundRect">
            <a:avLst>
              <a:gd name="adj" fmla="val 4762"/>
            </a:avLst>
          </a:prstGeom>
          <a:solidFill>
            <a:srgbClr val="102A43"/>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E3D2C574-3613-440A-92F3-6596EE55DAF3}"/>
              </a:ext>
            </a:extLst>
          </p:cNvPr>
          <p:cNvSpPr>
            <a:spLocks noGrp="1"/>
          </p:cNvSpPr>
          <p:nvPr/>
        </p:nvSpPr>
        <p:spPr>
          <a:xfrm>
            <a:off x="6343650" y="2019300"/>
            <a:ext cx="523875" cy="419100"/>
          </a:xfrm>
          <a:prstGeom prst="rect">
            <a:avLst/>
          </a:prstGeom>
          <a:noFill/>
          <a:ln w="0">
            <a:noFill/>
            <a:prstDash val="solid"/>
          </a:ln>
        </p:spPr>
        <p:txBody>
          <a:bodyPr anchor="ctr"/>
          <a:lstStyle/>
          <a:p>
            <a:pPr algn="l">
              <a:defRPr sz="1275" b="1">
                <a:solidFill>
                  <a:srgbClr val="FFB547"/>
                </a:solidFill>
              </a:defRPr>
            </a:pPr>
            <a:r>
              <a:rPr sz="1275" b="1">
                <a:solidFill>
                  <a:srgbClr val="FFB547"/>
                </a:solidFill>
              </a:rPr>
              <a:t>03</a:t>
            </a:r>
          </a:p>
        </p:txBody>
      </p:sp>
      <p:sp>
        <p:nvSpPr>
          <p:cNvPr id="15" name="Rectangle 14">
            <a:extLst>
              <a:ext uri="{FF2B5EF4-FFF2-40B4-BE49-F238E27FC236}">
                <a16:creationId xmlns:a16="http://schemas.microsoft.com/office/drawing/2014/main" id="{57F45122-140E-4911-9CA2-C743FB76F10B}"/>
              </a:ext>
            </a:extLst>
          </p:cNvPr>
          <p:cNvSpPr>
            <a:spLocks noGrp="1"/>
          </p:cNvSpPr>
          <p:nvPr/>
        </p:nvSpPr>
        <p:spPr>
          <a:xfrm>
            <a:off x="6343650" y="2667000"/>
            <a:ext cx="2000250" cy="381000"/>
          </a:xfrm>
          <a:prstGeom prst="rect">
            <a:avLst/>
          </a:prstGeom>
          <a:noFill/>
          <a:ln w="0">
            <a:noFill/>
            <a:prstDash val="solid"/>
          </a:ln>
        </p:spPr>
        <p:txBody>
          <a:bodyPr anchor="ctr"/>
          <a:lstStyle/>
          <a:p>
            <a:pPr algn="l">
              <a:defRPr sz="2025" b="1">
                <a:solidFill>
                  <a:srgbClr val="F8FBFF"/>
                </a:solidFill>
              </a:defRPr>
            </a:pPr>
            <a:r>
              <a:rPr sz="2025" b="1">
                <a:solidFill>
                  <a:srgbClr val="F8FBFF"/>
                </a:solidFill>
              </a:rPr>
              <a:t>Explain</a:t>
            </a:r>
          </a:p>
        </p:txBody>
      </p:sp>
      <p:sp>
        <p:nvSpPr>
          <p:cNvPr id="16" name="Rectangle 15">
            <a:extLst>
              <a:ext uri="{FF2B5EF4-FFF2-40B4-BE49-F238E27FC236}">
                <a16:creationId xmlns:a16="http://schemas.microsoft.com/office/drawing/2014/main" id="{5C17C16C-D948-48AB-9713-C6559D1E4DEC}"/>
              </a:ext>
            </a:extLst>
          </p:cNvPr>
          <p:cNvSpPr>
            <a:spLocks noGrp="1"/>
          </p:cNvSpPr>
          <p:nvPr/>
        </p:nvSpPr>
        <p:spPr>
          <a:xfrm>
            <a:off x="6343650" y="3295650"/>
            <a:ext cx="2000250" cy="952500"/>
          </a:xfrm>
          <a:prstGeom prst="rect">
            <a:avLst/>
          </a:prstGeom>
          <a:noFill/>
          <a:ln w="0">
            <a:noFill/>
            <a:prstDash val="solid"/>
          </a:ln>
        </p:spPr>
        <p:txBody>
          <a:bodyPr anchor="ctr"/>
          <a:lstStyle/>
          <a:p>
            <a:pPr algn="l">
              <a:defRPr sz="1350" b="0">
                <a:solidFill>
                  <a:srgbClr val="A8B8C8"/>
                </a:solidFill>
              </a:defRPr>
            </a:pPr>
            <a:r>
              <a:rPr sz="1350" b="0">
                <a:solidFill>
                  <a:srgbClr val="A8B8C8"/>
                </a:solidFill>
              </a:rPr>
              <a:t>Show why predictions change</a:t>
            </a:r>
          </a:p>
        </p:txBody>
      </p:sp>
      <p:sp>
        <p:nvSpPr>
          <p:cNvPr id="17" name="Rectangle: Rounded Corners 16">
            <a:extLst>
              <a:ext uri="{FF2B5EF4-FFF2-40B4-BE49-F238E27FC236}">
                <a16:creationId xmlns:a16="http://schemas.microsoft.com/office/drawing/2014/main" id="{35BD4376-C847-45EC-AD50-E5F99DD1750D}"/>
              </a:ext>
            </a:extLst>
          </p:cNvPr>
          <p:cNvSpPr>
            <a:spLocks noGrp="1"/>
          </p:cNvSpPr>
          <p:nvPr/>
        </p:nvSpPr>
        <p:spPr>
          <a:xfrm>
            <a:off x="8924925" y="1809750"/>
            <a:ext cx="2400300" cy="3000375"/>
          </a:xfrm>
          <a:prstGeom prst="roundRect">
            <a:avLst>
              <a:gd name="adj" fmla="val 4762"/>
            </a:avLst>
          </a:prstGeom>
          <a:solidFill>
            <a:srgbClr val="32D3C7"/>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5C3DC9AE-C34D-478A-9786-43DD790AA5FB}"/>
              </a:ext>
            </a:extLst>
          </p:cNvPr>
          <p:cNvSpPr>
            <a:spLocks noGrp="1"/>
          </p:cNvSpPr>
          <p:nvPr/>
        </p:nvSpPr>
        <p:spPr>
          <a:xfrm>
            <a:off x="9115425" y="2019300"/>
            <a:ext cx="523875" cy="419100"/>
          </a:xfrm>
          <a:prstGeom prst="rect">
            <a:avLst/>
          </a:prstGeom>
          <a:noFill/>
          <a:ln w="0">
            <a:noFill/>
            <a:prstDash val="solid"/>
          </a:ln>
        </p:spPr>
        <p:txBody>
          <a:bodyPr anchor="ctr"/>
          <a:lstStyle/>
          <a:p>
            <a:pPr algn="l">
              <a:defRPr sz="1275" b="1">
                <a:solidFill>
                  <a:srgbClr val="071525"/>
                </a:solidFill>
              </a:defRPr>
            </a:pPr>
            <a:r>
              <a:rPr sz="1275" b="1">
                <a:solidFill>
                  <a:srgbClr val="071525"/>
                </a:solidFill>
              </a:rPr>
              <a:t>04</a:t>
            </a:r>
          </a:p>
        </p:txBody>
      </p:sp>
      <p:sp>
        <p:nvSpPr>
          <p:cNvPr id="19" name="Rectangle 18">
            <a:extLst>
              <a:ext uri="{FF2B5EF4-FFF2-40B4-BE49-F238E27FC236}">
                <a16:creationId xmlns:a16="http://schemas.microsoft.com/office/drawing/2014/main" id="{2CDBCB27-6F7A-492F-93FE-8F2BB51CAD9D}"/>
              </a:ext>
            </a:extLst>
          </p:cNvPr>
          <p:cNvSpPr>
            <a:spLocks noGrp="1"/>
          </p:cNvSpPr>
          <p:nvPr/>
        </p:nvSpPr>
        <p:spPr>
          <a:xfrm>
            <a:off x="9115425" y="2667000"/>
            <a:ext cx="2000250" cy="381000"/>
          </a:xfrm>
          <a:prstGeom prst="rect">
            <a:avLst/>
          </a:prstGeom>
          <a:noFill/>
          <a:ln w="0">
            <a:noFill/>
            <a:prstDash val="solid"/>
          </a:ln>
        </p:spPr>
        <p:txBody>
          <a:bodyPr anchor="ctr"/>
          <a:lstStyle/>
          <a:p>
            <a:pPr algn="l">
              <a:defRPr sz="2025" b="1">
                <a:solidFill>
                  <a:srgbClr val="071525"/>
                </a:solidFill>
              </a:defRPr>
            </a:pPr>
            <a:r>
              <a:rPr sz="2025" b="1">
                <a:solidFill>
                  <a:srgbClr val="071525"/>
                </a:solidFill>
              </a:rPr>
              <a:t>Operate</a:t>
            </a:r>
          </a:p>
        </p:txBody>
      </p:sp>
      <p:sp>
        <p:nvSpPr>
          <p:cNvPr id="20" name="Rectangle 19">
            <a:extLst>
              <a:ext uri="{FF2B5EF4-FFF2-40B4-BE49-F238E27FC236}">
                <a16:creationId xmlns:a16="http://schemas.microsoft.com/office/drawing/2014/main" id="{C95ED4B5-5C5B-43A6-AA1B-6FCAA12F252B}"/>
              </a:ext>
            </a:extLst>
          </p:cNvPr>
          <p:cNvSpPr>
            <a:spLocks noGrp="1"/>
          </p:cNvSpPr>
          <p:nvPr/>
        </p:nvSpPr>
        <p:spPr>
          <a:xfrm>
            <a:off x="9115425" y="3295650"/>
            <a:ext cx="2000250" cy="952500"/>
          </a:xfrm>
          <a:prstGeom prst="rect">
            <a:avLst/>
          </a:prstGeom>
          <a:noFill/>
          <a:ln w="0">
            <a:noFill/>
            <a:prstDash val="solid"/>
          </a:ln>
        </p:spPr>
        <p:txBody>
          <a:bodyPr anchor="ctr"/>
          <a:lstStyle/>
          <a:p>
            <a:pPr algn="l">
              <a:defRPr sz="1350" b="0">
                <a:solidFill>
                  <a:srgbClr val="071525"/>
                </a:solidFill>
              </a:defRPr>
            </a:pPr>
            <a:r>
              <a:rPr sz="1350" b="0">
                <a:solidFill>
                  <a:srgbClr val="071525"/>
                </a:solidFill>
              </a:rPr>
              <a:t>Protect users under real constraints</a:t>
            </a:r>
          </a:p>
        </p:txBody>
      </p:sp>
      <p:sp>
        <p:nvSpPr>
          <p:cNvPr id="21" name="Rectangle 20">
            <a:extLst>
              <a:ext uri="{FF2B5EF4-FFF2-40B4-BE49-F238E27FC236}">
                <a16:creationId xmlns:a16="http://schemas.microsoft.com/office/drawing/2014/main" id="{4B41A292-8602-407C-A87A-41DB3F906E6B}"/>
              </a:ext>
            </a:extLst>
          </p:cNvPr>
          <p:cNvSpPr>
            <a:spLocks noGrp="1"/>
          </p:cNvSpPr>
          <p:nvPr/>
        </p:nvSpPr>
        <p:spPr>
          <a:xfrm>
            <a:off x="609600" y="5238750"/>
            <a:ext cx="10715625" cy="457200"/>
          </a:xfrm>
          <a:prstGeom prst="rect">
            <a:avLst/>
          </a:prstGeom>
          <a:noFill/>
          <a:ln w="0">
            <a:noFill/>
            <a:prstDash val="solid"/>
          </a:ln>
        </p:spPr>
        <p:txBody>
          <a:bodyPr anchor="ctr"/>
          <a:lstStyle/>
          <a:p>
            <a:pPr algn="ctr">
              <a:defRPr sz="2100" b="1">
                <a:solidFill>
                  <a:srgbClr val="F8FBFF"/>
                </a:solidFill>
              </a:defRPr>
            </a:pPr>
            <a:r>
              <a:rPr sz="2100" b="1">
                <a:solidFill>
                  <a:srgbClr val="F8FBFF"/>
                </a:solidFill>
              </a:rPr>
              <a:t>Deployment intelligence = performance + reliability + accountability</a:t>
            </a:r>
          </a:p>
        </p:txBody>
      </p:sp>
    </p:spTree>
    <p:extLst>
      <p:ext uri="{BB962C8B-B14F-4D97-AF65-F5344CB8AC3E}">
        <p14:creationId xmlns:p14="http://schemas.microsoft.com/office/powerpoint/2010/main" val="184017123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7838512-804D-482D-A475-74592C2E6364}"/>
              </a:ext>
            </a:extLst>
          </p:cNvPr>
          <p:cNvSpPr>
            <a:spLocks noGrp="1"/>
          </p:cNvSpPr>
          <p:nvPr/>
        </p:nvSpPr>
        <p:spPr>
          <a:xfrm>
            <a:off x="609600" y="323850"/>
            <a:ext cx="4762500" cy="228600"/>
          </a:xfrm>
          <a:prstGeom prst="rect">
            <a:avLst/>
          </a:prstGeom>
          <a:noFill/>
          <a:ln w="0">
            <a:noFill/>
            <a:prstDash val="solid"/>
          </a:ln>
        </p:spPr>
        <p:txBody>
          <a:bodyPr anchor="ctr"/>
          <a:lstStyle/>
          <a:p>
            <a:pPr algn="l">
              <a:defRPr sz="975" b="1">
                <a:solidFill>
                  <a:srgbClr val="32D3C7"/>
                </a:solidFill>
              </a:defRPr>
            </a:pPr>
            <a:r>
              <a:rPr sz="975" b="1">
                <a:solidFill>
                  <a:srgbClr val="32D3C7"/>
                </a:solidFill>
              </a:rPr>
              <a:t>DATASET CHOICE</a:t>
            </a:r>
          </a:p>
        </p:txBody>
      </p:sp>
      <p:sp>
        <p:nvSpPr>
          <p:cNvPr id="2" name="Rectangle 1">
            <a:extLst>
              <a:ext uri="{FF2B5EF4-FFF2-40B4-BE49-F238E27FC236}">
                <a16:creationId xmlns:a16="http://schemas.microsoft.com/office/drawing/2014/main" id="{E802A7D2-36A4-4E89-8748-785F8BB4EBB7}"/>
              </a:ext>
            </a:extLst>
          </p:cNvPr>
          <p:cNvSpPr>
            <a:spLocks noGrp="1"/>
          </p:cNvSpPr>
          <p:nvPr/>
        </p:nvSpPr>
        <p:spPr>
          <a:xfrm>
            <a:off x="609600" y="638175"/>
            <a:ext cx="10668000" cy="552450"/>
          </a:xfrm>
          <a:prstGeom prst="rect">
            <a:avLst/>
          </a:prstGeom>
          <a:noFill/>
          <a:ln w="0">
            <a:noFill/>
            <a:prstDash val="solid"/>
          </a:ln>
        </p:spPr>
        <p:txBody>
          <a:bodyPr anchor="ctr"/>
          <a:lstStyle/>
          <a:p>
            <a:pPr algn="l">
              <a:defRPr sz="2700" b="1">
                <a:solidFill>
                  <a:srgbClr val="F8FBFF"/>
                </a:solidFill>
              </a:defRPr>
            </a:pPr>
            <a:r>
              <a:rPr sz="2700" b="1">
                <a:solidFill>
                  <a:srgbClr val="F8FBFF"/>
                </a:solidFill>
              </a:rPr>
              <a:t>MovieLens 100K enables a controlled, reproducible comparison</a:t>
            </a:r>
          </a:p>
        </p:txBody>
      </p:sp>
      <p:sp>
        <p:nvSpPr>
          <p:cNvPr id="3" name="Straight Connector 2">
            <a:extLst>
              <a:ext uri="{FF2B5EF4-FFF2-40B4-BE49-F238E27FC236}">
                <a16:creationId xmlns:a16="http://schemas.microsoft.com/office/drawing/2014/main" id="{2355605F-EEB5-4D83-9571-D36E8A63A8EB}"/>
              </a:ext>
            </a:extLst>
          </p:cNvPr>
          <p:cNvSpPr>
            <a:spLocks noGrp="1"/>
          </p:cNvSpPr>
          <p:nvPr/>
        </p:nvSpPr>
        <p:spPr>
          <a:xfrm>
            <a:off x="609600" y="1304925"/>
            <a:ext cx="10972800" cy="0"/>
          </a:xfrm>
          <a:prstGeom prst="line">
            <a:avLst/>
          </a:prstGeom>
          <a:ln w="9525">
            <a:solidFill>
              <a:srgbClr val="28445F"/>
            </a:solidFill>
            <a:prstDash val="solid"/>
          </a:ln>
        </p:spPr>
        <p:txBody>
          <a:bodyPr/>
          <a:lstStyle/>
          <a:p>
            <a:endParaRPr lang="en-US"/>
          </a:p>
        </p:txBody>
      </p:sp>
      <p:sp>
        <p:nvSpPr>
          <p:cNvPr id="4" name="Rectangle 3">
            <a:extLst>
              <a:ext uri="{FF2B5EF4-FFF2-40B4-BE49-F238E27FC236}">
                <a16:creationId xmlns:a16="http://schemas.microsoft.com/office/drawing/2014/main" id="{B135DA95-B380-481A-B628-19B32CA37B20}"/>
              </a:ext>
            </a:extLst>
          </p:cNvPr>
          <p:cNvSpPr>
            <a:spLocks noGrp="1"/>
          </p:cNvSpPr>
          <p:nvPr/>
        </p:nvSpPr>
        <p:spPr>
          <a:xfrm>
            <a:off x="11239500" y="6238875"/>
            <a:ext cx="428625" cy="228600"/>
          </a:xfrm>
          <a:prstGeom prst="rect">
            <a:avLst/>
          </a:prstGeom>
          <a:noFill/>
          <a:ln w="0">
            <a:noFill/>
            <a:prstDash val="solid"/>
          </a:ln>
        </p:spPr>
        <p:txBody>
          <a:bodyPr anchor="ctr"/>
          <a:lstStyle/>
          <a:p>
            <a:pPr algn="r">
              <a:defRPr sz="900" b="1">
                <a:solidFill>
                  <a:srgbClr val="A8B8C8"/>
                </a:solidFill>
              </a:defRPr>
            </a:pPr>
            <a:r>
              <a:rPr sz="900" b="1">
                <a:solidFill>
                  <a:srgbClr val="A8B8C8"/>
                </a:solidFill>
              </a:rPr>
              <a:t>03</a:t>
            </a:r>
          </a:p>
        </p:txBody>
      </p:sp>
      <p:sp>
        <p:nvSpPr>
          <p:cNvPr id="5" name="Rectangle 4">
            <a:extLst>
              <a:ext uri="{FF2B5EF4-FFF2-40B4-BE49-F238E27FC236}">
                <a16:creationId xmlns:a16="http://schemas.microsoft.com/office/drawing/2014/main" id="{91982F90-A4E3-4CAA-A422-3FE7C241EA75}"/>
              </a:ext>
            </a:extLst>
          </p:cNvPr>
          <p:cNvSpPr>
            <a:spLocks noGrp="1"/>
          </p:cNvSpPr>
          <p:nvPr/>
        </p:nvSpPr>
        <p:spPr>
          <a:xfrm>
            <a:off x="666750" y="1762125"/>
            <a:ext cx="2095500" cy="666750"/>
          </a:xfrm>
          <a:prstGeom prst="rect">
            <a:avLst/>
          </a:prstGeom>
          <a:noFill/>
          <a:ln w="0">
            <a:noFill/>
            <a:prstDash val="solid"/>
          </a:ln>
        </p:spPr>
        <p:txBody>
          <a:bodyPr anchor="ctr"/>
          <a:lstStyle/>
          <a:p>
            <a:pPr algn="ctr">
              <a:defRPr sz="3450" b="1">
                <a:solidFill>
                  <a:srgbClr val="32D3C7"/>
                </a:solidFill>
              </a:defRPr>
            </a:pPr>
            <a:r>
              <a:rPr sz="3450" b="1">
                <a:solidFill>
                  <a:srgbClr val="32D3C7"/>
                </a:solidFill>
              </a:rPr>
              <a:t>100K</a:t>
            </a:r>
          </a:p>
        </p:txBody>
      </p:sp>
      <p:sp>
        <p:nvSpPr>
          <p:cNvPr id="6" name="Rectangle 5">
            <a:extLst>
              <a:ext uri="{FF2B5EF4-FFF2-40B4-BE49-F238E27FC236}">
                <a16:creationId xmlns:a16="http://schemas.microsoft.com/office/drawing/2014/main" id="{34B6B383-242C-4CE9-9F6A-C4DD686A0CC3}"/>
              </a:ext>
            </a:extLst>
          </p:cNvPr>
          <p:cNvSpPr>
            <a:spLocks noGrp="1"/>
          </p:cNvSpPr>
          <p:nvPr/>
        </p:nvSpPr>
        <p:spPr>
          <a:xfrm>
            <a:off x="666750" y="2419350"/>
            <a:ext cx="2095500" cy="400050"/>
          </a:xfrm>
          <a:prstGeom prst="rect">
            <a:avLst/>
          </a:prstGeom>
          <a:noFill/>
          <a:ln w="0">
            <a:noFill/>
            <a:prstDash val="solid"/>
          </a:ln>
        </p:spPr>
        <p:txBody>
          <a:bodyPr anchor="ctr"/>
          <a:lstStyle/>
          <a:p>
            <a:pPr algn="ctr">
              <a:defRPr sz="1275" b="1">
                <a:solidFill>
                  <a:srgbClr val="A8B8C8"/>
                </a:solidFill>
              </a:defRPr>
            </a:pPr>
            <a:r>
              <a:rPr sz="1275" b="1">
                <a:solidFill>
                  <a:srgbClr val="A8B8C8"/>
                </a:solidFill>
              </a:rPr>
              <a:t>explicit ratings</a:t>
            </a:r>
          </a:p>
        </p:txBody>
      </p:sp>
      <p:sp>
        <p:nvSpPr>
          <p:cNvPr id="7" name="Rectangle 6">
            <a:extLst>
              <a:ext uri="{FF2B5EF4-FFF2-40B4-BE49-F238E27FC236}">
                <a16:creationId xmlns:a16="http://schemas.microsoft.com/office/drawing/2014/main" id="{688074B8-C413-422C-9DE7-4FD42EB94D40}"/>
              </a:ext>
            </a:extLst>
          </p:cNvPr>
          <p:cNvSpPr>
            <a:spLocks noGrp="1"/>
          </p:cNvSpPr>
          <p:nvPr/>
        </p:nvSpPr>
        <p:spPr>
          <a:xfrm>
            <a:off x="3143250" y="1762125"/>
            <a:ext cx="2095500" cy="666750"/>
          </a:xfrm>
          <a:prstGeom prst="rect">
            <a:avLst/>
          </a:prstGeom>
          <a:noFill/>
          <a:ln w="0">
            <a:noFill/>
            <a:prstDash val="solid"/>
          </a:ln>
        </p:spPr>
        <p:txBody>
          <a:bodyPr anchor="ctr"/>
          <a:lstStyle/>
          <a:p>
            <a:pPr algn="ctr">
              <a:defRPr sz="3450" b="1">
                <a:solidFill>
                  <a:srgbClr val="5AA9FF"/>
                </a:solidFill>
              </a:defRPr>
            </a:pPr>
            <a:r>
              <a:rPr sz="3450" b="1">
                <a:solidFill>
                  <a:srgbClr val="5AA9FF"/>
                </a:solidFill>
              </a:rPr>
              <a:t>943</a:t>
            </a:r>
          </a:p>
        </p:txBody>
      </p:sp>
      <p:sp>
        <p:nvSpPr>
          <p:cNvPr id="8" name="Rectangle 7">
            <a:extLst>
              <a:ext uri="{FF2B5EF4-FFF2-40B4-BE49-F238E27FC236}">
                <a16:creationId xmlns:a16="http://schemas.microsoft.com/office/drawing/2014/main" id="{5207BD1D-7E63-4F2C-8324-72B8E2433DD6}"/>
              </a:ext>
            </a:extLst>
          </p:cNvPr>
          <p:cNvSpPr>
            <a:spLocks noGrp="1"/>
          </p:cNvSpPr>
          <p:nvPr/>
        </p:nvSpPr>
        <p:spPr>
          <a:xfrm>
            <a:off x="3143250" y="2419350"/>
            <a:ext cx="2095500" cy="400050"/>
          </a:xfrm>
          <a:prstGeom prst="rect">
            <a:avLst/>
          </a:prstGeom>
          <a:noFill/>
          <a:ln w="0">
            <a:noFill/>
            <a:prstDash val="solid"/>
          </a:ln>
        </p:spPr>
        <p:txBody>
          <a:bodyPr anchor="ctr"/>
          <a:lstStyle/>
          <a:p>
            <a:pPr algn="ctr">
              <a:defRPr sz="1275" b="1">
                <a:solidFill>
                  <a:srgbClr val="A8B8C8"/>
                </a:solidFill>
              </a:defRPr>
            </a:pPr>
            <a:r>
              <a:rPr sz="1275" b="1">
                <a:solidFill>
                  <a:srgbClr val="A8B8C8"/>
                </a:solidFill>
              </a:rPr>
              <a:t>users</a:t>
            </a:r>
          </a:p>
        </p:txBody>
      </p:sp>
      <p:sp>
        <p:nvSpPr>
          <p:cNvPr id="9" name="Rectangle 8">
            <a:extLst>
              <a:ext uri="{FF2B5EF4-FFF2-40B4-BE49-F238E27FC236}">
                <a16:creationId xmlns:a16="http://schemas.microsoft.com/office/drawing/2014/main" id="{C96A3863-E22A-4F7F-8ADA-62A83074F9C0}"/>
              </a:ext>
            </a:extLst>
          </p:cNvPr>
          <p:cNvSpPr>
            <a:spLocks noGrp="1"/>
          </p:cNvSpPr>
          <p:nvPr/>
        </p:nvSpPr>
        <p:spPr>
          <a:xfrm>
            <a:off x="5619750" y="1762125"/>
            <a:ext cx="2095500" cy="666750"/>
          </a:xfrm>
          <a:prstGeom prst="rect">
            <a:avLst/>
          </a:prstGeom>
          <a:noFill/>
          <a:ln w="0">
            <a:noFill/>
            <a:prstDash val="solid"/>
          </a:ln>
        </p:spPr>
        <p:txBody>
          <a:bodyPr anchor="ctr"/>
          <a:lstStyle/>
          <a:p>
            <a:pPr algn="ctr">
              <a:defRPr sz="3450" b="1">
                <a:solidFill>
                  <a:srgbClr val="FFB547"/>
                </a:solidFill>
              </a:defRPr>
            </a:pPr>
            <a:r>
              <a:rPr sz="3450" b="1">
                <a:solidFill>
                  <a:srgbClr val="FFB547"/>
                </a:solidFill>
              </a:rPr>
              <a:t>1,682</a:t>
            </a:r>
          </a:p>
        </p:txBody>
      </p:sp>
      <p:sp>
        <p:nvSpPr>
          <p:cNvPr id="10" name="Rectangle 9">
            <a:extLst>
              <a:ext uri="{FF2B5EF4-FFF2-40B4-BE49-F238E27FC236}">
                <a16:creationId xmlns:a16="http://schemas.microsoft.com/office/drawing/2014/main" id="{207477AA-F09E-4D31-AE93-0C7CC029ED52}"/>
              </a:ext>
            </a:extLst>
          </p:cNvPr>
          <p:cNvSpPr>
            <a:spLocks noGrp="1"/>
          </p:cNvSpPr>
          <p:nvPr/>
        </p:nvSpPr>
        <p:spPr>
          <a:xfrm>
            <a:off x="5619750" y="2419350"/>
            <a:ext cx="2095500" cy="400050"/>
          </a:xfrm>
          <a:prstGeom prst="rect">
            <a:avLst/>
          </a:prstGeom>
          <a:noFill/>
          <a:ln w="0">
            <a:noFill/>
            <a:prstDash val="solid"/>
          </a:ln>
        </p:spPr>
        <p:txBody>
          <a:bodyPr anchor="ctr"/>
          <a:lstStyle/>
          <a:p>
            <a:pPr algn="ctr">
              <a:defRPr sz="1275" b="1">
                <a:solidFill>
                  <a:srgbClr val="A8B8C8"/>
                </a:solidFill>
              </a:defRPr>
            </a:pPr>
            <a:r>
              <a:rPr sz="1275" b="1">
                <a:solidFill>
                  <a:srgbClr val="A8B8C8"/>
                </a:solidFill>
              </a:rPr>
              <a:t>films</a:t>
            </a:r>
          </a:p>
        </p:txBody>
      </p:sp>
      <p:sp>
        <p:nvSpPr>
          <p:cNvPr id="11" name="Rectangle 10">
            <a:extLst>
              <a:ext uri="{FF2B5EF4-FFF2-40B4-BE49-F238E27FC236}">
                <a16:creationId xmlns:a16="http://schemas.microsoft.com/office/drawing/2014/main" id="{F25F4F70-B6F0-4C93-869C-95DF7565F55E}"/>
              </a:ext>
            </a:extLst>
          </p:cNvPr>
          <p:cNvSpPr>
            <a:spLocks noGrp="1"/>
          </p:cNvSpPr>
          <p:nvPr/>
        </p:nvSpPr>
        <p:spPr>
          <a:xfrm>
            <a:off x="8096250" y="1762125"/>
            <a:ext cx="2095500" cy="666750"/>
          </a:xfrm>
          <a:prstGeom prst="rect">
            <a:avLst/>
          </a:prstGeom>
          <a:noFill/>
          <a:ln w="0">
            <a:noFill/>
            <a:prstDash val="solid"/>
          </a:ln>
        </p:spPr>
        <p:txBody>
          <a:bodyPr anchor="ctr"/>
          <a:lstStyle/>
          <a:p>
            <a:pPr algn="ctr">
              <a:defRPr sz="3450" b="1">
                <a:solidFill>
                  <a:srgbClr val="62D99C"/>
                </a:solidFill>
              </a:defRPr>
            </a:pPr>
            <a:r>
              <a:rPr sz="3450" b="1">
                <a:solidFill>
                  <a:srgbClr val="62D99C"/>
                </a:solidFill>
              </a:rPr>
              <a:t>1–5</a:t>
            </a:r>
          </a:p>
        </p:txBody>
      </p:sp>
      <p:sp>
        <p:nvSpPr>
          <p:cNvPr id="12" name="Rectangle 11">
            <a:extLst>
              <a:ext uri="{FF2B5EF4-FFF2-40B4-BE49-F238E27FC236}">
                <a16:creationId xmlns:a16="http://schemas.microsoft.com/office/drawing/2014/main" id="{4DE930EB-DBDE-464B-97BC-5F8F502E5B9B}"/>
              </a:ext>
            </a:extLst>
          </p:cNvPr>
          <p:cNvSpPr>
            <a:spLocks noGrp="1"/>
          </p:cNvSpPr>
          <p:nvPr/>
        </p:nvSpPr>
        <p:spPr>
          <a:xfrm>
            <a:off x="8096250" y="2419350"/>
            <a:ext cx="2095500" cy="400050"/>
          </a:xfrm>
          <a:prstGeom prst="rect">
            <a:avLst/>
          </a:prstGeom>
          <a:noFill/>
          <a:ln w="0">
            <a:noFill/>
            <a:prstDash val="solid"/>
          </a:ln>
        </p:spPr>
        <p:txBody>
          <a:bodyPr anchor="ctr"/>
          <a:lstStyle/>
          <a:p>
            <a:pPr algn="ctr">
              <a:defRPr sz="1275" b="1">
                <a:solidFill>
                  <a:srgbClr val="A8B8C8"/>
                </a:solidFill>
              </a:defRPr>
            </a:pPr>
            <a:r>
              <a:rPr sz="1275" b="1">
                <a:solidFill>
                  <a:srgbClr val="A8B8C8"/>
                </a:solidFill>
              </a:rPr>
              <a:t>rating scale</a:t>
            </a:r>
          </a:p>
        </p:txBody>
      </p:sp>
      <p:sp>
        <p:nvSpPr>
          <p:cNvPr id="13" name="Rectangle: Rounded Corners 12">
            <a:extLst>
              <a:ext uri="{FF2B5EF4-FFF2-40B4-BE49-F238E27FC236}">
                <a16:creationId xmlns:a16="http://schemas.microsoft.com/office/drawing/2014/main" id="{51E9ADEA-D79E-44B6-956F-CE61AA8E0625}"/>
              </a:ext>
            </a:extLst>
          </p:cNvPr>
          <p:cNvSpPr>
            <a:spLocks noGrp="1"/>
          </p:cNvSpPr>
          <p:nvPr/>
        </p:nvSpPr>
        <p:spPr>
          <a:xfrm>
            <a:off x="714375" y="3381375"/>
            <a:ext cx="9906000" cy="1524000"/>
          </a:xfrm>
          <a:prstGeom prst="roundRect">
            <a:avLst>
              <a:gd name="adj" fmla="val 7500"/>
            </a:avLst>
          </a:prstGeom>
          <a:solidFill>
            <a:srgbClr val="0D2237"/>
          </a:solidFill>
          <a:ln w="9525">
            <a:solidFill>
              <a:srgbClr val="28445F"/>
            </a:solidFill>
            <a:prstDash val="solid"/>
          </a:ln>
        </p:spPr>
        <p:txBody>
          <a:bodyPr/>
          <a:lstStyle/>
          <a:p>
            <a:endParaRPr lang="en-US"/>
          </a:p>
        </p:txBody>
      </p:sp>
      <p:sp>
        <p:nvSpPr>
          <p:cNvPr id="14" name="Rectangle 13">
            <a:extLst>
              <a:ext uri="{FF2B5EF4-FFF2-40B4-BE49-F238E27FC236}">
                <a16:creationId xmlns:a16="http://schemas.microsoft.com/office/drawing/2014/main" id="{712AA060-8761-4F88-9BE1-222AD6A5BA08}"/>
              </a:ext>
            </a:extLst>
          </p:cNvPr>
          <p:cNvSpPr>
            <a:spLocks noGrp="1"/>
          </p:cNvSpPr>
          <p:nvPr/>
        </p:nvSpPr>
        <p:spPr>
          <a:xfrm>
            <a:off x="1000125" y="3619500"/>
            <a:ext cx="2476500" cy="323850"/>
          </a:xfrm>
          <a:prstGeom prst="rect">
            <a:avLst/>
          </a:prstGeom>
          <a:noFill/>
          <a:ln w="0">
            <a:noFill/>
            <a:prstDash val="solid"/>
          </a:ln>
        </p:spPr>
        <p:txBody>
          <a:bodyPr anchor="ctr"/>
          <a:lstStyle/>
          <a:p>
            <a:pPr algn="l">
              <a:defRPr sz="1725" b="1">
                <a:solidFill>
                  <a:srgbClr val="F8FBFF"/>
                </a:solidFill>
              </a:defRPr>
            </a:pPr>
            <a:r>
              <a:rPr sz="1725" b="1">
                <a:solidFill>
                  <a:srgbClr val="F8FBFF"/>
                </a:solidFill>
              </a:rPr>
              <a:t>Why this dataset</a:t>
            </a:r>
          </a:p>
        </p:txBody>
      </p:sp>
      <p:sp>
        <p:nvSpPr>
          <p:cNvPr id="15" name="Rectangle 14">
            <a:extLst>
              <a:ext uri="{FF2B5EF4-FFF2-40B4-BE49-F238E27FC236}">
                <a16:creationId xmlns:a16="http://schemas.microsoft.com/office/drawing/2014/main" id="{05C43370-043E-4651-B9ED-CF0974A19DA6}"/>
              </a:ext>
            </a:extLst>
          </p:cNvPr>
          <p:cNvSpPr>
            <a:spLocks noGrp="1"/>
          </p:cNvSpPr>
          <p:nvPr/>
        </p:nvSpPr>
        <p:spPr>
          <a:xfrm>
            <a:off x="3476625" y="3543300"/>
            <a:ext cx="6762750" cy="857250"/>
          </a:xfrm>
          <a:prstGeom prst="rect">
            <a:avLst/>
          </a:prstGeom>
          <a:noFill/>
          <a:ln w="0">
            <a:noFill/>
            <a:prstDash val="solid"/>
          </a:ln>
        </p:spPr>
        <p:txBody>
          <a:bodyPr anchor="ctr"/>
          <a:lstStyle/>
          <a:p>
            <a:pPr algn="l">
              <a:defRPr sz="1500" b="0">
                <a:solidFill>
                  <a:srgbClr val="A8B8C8"/>
                </a:solidFill>
              </a:defRPr>
            </a:pPr>
            <a:r>
              <a:rPr sz="1500" b="0">
                <a:solidFill>
                  <a:srgbClr val="A8B8C8"/>
                </a:solidFill>
              </a:rPr>
              <a:t>Reputable GroupLens benchmark • shared data for both models • feasible laptop runtime • demographics permit cautious diagnostic auditing</a:t>
            </a:r>
          </a:p>
        </p:txBody>
      </p:sp>
      <p:sp>
        <p:nvSpPr>
          <p:cNvPr id="16" name="Rectangle 15">
            <a:extLst>
              <a:ext uri="{FF2B5EF4-FFF2-40B4-BE49-F238E27FC236}">
                <a16:creationId xmlns:a16="http://schemas.microsoft.com/office/drawing/2014/main" id="{D56FDF9A-70D9-448D-BF76-596728A3A955}"/>
              </a:ext>
            </a:extLst>
          </p:cNvPr>
          <p:cNvSpPr>
            <a:spLocks noGrp="1"/>
          </p:cNvSpPr>
          <p:nvPr/>
        </p:nvSpPr>
        <p:spPr>
          <a:xfrm>
            <a:off x="1000125" y="4448175"/>
            <a:ext cx="2476500" cy="266700"/>
          </a:xfrm>
          <a:prstGeom prst="rect">
            <a:avLst/>
          </a:prstGeom>
          <a:noFill/>
          <a:ln w="0">
            <a:noFill/>
            <a:prstDash val="solid"/>
          </a:ln>
        </p:spPr>
        <p:txBody>
          <a:bodyPr anchor="ctr"/>
          <a:lstStyle/>
          <a:p>
            <a:pPr algn="l">
              <a:defRPr sz="1350" b="1">
                <a:solidFill>
                  <a:srgbClr val="FF6B6B"/>
                </a:solidFill>
              </a:defRPr>
            </a:pPr>
            <a:r>
              <a:rPr sz="1350" b="1">
                <a:solidFill>
                  <a:srgbClr val="FF6B6B"/>
                </a:solidFill>
              </a:rPr>
              <a:t>Important limitation</a:t>
            </a:r>
          </a:p>
        </p:txBody>
      </p:sp>
      <p:sp>
        <p:nvSpPr>
          <p:cNvPr id="17" name="Rectangle 16">
            <a:extLst>
              <a:ext uri="{FF2B5EF4-FFF2-40B4-BE49-F238E27FC236}">
                <a16:creationId xmlns:a16="http://schemas.microsoft.com/office/drawing/2014/main" id="{D09C4988-0274-4C12-95DF-B92851076B3E}"/>
              </a:ext>
            </a:extLst>
          </p:cNvPr>
          <p:cNvSpPr>
            <a:spLocks noGrp="1"/>
          </p:cNvSpPr>
          <p:nvPr/>
        </p:nvSpPr>
        <p:spPr>
          <a:xfrm>
            <a:off x="3476625" y="4362450"/>
            <a:ext cx="6762750" cy="476250"/>
          </a:xfrm>
          <a:prstGeom prst="rect">
            <a:avLst/>
          </a:prstGeom>
          <a:noFill/>
          <a:ln w="0">
            <a:noFill/>
            <a:prstDash val="solid"/>
          </a:ln>
        </p:spPr>
        <p:txBody>
          <a:bodyPr anchor="ctr"/>
          <a:lstStyle/>
          <a:p>
            <a:pPr algn="l">
              <a:defRPr sz="1350" b="0">
                <a:solidFill>
                  <a:srgbClr val="F8FBFF"/>
                </a:solidFill>
              </a:defRPr>
            </a:pPr>
            <a:r>
              <a:rPr sz="1350" b="0">
                <a:solidFill>
                  <a:srgbClr val="F8FBFF"/>
                </a:solidFill>
              </a:rPr>
              <a:t>Historical data from the 1990s cannot represent today’s users, catalogues or platform behaviour.</a:t>
            </a:r>
          </a:p>
        </p:txBody>
      </p:sp>
      <p:sp>
        <p:nvSpPr>
          <p:cNvPr id="18" name="Rectangle 17">
            <a:extLst>
              <a:ext uri="{FF2B5EF4-FFF2-40B4-BE49-F238E27FC236}">
                <a16:creationId xmlns:a16="http://schemas.microsoft.com/office/drawing/2014/main" id="{621AED7A-9334-4504-885B-FB1053E42149}"/>
              </a:ext>
            </a:extLst>
          </p:cNvPr>
          <p:cNvSpPr>
            <a:spLocks noGrp="1"/>
          </p:cNvSpPr>
          <p:nvPr/>
        </p:nvSpPr>
        <p:spPr>
          <a:xfrm>
            <a:off x="609600" y="6286500"/>
            <a:ext cx="9810750" cy="171450"/>
          </a:xfrm>
          <a:prstGeom prst="rect">
            <a:avLst/>
          </a:prstGeom>
          <a:noFill/>
          <a:ln w="0">
            <a:noFill/>
            <a:prstDash val="solid"/>
          </a:ln>
        </p:spPr>
        <p:txBody>
          <a:bodyPr anchor="ctr"/>
          <a:lstStyle/>
          <a:p>
            <a:pPr algn="l">
              <a:defRPr sz="750" b="0">
                <a:solidFill>
                  <a:srgbClr val="A8B8C8"/>
                </a:solidFill>
              </a:defRPr>
            </a:pPr>
            <a:r>
              <a:rPr sz="750" b="0">
                <a:solidFill>
                  <a:srgbClr val="A8B8C8"/>
                </a:solidFill>
              </a:rPr>
              <a:t>Source: GroupLens MovieLens 100K; Harper and Konstan (2015).</a:t>
            </a:r>
          </a:p>
        </p:txBody>
      </p:sp>
    </p:spTree>
    <p:extLst>
      <p:ext uri="{BB962C8B-B14F-4D97-AF65-F5344CB8AC3E}">
        <p14:creationId xmlns:p14="http://schemas.microsoft.com/office/powerpoint/2010/main" val="40909250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41AADA13-8274-4DF2-87FD-1BD8564FF27A}"/>
              </a:ext>
            </a:extLst>
          </p:cNvPr>
          <p:cNvSpPr>
            <a:spLocks noGrp="1"/>
          </p:cNvSpPr>
          <p:nvPr/>
        </p:nvSpPr>
        <p:spPr>
          <a:xfrm>
            <a:off x="609600" y="323850"/>
            <a:ext cx="4762500" cy="228600"/>
          </a:xfrm>
          <a:prstGeom prst="rect">
            <a:avLst/>
          </a:prstGeom>
          <a:noFill/>
          <a:ln w="0">
            <a:noFill/>
            <a:prstDash val="solid"/>
          </a:ln>
        </p:spPr>
        <p:txBody>
          <a:bodyPr anchor="ctr"/>
          <a:lstStyle/>
          <a:p>
            <a:pPr algn="l">
              <a:defRPr sz="975" b="1">
                <a:solidFill>
                  <a:srgbClr val="32D3C7"/>
                </a:solidFill>
              </a:defRPr>
            </a:pPr>
            <a:r>
              <a:rPr sz="975" b="1">
                <a:solidFill>
                  <a:srgbClr val="32D3C7"/>
                </a:solidFill>
              </a:rPr>
              <a:t>EXPERIMENTAL PIPELINE</a:t>
            </a:r>
          </a:p>
        </p:txBody>
      </p:sp>
      <p:sp>
        <p:nvSpPr>
          <p:cNvPr id="2" name="Rectangle 1">
            <a:extLst>
              <a:ext uri="{FF2B5EF4-FFF2-40B4-BE49-F238E27FC236}">
                <a16:creationId xmlns:a16="http://schemas.microsoft.com/office/drawing/2014/main" id="{6242AA0E-E60E-461B-A8D3-32103B2F9937}"/>
              </a:ext>
            </a:extLst>
          </p:cNvPr>
          <p:cNvSpPr>
            <a:spLocks noGrp="1"/>
          </p:cNvSpPr>
          <p:nvPr/>
        </p:nvSpPr>
        <p:spPr>
          <a:xfrm>
            <a:off x="609600" y="638175"/>
            <a:ext cx="10668000" cy="552450"/>
          </a:xfrm>
          <a:prstGeom prst="rect">
            <a:avLst/>
          </a:prstGeom>
          <a:noFill/>
          <a:ln w="0">
            <a:noFill/>
            <a:prstDash val="solid"/>
          </a:ln>
        </p:spPr>
        <p:txBody>
          <a:bodyPr anchor="ctr"/>
          <a:lstStyle/>
          <a:p>
            <a:pPr algn="l">
              <a:defRPr sz="2700" b="1">
                <a:solidFill>
                  <a:srgbClr val="F8FBFF"/>
                </a:solidFill>
              </a:defRPr>
            </a:pPr>
            <a:r>
              <a:rPr sz="2700" b="1">
                <a:solidFill>
                  <a:srgbClr val="F8FBFF"/>
                </a:solidFill>
              </a:rPr>
              <a:t>A leakage-safe pipeline separates learning from final judgement</a:t>
            </a:r>
          </a:p>
        </p:txBody>
      </p:sp>
      <p:sp>
        <p:nvSpPr>
          <p:cNvPr id="3" name="Straight Connector 2">
            <a:extLst>
              <a:ext uri="{FF2B5EF4-FFF2-40B4-BE49-F238E27FC236}">
                <a16:creationId xmlns:a16="http://schemas.microsoft.com/office/drawing/2014/main" id="{A96618EB-38E8-403C-8431-7042BD8DF7D9}"/>
              </a:ext>
            </a:extLst>
          </p:cNvPr>
          <p:cNvSpPr>
            <a:spLocks noGrp="1"/>
          </p:cNvSpPr>
          <p:nvPr/>
        </p:nvSpPr>
        <p:spPr>
          <a:xfrm>
            <a:off x="609600" y="1304925"/>
            <a:ext cx="10972800" cy="0"/>
          </a:xfrm>
          <a:prstGeom prst="line">
            <a:avLst/>
          </a:prstGeom>
          <a:ln w="9525">
            <a:solidFill>
              <a:srgbClr val="28445F"/>
            </a:solidFill>
            <a:prstDash val="solid"/>
          </a:ln>
        </p:spPr>
        <p:txBody>
          <a:bodyPr/>
          <a:lstStyle/>
          <a:p>
            <a:endParaRPr lang="en-US"/>
          </a:p>
        </p:txBody>
      </p:sp>
      <p:sp>
        <p:nvSpPr>
          <p:cNvPr id="4" name="Rectangle 3">
            <a:extLst>
              <a:ext uri="{FF2B5EF4-FFF2-40B4-BE49-F238E27FC236}">
                <a16:creationId xmlns:a16="http://schemas.microsoft.com/office/drawing/2014/main" id="{2F0E121A-669C-4627-BC0B-488F5DFDA7AE}"/>
              </a:ext>
            </a:extLst>
          </p:cNvPr>
          <p:cNvSpPr>
            <a:spLocks noGrp="1"/>
          </p:cNvSpPr>
          <p:nvPr/>
        </p:nvSpPr>
        <p:spPr>
          <a:xfrm>
            <a:off x="11239500" y="6238875"/>
            <a:ext cx="428625" cy="228600"/>
          </a:xfrm>
          <a:prstGeom prst="rect">
            <a:avLst/>
          </a:prstGeom>
          <a:noFill/>
          <a:ln w="0">
            <a:noFill/>
            <a:prstDash val="solid"/>
          </a:ln>
        </p:spPr>
        <p:txBody>
          <a:bodyPr anchor="ctr"/>
          <a:lstStyle/>
          <a:p>
            <a:pPr algn="r">
              <a:defRPr sz="900" b="1">
                <a:solidFill>
                  <a:srgbClr val="A8B8C8"/>
                </a:solidFill>
              </a:defRPr>
            </a:pPr>
            <a:r>
              <a:rPr sz="900" b="1">
                <a:solidFill>
                  <a:srgbClr val="A8B8C8"/>
                </a:solidFill>
              </a:rPr>
              <a:t>04</a:t>
            </a:r>
          </a:p>
        </p:txBody>
      </p:sp>
      <p:sp>
        <p:nvSpPr>
          <p:cNvPr id="5" name="Straight Connector 4">
            <a:extLst>
              <a:ext uri="{FF2B5EF4-FFF2-40B4-BE49-F238E27FC236}">
                <a16:creationId xmlns:a16="http://schemas.microsoft.com/office/drawing/2014/main" id="{9604DED2-F3A1-461B-92DB-27EA783F410E}"/>
              </a:ext>
            </a:extLst>
          </p:cNvPr>
          <p:cNvSpPr>
            <a:spLocks noGrp="1"/>
          </p:cNvSpPr>
          <p:nvPr/>
        </p:nvSpPr>
        <p:spPr>
          <a:xfrm>
            <a:off x="2143125" y="2857500"/>
            <a:ext cx="714375" cy="0"/>
          </a:xfrm>
          <a:prstGeom prst="line">
            <a:avLst/>
          </a:prstGeom>
          <a:ln w="38100">
            <a:solidFill>
              <a:srgbClr val="32D3C7"/>
            </a:solidFill>
            <a:prstDash val="solid"/>
          </a:ln>
        </p:spPr>
        <p:txBody>
          <a:bodyPr/>
          <a:lstStyle/>
          <a:p>
            <a:endParaRPr lang="en-US"/>
          </a:p>
        </p:txBody>
      </p:sp>
      <p:sp>
        <p:nvSpPr>
          <p:cNvPr id="6" name="Rectangle: Rounded Corners 5">
            <a:extLst>
              <a:ext uri="{FF2B5EF4-FFF2-40B4-BE49-F238E27FC236}">
                <a16:creationId xmlns:a16="http://schemas.microsoft.com/office/drawing/2014/main" id="{35C7409F-7F74-4F2F-BE12-B9671B329C77}"/>
              </a:ext>
            </a:extLst>
          </p:cNvPr>
          <p:cNvSpPr>
            <a:spLocks noGrp="1"/>
          </p:cNvSpPr>
          <p:nvPr/>
        </p:nvSpPr>
        <p:spPr>
          <a:xfrm>
            <a:off x="666750" y="2238375"/>
            <a:ext cx="1476375" cy="1238250"/>
          </a:xfrm>
          <a:prstGeom prst="roundRect">
            <a:avLst>
              <a:gd name="adj" fmla="val 9231"/>
            </a:avLst>
          </a:prstGeom>
          <a:solidFill>
            <a:srgbClr val="102A43"/>
          </a:solidFill>
          <a:ln w="0">
            <a:noFill/>
            <a:prstDash val="solid"/>
          </a:ln>
        </p:spPr>
        <p:txBody>
          <a:bodyPr/>
          <a:lstStyle/>
          <a:p>
            <a:endParaRPr lang="en-US"/>
          </a:p>
        </p:txBody>
      </p:sp>
      <p:sp>
        <p:nvSpPr>
          <p:cNvPr id="7" name="Rectangle 6">
            <a:extLst>
              <a:ext uri="{FF2B5EF4-FFF2-40B4-BE49-F238E27FC236}">
                <a16:creationId xmlns:a16="http://schemas.microsoft.com/office/drawing/2014/main" id="{E5DE4570-CE86-4AA4-AB54-3F35F5E52063}"/>
              </a:ext>
            </a:extLst>
          </p:cNvPr>
          <p:cNvSpPr>
            <a:spLocks noGrp="1"/>
          </p:cNvSpPr>
          <p:nvPr/>
        </p:nvSpPr>
        <p:spPr>
          <a:xfrm>
            <a:off x="781050" y="2362200"/>
            <a:ext cx="333375" cy="266700"/>
          </a:xfrm>
          <a:prstGeom prst="rect">
            <a:avLst/>
          </a:prstGeom>
          <a:noFill/>
          <a:ln w="0">
            <a:noFill/>
            <a:prstDash val="solid"/>
          </a:ln>
        </p:spPr>
        <p:txBody>
          <a:bodyPr anchor="ctr"/>
          <a:lstStyle/>
          <a:p>
            <a:pPr algn="l">
              <a:defRPr sz="1125" b="1">
                <a:solidFill>
                  <a:srgbClr val="32D3C7"/>
                </a:solidFill>
              </a:defRPr>
            </a:pPr>
            <a:r>
              <a:rPr sz="1125" b="1">
                <a:solidFill>
                  <a:srgbClr val="32D3C7"/>
                </a:solidFill>
              </a:rPr>
              <a:t>1</a:t>
            </a:r>
          </a:p>
        </p:txBody>
      </p:sp>
      <p:sp>
        <p:nvSpPr>
          <p:cNvPr id="8" name="Rectangle 7">
            <a:extLst>
              <a:ext uri="{FF2B5EF4-FFF2-40B4-BE49-F238E27FC236}">
                <a16:creationId xmlns:a16="http://schemas.microsoft.com/office/drawing/2014/main" id="{AE0FF421-F62B-40F7-8623-96CBE135C9AB}"/>
              </a:ext>
            </a:extLst>
          </p:cNvPr>
          <p:cNvSpPr>
            <a:spLocks noGrp="1"/>
          </p:cNvSpPr>
          <p:nvPr/>
        </p:nvSpPr>
        <p:spPr>
          <a:xfrm>
            <a:off x="781050" y="2667000"/>
            <a:ext cx="1238250" cy="285750"/>
          </a:xfrm>
          <a:prstGeom prst="rect">
            <a:avLst/>
          </a:prstGeom>
          <a:noFill/>
          <a:ln w="0">
            <a:noFill/>
            <a:prstDash val="solid"/>
          </a:ln>
        </p:spPr>
        <p:txBody>
          <a:bodyPr anchor="ctr"/>
          <a:lstStyle/>
          <a:p>
            <a:pPr algn="l">
              <a:defRPr sz="1650" b="1">
                <a:solidFill>
                  <a:srgbClr val="F8FBFF"/>
                </a:solidFill>
              </a:defRPr>
            </a:pPr>
            <a:r>
              <a:rPr sz="1650" b="1">
                <a:solidFill>
                  <a:srgbClr val="F8FBFF"/>
                </a:solidFill>
              </a:rPr>
              <a:t>Ingest</a:t>
            </a:r>
          </a:p>
        </p:txBody>
      </p:sp>
      <p:sp>
        <p:nvSpPr>
          <p:cNvPr id="9" name="Rectangle 8">
            <a:extLst>
              <a:ext uri="{FF2B5EF4-FFF2-40B4-BE49-F238E27FC236}">
                <a16:creationId xmlns:a16="http://schemas.microsoft.com/office/drawing/2014/main" id="{EB19D1CD-5FF9-4C4F-B5C9-22870CB527DD}"/>
              </a:ext>
            </a:extLst>
          </p:cNvPr>
          <p:cNvSpPr>
            <a:spLocks noGrp="1"/>
          </p:cNvSpPr>
          <p:nvPr/>
        </p:nvSpPr>
        <p:spPr>
          <a:xfrm>
            <a:off x="781050" y="3019425"/>
            <a:ext cx="1238250" cy="323850"/>
          </a:xfrm>
          <a:prstGeom prst="rect">
            <a:avLst/>
          </a:prstGeom>
          <a:noFill/>
          <a:ln w="0">
            <a:noFill/>
            <a:prstDash val="solid"/>
          </a:ln>
        </p:spPr>
        <p:txBody>
          <a:bodyPr anchor="ctr"/>
          <a:lstStyle/>
          <a:p>
            <a:pPr algn="l">
              <a:defRPr sz="1050" b="0">
                <a:solidFill>
                  <a:srgbClr val="A8B8C8"/>
                </a:solidFill>
              </a:defRPr>
            </a:pPr>
            <a:r>
              <a:rPr sz="1050" b="0">
                <a:solidFill>
                  <a:srgbClr val="A8B8C8"/>
                </a:solidFill>
              </a:rPr>
              <a:t>ratings + users</a:t>
            </a:r>
          </a:p>
        </p:txBody>
      </p:sp>
      <p:sp>
        <p:nvSpPr>
          <p:cNvPr id="10" name="Straight Connector 9">
            <a:extLst>
              <a:ext uri="{FF2B5EF4-FFF2-40B4-BE49-F238E27FC236}">
                <a16:creationId xmlns:a16="http://schemas.microsoft.com/office/drawing/2014/main" id="{150D6226-249E-4CBE-9B3E-EC9CCB40D747}"/>
              </a:ext>
            </a:extLst>
          </p:cNvPr>
          <p:cNvSpPr>
            <a:spLocks noGrp="1"/>
          </p:cNvSpPr>
          <p:nvPr/>
        </p:nvSpPr>
        <p:spPr>
          <a:xfrm>
            <a:off x="4333875" y="2857500"/>
            <a:ext cx="714375" cy="0"/>
          </a:xfrm>
          <a:prstGeom prst="line">
            <a:avLst/>
          </a:prstGeom>
          <a:ln w="38100">
            <a:solidFill>
              <a:srgbClr val="32D3C7"/>
            </a:solidFill>
            <a:prstDash val="solid"/>
          </a:ln>
        </p:spPr>
        <p:txBody>
          <a:bodyPr/>
          <a:lstStyle/>
          <a:p>
            <a:endParaRPr lang="en-US"/>
          </a:p>
        </p:txBody>
      </p:sp>
      <p:sp>
        <p:nvSpPr>
          <p:cNvPr id="11" name="Rectangle: Rounded Corners 10">
            <a:extLst>
              <a:ext uri="{FF2B5EF4-FFF2-40B4-BE49-F238E27FC236}">
                <a16:creationId xmlns:a16="http://schemas.microsoft.com/office/drawing/2014/main" id="{079A561B-F1CE-48B6-A65C-F6CF95D2B665}"/>
              </a:ext>
            </a:extLst>
          </p:cNvPr>
          <p:cNvSpPr>
            <a:spLocks noGrp="1"/>
          </p:cNvSpPr>
          <p:nvPr/>
        </p:nvSpPr>
        <p:spPr>
          <a:xfrm>
            <a:off x="2857500" y="2238375"/>
            <a:ext cx="1476375" cy="1238250"/>
          </a:xfrm>
          <a:prstGeom prst="roundRect">
            <a:avLst>
              <a:gd name="adj" fmla="val 9231"/>
            </a:avLst>
          </a:prstGeom>
          <a:solidFill>
            <a:srgbClr val="102A43"/>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5A783DC7-FFFD-4D5A-BECB-5A74F8F3CA97}"/>
              </a:ext>
            </a:extLst>
          </p:cNvPr>
          <p:cNvSpPr>
            <a:spLocks noGrp="1"/>
          </p:cNvSpPr>
          <p:nvPr/>
        </p:nvSpPr>
        <p:spPr>
          <a:xfrm>
            <a:off x="2971800" y="2362200"/>
            <a:ext cx="333375" cy="266700"/>
          </a:xfrm>
          <a:prstGeom prst="rect">
            <a:avLst/>
          </a:prstGeom>
          <a:noFill/>
          <a:ln w="0">
            <a:noFill/>
            <a:prstDash val="solid"/>
          </a:ln>
        </p:spPr>
        <p:txBody>
          <a:bodyPr anchor="ctr"/>
          <a:lstStyle/>
          <a:p>
            <a:pPr algn="l">
              <a:defRPr sz="1125" b="1">
                <a:solidFill>
                  <a:srgbClr val="32D3C7"/>
                </a:solidFill>
              </a:defRPr>
            </a:pPr>
            <a:r>
              <a:rPr sz="1125" b="1">
                <a:solidFill>
                  <a:srgbClr val="32D3C7"/>
                </a:solidFill>
              </a:rPr>
              <a:t>2</a:t>
            </a:r>
          </a:p>
        </p:txBody>
      </p:sp>
      <p:sp>
        <p:nvSpPr>
          <p:cNvPr id="13" name="Rectangle 12">
            <a:extLst>
              <a:ext uri="{FF2B5EF4-FFF2-40B4-BE49-F238E27FC236}">
                <a16:creationId xmlns:a16="http://schemas.microsoft.com/office/drawing/2014/main" id="{356D498C-D90A-426B-AF14-84095E38D242}"/>
              </a:ext>
            </a:extLst>
          </p:cNvPr>
          <p:cNvSpPr>
            <a:spLocks noGrp="1"/>
          </p:cNvSpPr>
          <p:nvPr/>
        </p:nvSpPr>
        <p:spPr>
          <a:xfrm>
            <a:off x="2971800" y="2667000"/>
            <a:ext cx="1238250" cy="285750"/>
          </a:xfrm>
          <a:prstGeom prst="rect">
            <a:avLst/>
          </a:prstGeom>
          <a:noFill/>
          <a:ln w="0">
            <a:noFill/>
            <a:prstDash val="solid"/>
          </a:ln>
        </p:spPr>
        <p:txBody>
          <a:bodyPr anchor="ctr"/>
          <a:lstStyle/>
          <a:p>
            <a:pPr algn="l">
              <a:defRPr sz="1650" b="1">
                <a:solidFill>
                  <a:srgbClr val="F8FBFF"/>
                </a:solidFill>
              </a:defRPr>
            </a:pPr>
            <a:r>
              <a:rPr sz="1650" b="1">
                <a:solidFill>
                  <a:srgbClr val="F8FBFF"/>
                </a:solidFill>
              </a:rPr>
              <a:t>Encode</a:t>
            </a:r>
          </a:p>
        </p:txBody>
      </p:sp>
      <p:sp>
        <p:nvSpPr>
          <p:cNvPr id="14" name="Rectangle 13">
            <a:extLst>
              <a:ext uri="{FF2B5EF4-FFF2-40B4-BE49-F238E27FC236}">
                <a16:creationId xmlns:a16="http://schemas.microsoft.com/office/drawing/2014/main" id="{32351FFF-95A2-406F-8BC1-7830311B9847}"/>
              </a:ext>
            </a:extLst>
          </p:cNvPr>
          <p:cNvSpPr>
            <a:spLocks noGrp="1"/>
          </p:cNvSpPr>
          <p:nvPr/>
        </p:nvSpPr>
        <p:spPr>
          <a:xfrm>
            <a:off x="2971800" y="3019425"/>
            <a:ext cx="1238250" cy="323850"/>
          </a:xfrm>
          <a:prstGeom prst="rect">
            <a:avLst/>
          </a:prstGeom>
          <a:noFill/>
          <a:ln w="0">
            <a:noFill/>
            <a:prstDash val="solid"/>
          </a:ln>
        </p:spPr>
        <p:txBody>
          <a:bodyPr anchor="ctr"/>
          <a:lstStyle/>
          <a:p>
            <a:pPr algn="l">
              <a:defRPr sz="1050" b="0">
                <a:solidFill>
                  <a:srgbClr val="A8B8C8"/>
                </a:solidFill>
              </a:defRPr>
            </a:pPr>
            <a:r>
              <a:rPr sz="1050" b="0">
                <a:solidFill>
                  <a:srgbClr val="A8B8C8"/>
                </a:solidFill>
              </a:rPr>
              <a:t>contiguous IDs</a:t>
            </a:r>
          </a:p>
        </p:txBody>
      </p:sp>
      <p:sp>
        <p:nvSpPr>
          <p:cNvPr id="15" name="Straight Connector 14">
            <a:extLst>
              <a:ext uri="{FF2B5EF4-FFF2-40B4-BE49-F238E27FC236}">
                <a16:creationId xmlns:a16="http://schemas.microsoft.com/office/drawing/2014/main" id="{7067B683-7953-4663-9DD7-11E712C34482}"/>
              </a:ext>
            </a:extLst>
          </p:cNvPr>
          <p:cNvSpPr>
            <a:spLocks noGrp="1"/>
          </p:cNvSpPr>
          <p:nvPr/>
        </p:nvSpPr>
        <p:spPr>
          <a:xfrm>
            <a:off x="6524625" y="2857500"/>
            <a:ext cx="714375" cy="0"/>
          </a:xfrm>
          <a:prstGeom prst="line">
            <a:avLst/>
          </a:prstGeom>
          <a:ln w="38100">
            <a:solidFill>
              <a:srgbClr val="32D3C7"/>
            </a:solidFill>
            <a:prstDash val="solid"/>
          </a:ln>
        </p:spPr>
        <p:txBody>
          <a:bodyPr/>
          <a:lstStyle/>
          <a:p>
            <a:endParaRPr lang="en-US"/>
          </a:p>
        </p:txBody>
      </p:sp>
      <p:sp>
        <p:nvSpPr>
          <p:cNvPr id="16" name="Rectangle: Rounded Corners 15">
            <a:extLst>
              <a:ext uri="{FF2B5EF4-FFF2-40B4-BE49-F238E27FC236}">
                <a16:creationId xmlns:a16="http://schemas.microsoft.com/office/drawing/2014/main" id="{E896EA31-453A-4105-AAA5-A048802CDE2D}"/>
              </a:ext>
            </a:extLst>
          </p:cNvPr>
          <p:cNvSpPr>
            <a:spLocks noGrp="1"/>
          </p:cNvSpPr>
          <p:nvPr/>
        </p:nvSpPr>
        <p:spPr>
          <a:xfrm>
            <a:off x="5048250" y="2238375"/>
            <a:ext cx="1476375" cy="1238250"/>
          </a:xfrm>
          <a:prstGeom prst="roundRect">
            <a:avLst>
              <a:gd name="adj" fmla="val 9231"/>
            </a:avLst>
          </a:prstGeom>
          <a:solidFill>
            <a:srgbClr val="FFB547"/>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9E30AFD7-D68E-4C81-9C5D-393DAA1F4A75}"/>
              </a:ext>
            </a:extLst>
          </p:cNvPr>
          <p:cNvSpPr>
            <a:spLocks noGrp="1"/>
          </p:cNvSpPr>
          <p:nvPr/>
        </p:nvSpPr>
        <p:spPr>
          <a:xfrm>
            <a:off x="5162550" y="2362200"/>
            <a:ext cx="333375" cy="266700"/>
          </a:xfrm>
          <a:prstGeom prst="rect">
            <a:avLst/>
          </a:prstGeom>
          <a:noFill/>
          <a:ln w="0">
            <a:noFill/>
            <a:prstDash val="solid"/>
          </a:ln>
        </p:spPr>
        <p:txBody>
          <a:bodyPr anchor="ctr"/>
          <a:lstStyle/>
          <a:p>
            <a:pPr algn="l">
              <a:defRPr sz="1125" b="1">
                <a:solidFill>
                  <a:srgbClr val="071525"/>
                </a:solidFill>
              </a:defRPr>
            </a:pPr>
            <a:r>
              <a:rPr sz="1125" b="1">
                <a:solidFill>
                  <a:srgbClr val="071525"/>
                </a:solidFill>
              </a:rPr>
              <a:t>3</a:t>
            </a:r>
          </a:p>
        </p:txBody>
      </p:sp>
      <p:sp>
        <p:nvSpPr>
          <p:cNvPr id="18" name="Rectangle 17">
            <a:extLst>
              <a:ext uri="{FF2B5EF4-FFF2-40B4-BE49-F238E27FC236}">
                <a16:creationId xmlns:a16="http://schemas.microsoft.com/office/drawing/2014/main" id="{A4F4893A-67AE-492E-80AE-C6A9B8B9B1F7}"/>
              </a:ext>
            </a:extLst>
          </p:cNvPr>
          <p:cNvSpPr>
            <a:spLocks noGrp="1"/>
          </p:cNvSpPr>
          <p:nvPr/>
        </p:nvSpPr>
        <p:spPr>
          <a:xfrm>
            <a:off x="5162550" y="2667000"/>
            <a:ext cx="1238250" cy="285750"/>
          </a:xfrm>
          <a:prstGeom prst="rect">
            <a:avLst/>
          </a:prstGeom>
          <a:noFill/>
          <a:ln w="0">
            <a:noFill/>
            <a:prstDash val="solid"/>
          </a:ln>
        </p:spPr>
        <p:txBody>
          <a:bodyPr anchor="ctr"/>
          <a:lstStyle/>
          <a:p>
            <a:pPr algn="l">
              <a:defRPr sz="1650" b="1">
                <a:solidFill>
                  <a:srgbClr val="071525"/>
                </a:solidFill>
              </a:defRPr>
            </a:pPr>
            <a:r>
              <a:rPr sz="1650" b="1">
                <a:solidFill>
                  <a:srgbClr val="071525"/>
                </a:solidFill>
              </a:rPr>
              <a:t>Split</a:t>
            </a:r>
          </a:p>
        </p:txBody>
      </p:sp>
      <p:sp>
        <p:nvSpPr>
          <p:cNvPr id="19" name="Rectangle 18">
            <a:extLst>
              <a:ext uri="{FF2B5EF4-FFF2-40B4-BE49-F238E27FC236}">
                <a16:creationId xmlns:a16="http://schemas.microsoft.com/office/drawing/2014/main" id="{28C5C8DC-B2AB-4917-BB4F-B1C308B5AD92}"/>
              </a:ext>
            </a:extLst>
          </p:cNvPr>
          <p:cNvSpPr>
            <a:spLocks noGrp="1"/>
          </p:cNvSpPr>
          <p:nvPr/>
        </p:nvSpPr>
        <p:spPr>
          <a:xfrm>
            <a:off x="5162550" y="3019425"/>
            <a:ext cx="1238250" cy="323850"/>
          </a:xfrm>
          <a:prstGeom prst="rect">
            <a:avLst/>
          </a:prstGeom>
          <a:noFill/>
          <a:ln w="0">
            <a:noFill/>
            <a:prstDash val="solid"/>
          </a:ln>
        </p:spPr>
        <p:txBody>
          <a:bodyPr anchor="ctr"/>
          <a:lstStyle/>
          <a:p>
            <a:pPr algn="l">
              <a:defRPr sz="1050" b="0">
                <a:solidFill>
                  <a:srgbClr val="071525"/>
                </a:solidFill>
              </a:defRPr>
            </a:pPr>
            <a:r>
              <a:rPr sz="1050" b="0">
                <a:solidFill>
                  <a:srgbClr val="071525"/>
                </a:solidFill>
              </a:rPr>
              <a:t>per-user time</a:t>
            </a:r>
          </a:p>
        </p:txBody>
      </p:sp>
      <p:sp>
        <p:nvSpPr>
          <p:cNvPr id="20" name="Straight Connector 19">
            <a:extLst>
              <a:ext uri="{FF2B5EF4-FFF2-40B4-BE49-F238E27FC236}">
                <a16:creationId xmlns:a16="http://schemas.microsoft.com/office/drawing/2014/main" id="{017F2D60-C7A1-423D-9EBC-F57DA0B6CE02}"/>
              </a:ext>
            </a:extLst>
          </p:cNvPr>
          <p:cNvSpPr>
            <a:spLocks noGrp="1"/>
          </p:cNvSpPr>
          <p:nvPr/>
        </p:nvSpPr>
        <p:spPr>
          <a:xfrm>
            <a:off x="8715375" y="2857500"/>
            <a:ext cx="714375" cy="0"/>
          </a:xfrm>
          <a:prstGeom prst="line">
            <a:avLst/>
          </a:prstGeom>
          <a:ln w="38100">
            <a:solidFill>
              <a:srgbClr val="32D3C7"/>
            </a:solidFill>
            <a:prstDash val="solid"/>
          </a:ln>
        </p:spPr>
        <p:txBody>
          <a:bodyPr/>
          <a:lstStyle/>
          <a:p>
            <a:endParaRPr lang="en-US"/>
          </a:p>
        </p:txBody>
      </p:sp>
      <p:sp>
        <p:nvSpPr>
          <p:cNvPr id="21" name="Rectangle: Rounded Corners 20">
            <a:extLst>
              <a:ext uri="{FF2B5EF4-FFF2-40B4-BE49-F238E27FC236}">
                <a16:creationId xmlns:a16="http://schemas.microsoft.com/office/drawing/2014/main" id="{2E4F28E2-E1B3-44B3-B821-334624B61146}"/>
              </a:ext>
            </a:extLst>
          </p:cNvPr>
          <p:cNvSpPr>
            <a:spLocks noGrp="1"/>
          </p:cNvSpPr>
          <p:nvPr/>
        </p:nvSpPr>
        <p:spPr>
          <a:xfrm>
            <a:off x="7239000" y="2238375"/>
            <a:ext cx="1476375" cy="1238250"/>
          </a:xfrm>
          <a:prstGeom prst="roundRect">
            <a:avLst>
              <a:gd name="adj" fmla="val 9231"/>
            </a:avLst>
          </a:prstGeom>
          <a:solidFill>
            <a:srgbClr val="102A43"/>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60F2FA08-15D7-4102-AC63-29B81758996F}"/>
              </a:ext>
            </a:extLst>
          </p:cNvPr>
          <p:cNvSpPr>
            <a:spLocks noGrp="1"/>
          </p:cNvSpPr>
          <p:nvPr/>
        </p:nvSpPr>
        <p:spPr>
          <a:xfrm>
            <a:off x="7353300" y="2362200"/>
            <a:ext cx="333375" cy="266700"/>
          </a:xfrm>
          <a:prstGeom prst="rect">
            <a:avLst/>
          </a:prstGeom>
          <a:noFill/>
          <a:ln w="0">
            <a:noFill/>
            <a:prstDash val="solid"/>
          </a:ln>
        </p:spPr>
        <p:txBody>
          <a:bodyPr anchor="ctr"/>
          <a:lstStyle/>
          <a:p>
            <a:pPr algn="l">
              <a:defRPr sz="1125" b="1">
                <a:solidFill>
                  <a:srgbClr val="32D3C7"/>
                </a:solidFill>
              </a:defRPr>
            </a:pPr>
            <a:r>
              <a:rPr sz="1125" b="1">
                <a:solidFill>
                  <a:srgbClr val="32D3C7"/>
                </a:solidFill>
              </a:rPr>
              <a:t>4</a:t>
            </a:r>
          </a:p>
        </p:txBody>
      </p:sp>
      <p:sp>
        <p:nvSpPr>
          <p:cNvPr id="23" name="Rectangle 22">
            <a:extLst>
              <a:ext uri="{FF2B5EF4-FFF2-40B4-BE49-F238E27FC236}">
                <a16:creationId xmlns:a16="http://schemas.microsoft.com/office/drawing/2014/main" id="{558DEB0E-F6BF-46B7-9B0E-38B9CD78C7AB}"/>
              </a:ext>
            </a:extLst>
          </p:cNvPr>
          <p:cNvSpPr>
            <a:spLocks noGrp="1"/>
          </p:cNvSpPr>
          <p:nvPr/>
        </p:nvSpPr>
        <p:spPr>
          <a:xfrm>
            <a:off x="7353300" y="2667000"/>
            <a:ext cx="1238250" cy="285750"/>
          </a:xfrm>
          <a:prstGeom prst="rect">
            <a:avLst/>
          </a:prstGeom>
          <a:noFill/>
          <a:ln w="0">
            <a:noFill/>
            <a:prstDash val="solid"/>
          </a:ln>
        </p:spPr>
        <p:txBody>
          <a:bodyPr anchor="ctr"/>
          <a:lstStyle/>
          <a:p>
            <a:pPr algn="l">
              <a:defRPr sz="1650" b="1">
                <a:solidFill>
                  <a:srgbClr val="F8FBFF"/>
                </a:solidFill>
              </a:defRPr>
            </a:pPr>
            <a:r>
              <a:rPr sz="1650" b="1">
                <a:solidFill>
                  <a:srgbClr val="F8FBFF"/>
                </a:solidFill>
              </a:rPr>
              <a:t>Train</a:t>
            </a:r>
          </a:p>
        </p:txBody>
      </p:sp>
      <p:sp>
        <p:nvSpPr>
          <p:cNvPr id="24" name="Rectangle 23">
            <a:extLst>
              <a:ext uri="{FF2B5EF4-FFF2-40B4-BE49-F238E27FC236}">
                <a16:creationId xmlns:a16="http://schemas.microsoft.com/office/drawing/2014/main" id="{E5E61EC6-C1E5-49DD-B274-F0C074D7C038}"/>
              </a:ext>
            </a:extLst>
          </p:cNvPr>
          <p:cNvSpPr>
            <a:spLocks noGrp="1"/>
          </p:cNvSpPr>
          <p:nvPr/>
        </p:nvSpPr>
        <p:spPr>
          <a:xfrm>
            <a:off x="7353300" y="3019425"/>
            <a:ext cx="1238250" cy="323850"/>
          </a:xfrm>
          <a:prstGeom prst="rect">
            <a:avLst/>
          </a:prstGeom>
          <a:noFill/>
          <a:ln w="0">
            <a:noFill/>
            <a:prstDash val="solid"/>
          </a:ln>
        </p:spPr>
        <p:txBody>
          <a:bodyPr anchor="ctr"/>
          <a:lstStyle/>
          <a:p>
            <a:pPr algn="l">
              <a:defRPr sz="1050" b="0">
                <a:solidFill>
                  <a:srgbClr val="A8B8C8"/>
                </a:solidFill>
              </a:defRPr>
            </a:pPr>
            <a:r>
              <a:rPr sz="1050" b="0">
                <a:solidFill>
                  <a:srgbClr val="A8B8C8"/>
                </a:solidFill>
              </a:rPr>
              <a:t>MF and NCF</a:t>
            </a:r>
          </a:p>
        </p:txBody>
      </p:sp>
      <p:sp>
        <p:nvSpPr>
          <p:cNvPr id="25" name="Rectangle: Rounded Corners 24">
            <a:extLst>
              <a:ext uri="{FF2B5EF4-FFF2-40B4-BE49-F238E27FC236}">
                <a16:creationId xmlns:a16="http://schemas.microsoft.com/office/drawing/2014/main" id="{55800640-01E7-4086-900D-8F0F890D173B}"/>
              </a:ext>
            </a:extLst>
          </p:cNvPr>
          <p:cNvSpPr>
            <a:spLocks noGrp="1"/>
          </p:cNvSpPr>
          <p:nvPr/>
        </p:nvSpPr>
        <p:spPr>
          <a:xfrm>
            <a:off x="9429750" y="2238375"/>
            <a:ext cx="1476375" cy="1238250"/>
          </a:xfrm>
          <a:prstGeom prst="roundRect">
            <a:avLst>
              <a:gd name="adj" fmla="val 9231"/>
            </a:avLst>
          </a:prstGeom>
          <a:solidFill>
            <a:srgbClr val="102A43"/>
          </a:solidFill>
          <a:ln w="0">
            <a:noFill/>
            <a:prstDash val="solid"/>
          </a:ln>
        </p:spPr>
        <p:txBody>
          <a:bodyPr/>
          <a:lstStyle/>
          <a:p>
            <a:endParaRPr lang="en-US"/>
          </a:p>
        </p:txBody>
      </p:sp>
      <p:sp>
        <p:nvSpPr>
          <p:cNvPr id="26" name="Rectangle 25">
            <a:extLst>
              <a:ext uri="{FF2B5EF4-FFF2-40B4-BE49-F238E27FC236}">
                <a16:creationId xmlns:a16="http://schemas.microsoft.com/office/drawing/2014/main" id="{793889BC-EA34-4743-B6C6-4E204D231662}"/>
              </a:ext>
            </a:extLst>
          </p:cNvPr>
          <p:cNvSpPr>
            <a:spLocks noGrp="1"/>
          </p:cNvSpPr>
          <p:nvPr/>
        </p:nvSpPr>
        <p:spPr>
          <a:xfrm>
            <a:off x="9544050" y="2362200"/>
            <a:ext cx="333375" cy="266700"/>
          </a:xfrm>
          <a:prstGeom prst="rect">
            <a:avLst/>
          </a:prstGeom>
          <a:noFill/>
          <a:ln w="0">
            <a:noFill/>
            <a:prstDash val="solid"/>
          </a:ln>
        </p:spPr>
        <p:txBody>
          <a:bodyPr anchor="ctr"/>
          <a:lstStyle/>
          <a:p>
            <a:pPr algn="l">
              <a:defRPr sz="1125" b="1">
                <a:solidFill>
                  <a:srgbClr val="32D3C7"/>
                </a:solidFill>
              </a:defRPr>
            </a:pPr>
            <a:r>
              <a:rPr sz="1125" b="1">
                <a:solidFill>
                  <a:srgbClr val="32D3C7"/>
                </a:solidFill>
              </a:rPr>
              <a:t>5</a:t>
            </a:r>
          </a:p>
        </p:txBody>
      </p:sp>
      <p:sp>
        <p:nvSpPr>
          <p:cNvPr id="27" name="Rectangle 26">
            <a:extLst>
              <a:ext uri="{FF2B5EF4-FFF2-40B4-BE49-F238E27FC236}">
                <a16:creationId xmlns:a16="http://schemas.microsoft.com/office/drawing/2014/main" id="{E4F34580-09E6-4857-A9D0-768568351031}"/>
              </a:ext>
            </a:extLst>
          </p:cNvPr>
          <p:cNvSpPr>
            <a:spLocks noGrp="1"/>
          </p:cNvSpPr>
          <p:nvPr/>
        </p:nvSpPr>
        <p:spPr>
          <a:xfrm>
            <a:off x="9544050" y="2667000"/>
            <a:ext cx="1238250" cy="285750"/>
          </a:xfrm>
          <a:prstGeom prst="rect">
            <a:avLst/>
          </a:prstGeom>
          <a:noFill/>
          <a:ln w="0">
            <a:noFill/>
            <a:prstDash val="solid"/>
          </a:ln>
        </p:spPr>
        <p:txBody>
          <a:bodyPr anchor="ctr"/>
          <a:lstStyle/>
          <a:p>
            <a:pPr algn="l">
              <a:defRPr sz="1650" b="1">
                <a:solidFill>
                  <a:srgbClr val="F8FBFF"/>
                </a:solidFill>
              </a:defRPr>
            </a:pPr>
            <a:r>
              <a:rPr sz="1650" b="1">
                <a:solidFill>
                  <a:srgbClr val="F8FBFF"/>
                </a:solidFill>
              </a:rPr>
              <a:t>Audit</a:t>
            </a:r>
          </a:p>
        </p:txBody>
      </p:sp>
      <p:sp>
        <p:nvSpPr>
          <p:cNvPr id="28" name="Rectangle 27">
            <a:extLst>
              <a:ext uri="{FF2B5EF4-FFF2-40B4-BE49-F238E27FC236}">
                <a16:creationId xmlns:a16="http://schemas.microsoft.com/office/drawing/2014/main" id="{185FBBC9-FBC1-4259-97DF-10E21CEF33ED}"/>
              </a:ext>
            </a:extLst>
          </p:cNvPr>
          <p:cNvSpPr>
            <a:spLocks noGrp="1"/>
          </p:cNvSpPr>
          <p:nvPr/>
        </p:nvSpPr>
        <p:spPr>
          <a:xfrm>
            <a:off x="9544050" y="3019425"/>
            <a:ext cx="1238250" cy="323850"/>
          </a:xfrm>
          <a:prstGeom prst="rect">
            <a:avLst/>
          </a:prstGeom>
          <a:noFill/>
          <a:ln w="0">
            <a:noFill/>
            <a:prstDash val="solid"/>
          </a:ln>
        </p:spPr>
        <p:txBody>
          <a:bodyPr anchor="ctr"/>
          <a:lstStyle/>
          <a:p>
            <a:pPr algn="l">
              <a:defRPr sz="1050" b="0">
                <a:solidFill>
                  <a:srgbClr val="A8B8C8"/>
                </a:solidFill>
              </a:defRPr>
            </a:pPr>
            <a:r>
              <a:rPr sz="1050" b="0">
                <a:solidFill>
                  <a:srgbClr val="A8B8C8"/>
                </a:solidFill>
              </a:rPr>
              <a:t>metrics + ethics</a:t>
            </a:r>
          </a:p>
        </p:txBody>
      </p:sp>
      <p:sp>
        <p:nvSpPr>
          <p:cNvPr id="29" name="Rectangle: Rounded Corners 28">
            <a:extLst>
              <a:ext uri="{FF2B5EF4-FFF2-40B4-BE49-F238E27FC236}">
                <a16:creationId xmlns:a16="http://schemas.microsoft.com/office/drawing/2014/main" id="{E7B74780-CCEF-482E-9F5F-2E8D89575B9B}"/>
              </a:ext>
            </a:extLst>
          </p:cNvPr>
          <p:cNvSpPr>
            <a:spLocks noGrp="1"/>
          </p:cNvSpPr>
          <p:nvPr/>
        </p:nvSpPr>
        <p:spPr>
          <a:xfrm>
            <a:off x="1524000" y="4191000"/>
            <a:ext cx="9144000" cy="904875"/>
          </a:xfrm>
          <a:prstGeom prst="roundRect">
            <a:avLst>
              <a:gd name="adj" fmla="val 12632"/>
            </a:avLst>
          </a:prstGeom>
          <a:solidFill>
            <a:srgbClr val="0D2237"/>
          </a:solidFill>
          <a:ln w="9525">
            <a:solidFill>
              <a:srgbClr val="28445F"/>
            </a:solidFill>
            <a:prstDash val="solid"/>
          </a:ln>
        </p:spPr>
        <p:txBody>
          <a:bodyPr/>
          <a:lstStyle/>
          <a:p>
            <a:endParaRPr lang="en-US"/>
          </a:p>
        </p:txBody>
      </p:sp>
      <p:sp>
        <p:nvSpPr>
          <p:cNvPr id="30" name="Rectangle 29">
            <a:extLst>
              <a:ext uri="{FF2B5EF4-FFF2-40B4-BE49-F238E27FC236}">
                <a16:creationId xmlns:a16="http://schemas.microsoft.com/office/drawing/2014/main" id="{9DE3F3EF-2B57-458E-A9B4-DA11DE634D93}"/>
              </a:ext>
            </a:extLst>
          </p:cNvPr>
          <p:cNvSpPr>
            <a:spLocks noGrp="1"/>
          </p:cNvSpPr>
          <p:nvPr/>
        </p:nvSpPr>
        <p:spPr>
          <a:xfrm>
            <a:off x="1762125" y="4362450"/>
            <a:ext cx="1143000" cy="266700"/>
          </a:xfrm>
          <a:prstGeom prst="rect">
            <a:avLst/>
          </a:prstGeom>
          <a:noFill/>
          <a:ln w="0">
            <a:noFill/>
            <a:prstDash val="solid"/>
          </a:ln>
        </p:spPr>
        <p:txBody>
          <a:bodyPr anchor="ctr"/>
          <a:lstStyle/>
          <a:p>
            <a:pPr algn="l">
              <a:defRPr sz="1350" b="1">
                <a:solidFill>
                  <a:srgbClr val="32D3C7"/>
                </a:solidFill>
              </a:defRPr>
            </a:pPr>
            <a:r>
              <a:rPr sz="1350" b="1">
                <a:solidFill>
                  <a:srgbClr val="32D3C7"/>
                </a:solidFill>
              </a:rPr>
              <a:t>Controls</a:t>
            </a:r>
          </a:p>
        </p:txBody>
      </p:sp>
      <p:sp>
        <p:nvSpPr>
          <p:cNvPr id="31" name="Rectangle 30">
            <a:extLst>
              <a:ext uri="{FF2B5EF4-FFF2-40B4-BE49-F238E27FC236}">
                <a16:creationId xmlns:a16="http://schemas.microsoft.com/office/drawing/2014/main" id="{EBC98C21-980D-4335-A4F0-84836E31BB2A}"/>
              </a:ext>
            </a:extLst>
          </p:cNvPr>
          <p:cNvSpPr>
            <a:spLocks noGrp="1"/>
          </p:cNvSpPr>
          <p:nvPr/>
        </p:nvSpPr>
        <p:spPr>
          <a:xfrm>
            <a:off x="2952750" y="4286250"/>
            <a:ext cx="7429500" cy="523875"/>
          </a:xfrm>
          <a:prstGeom prst="rect">
            <a:avLst/>
          </a:prstGeom>
          <a:noFill/>
          <a:ln w="0">
            <a:noFill/>
            <a:prstDash val="solid"/>
          </a:ln>
        </p:spPr>
        <p:txBody>
          <a:bodyPr anchor="ctr"/>
          <a:lstStyle/>
          <a:p>
            <a:pPr algn="l">
              <a:defRPr sz="1350" b="0">
                <a:solidFill>
                  <a:srgbClr val="F8FBFF"/>
                </a:solidFill>
              </a:defRPr>
            </a:pPr>
            <a:r>
              <a:rPr sz="1350" b="0">
                <a:solidFill>
                  <a:srgbClr val="F8FBFF"/>
                </a:solidFill>
              </a:rPr>
              <a:t>Fixed seed • duplicate and missing-value checks • identical dataset • untouched test set • versioned preprocessing maps</a:t>
            </a:r>
          </a:p>
        </p:txBody>
      </p:sp>
    </p:spTree>
    <p:extLst>
      <p:ext uri="{BB962C8B-B14F-4D97-AF65-F5344CB8AC3E}">
        <p14:creationId xmlns:p14="http://schemas.microsoft.com/office/powerpoint/2010/main" val="72419090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0404E86-DD13-4889-BB8E-BB66EBD8798A}"/>
              </a:ext>
            </a:extLst>
          </p:cNvPr>
          <p:cNvSpPr>
            <a:spLocks noGrp="1"/>
          </p:cNvSpPr>
          <p:nvPr/>
        </p:nvSpPr>
        <p:spPr>
          <a:xfrm>
            <a:off x="609600" y="323850"/>
            <a:ext cx="4762500" cy="228600"/>
          </a:xfrm>
          <a:prstGeom prst="rect">
            <a:avLst/>
          </a:prstGeom>
          <a:noFill/>
          <a:ln w="0">
            <a:noFill/>
            <a:prstDash val="solid"/>
          </a:ln>
        </p:spPr>
        <p:txBody>
          <a:bodyPr anchor="ctr"/>
          <a:lstStyle/>
          <a:p>
            <a:pPr algn="l">
              <a:defRPr sz="975" b="1">
                <a:solidFill>
                  <a:srgbClr val="32D3C7"/>
                </a:solidFill>
              </a:defRPr>
            </a:pPr>
            <a:r>
              <a:rPr sz="975" b="1">
                <a:solidFill>
                  <a:srgbClr val="32D3C7"/>
                </a:solidFill>
              </a:rPr>
              <a:t>VALIDATION DESIGN</a:t>
            </a:r>
          </a:p>
        </p:txBody>
      </p:sp>
      <p:sp>
        <p:nvSpPr>
          <p:cNvPr id="2" name="Rectangle 1">
            <a:extLst>
              <a:ext uri="{FF2B5EF4-FFF2-40B4-BE49-F238E27FC236}">
                <a16:creationId xmlns:a16="http://schemas.microsoft.com/office/drawing/2014/main" id="{0B4EF180-A8DD-43F4-B4D8-66475D4EA1A0}"/>
              </a:ext>
            </a:extLst>
          </p:cNvPr>
          <p:cNvSpPr>
            <a:spLocks noGrp="1"/>
          </p:cNvSpPr>
          <p:nvPr/>
        </p:nvSpPr>
        <p:spPr>
          <a:xfrm>
            <a:off x="609600" y="638175"/>
            <a:ext cx="10668000" cy="552450"/>
          </a:xfrm>
          <a:prstGeom prst="rect">
            <a:avLst/>
          </a:prstGeom>
          <a:noFill/>
          <a:ln w="0">
            <a:noFill/>
            <a:prstDash val="solid"/>
          </a:ln>
        </p:spPr>
        <p:txBody>
          <a:bodyPr anchor="ctr"/>
          <a:lstStyle/>
          <a:p>
            <a:pPr algn="l">
              <a:defRPr sz="2700" b="1">
                <a:solidFill>
                  <a:srgbClr val="F8FBFF"/>
                </a:solidFill>
              </a:defRPr>
            </a:pPr>
            <a:r>
              <a:rPr sz="2700" b="1">
                <a:solidFill>
                  <a:srgbClr val="F8FBFF"/>
                </a:solidFill>
              </a:rPr>
              <a:t>Temporal holdout asks the model to predict what happens next</a:t>
            </a:r>
          </a:p>
        </p:txBody>
      </p:sp>
      <p:sp>
        <p:nvSpPr>
          <p:cNvPr id="3" name="Straight Connector 2">
            <a:extLst>
              <a:ext uri="{FF2B5EF4-FFF2-40B4-BE49-F238E27FC236}">
                <a16:creationId xmlns:a16="http://schemas.microsoft.com/office/drawing/2014/main" id="{F002C1BD-250C-4EAC-8453-1066411CFEDE}"/>
              </a:ext>
            </a:extLst>
          </p:cNvPr>
          <p:cNvSpPr>
            <a:spLocks noGrp="1"/>
          </p:cNvSpPr>
          <p:nvPr/>
        </p:nvSpPr>
        <p:spPr>
          <a:xfrm>
            <a:off x="609600" y="1304925"/>
            <a:ext cx="10972800" cy="0"/>
          </a:xfrm>
          <a:prstGeom prst="line">
            <a:avLst/>
          </a:prstGeom>
          <a:ln w="9525">
            <a:solidFill>
              <a:srgbClr val="28445F"/>
            </a:solidFill>
            <a:prstDash val="solid"/>
          </a:ln>
        </p:spPr>
        <p:txBody>
          <a:bodyPr/>
          <a:lstStyle/>
          <a:p>
            <a:endParaRPr lang="en-US"/>
          </a:p>
        </p:txBody>
      </p:sp>
      <p:sp>
        <p:nvSpPr>
          <p:cNvPr id="4" name="Rectangle 3">
            <a:extLst>
              <a:ext uri="{FF2B5EF4-FFF2-40B4-BE49-F238E27FC236}">
                <a16:creationId xmlns:a16="http://schemas.microsoft.com/office/drawing/2014/main" id="{8ABA1073-53BC-4443-9CAE-AD3D0A38FF68}"/>
              </a:ext>
            </a:extLst>
          </p:cNvPr>
          <p:cNvSpPr>
            <a:spLocks noGrp="1"/>
          </p:cNvSpPr>
          <p:nvPr/>
        </p:nvSpPr>
        <p:spPr>
          <a:xfrm>
            <a:off x="11239500" y="6238875"/>
            <a:ext cx="428625" cy="228600"/>
          </a:xfrm>
          <a:prstGeom prst="rect">
            <a:avLst/>
          </a:prstGeom>
          <a:noFill/>
          <a:ln w="0">
            <a:noFill/>
            <a:prstDash val="solid"/>
          </a:ln>
        </p:spPr>
        <p:txBody>
          <a:bodyPr anchor="ctr"/>
          <a:lstStyle/>
          <a:p>
            <a:pPr algn="r">
              <a:defRPr sz="900" b="1">
                <a:solidFill>
                  <a:srgbClr val="A8B8C8"/>
                </a:solidFill>
              </a:defRPr>
            </a:pPr>
            <a:r>
              <a:rPr sz="900" b="1">
                <a:solidFill>
                  <a:srgbClr val="A8B8C8"/>
                </a:solidFill>
              </a:rPr>
              <a:t>05</a:t>
            </a:r>
          </a:p>
        </p:txBody>
      </p:sp>
      <p:sp>
        <p:nvSpPr>
          <p:cNvPr id="5" name="Rectangle 4">
            <a:extLst>
              <a:ext uri="{FF2B5EF4-FFF2-40B4-BE49-F238E27FC236}">
                <a16:creationId xmlns:a16="http://schemas.microsoft.com/office/drawing/2014/main" id="{45FCFC1E-49F2-496D-A270-041AD1CA529D}"/>
              </a:ext>
            </a:extLst>
          </p:cNvPr>
          <p:cNvSpPr>
            <a:spLocks noGrp="1"/>
          </p:cNvSpPr>
          <p:nvPr/>
        </p:nvSpPr>
        <p:spPr>
          <a:xfrm>
            <a:off x="714375" y="1838325"/>
            <a:ext cx="952500" cy="285750"/>
          </a:xfrm>
          <a:prstGeom prst="rect">
            <a:avLst/>
          </a:prstGeom>
          <a:noFill/>
          <a:ln w="0">
            <a:noFill/>
            <a:prstDash val="solid"/>
          </a:ln>
        </p:spPr>
        <p:txBody>
          <a:bodyPr anchor="ctr"/>
          <a:lstStyle/>
          <a:p>
            <a:pPr algn="l">
              <a:defRPr sz="1200" b="1">
                <a:solidFill>
                  <a:srgbClr val="A8B8C8"/>
                </a:solidFill>
              </a:defRPr>
            </a:pPr>
            <a:r>
              <a:rPr sz="1200" b="1">
                <a:solidFill>
                  <a:srgbClr val="A8B8C8"/>
                </a:solidFill>
              </a:rPr>
              <a:t>PAST</a:t>
            </a:r>
          </a:p>
        </p:txBody>
      </p:sp>
      <p:sp>
        <p:nvSpPr>
          <p:cNvPr id="6" name="Rectangle 5">
            <a:extLst>
              <a:ext uri="{FF2B5EF4-FFF2-40B4-BE49-F238E27FC236}">
                <a16:creationId xmlns:a16="http://schemas.microsoft.com/office/drawing/2014/main" id="{0275D9B5-0D35-4655-8714-1C959F7BAA0E}"/>
              </a:ext>
            </a:extLst>
          </p:cNvPr>
          <p:cNvSpPr>
            <a:spLocks noGrp="1"/>
          </p:cNvSpPr>
          <p:nvPr/>
        </p:nvSpPr>
        <p:spPr>
          <a:xfrm>
            <a:off x="10096500" y="1838325"/>
            <a:ext cx="952500" cy="285750"/>
          </a:xfrm>
          <a:prstGeom prst="rect">
            <a:avLst/>
          </a:prstGeom>
          <a:noFill/>
          <a:ln w="0">
            <a:noFill/>
            <a:prstDash val="solid"/>
          </a:ln>
        </p:spPr>
        <p:txBody>
          <a:bodyPr anchor="ctr"/>
          <a:lstStyle/>
          <a:p>
            <a:pPr algn="r">
              <a:defRPr sz="1200" b="1">
                <a:solidFill>
                  <a:srgbClr val="A8B8C8"/>
                </a:solidFill>
              </a:defRPr>
            </a:pPr>
            <a:r>
              <a:rPr sz="1200" b="1">
                <a:solidFill>
                  <a:srgbClr val="A8B8C8"/>
                </a:solidFill>
              </a:rPr>
              <a:t>FUTURE</a:t>
            </a:r>
          </a:p>
        </p:txBody>
      </p:sp>
      <p:sp>
        <p:nvSpPr>
          <p:cNvPr id="7" name="Rectangle: Rounded Corners 6">
            <a:extLst>
              <a:ext uri="{FF2B5EF4-FFF2-40B4-BE49-F238E27FC236}">
                <a16:creationId xmlns:a16="http://schemas.microsoft.com/office/drawing/2014/main" id="{C1B5ED4E-D36B-4886-80CD-6B4B153084D0}"/>
              </a:ext>
            </a:extLst>
          </p:cNvPr>
          <p:cNvSpPr>
            <a:spLocks noGrp="1"/>
          </p:cNvSpPr>
          <p:nvPr/>
        </p:nvSpPr>
        <p:spPr>
          <a:xfrm>
            <a:off x="762000" y="2476500"/>
            <a:ext cx="7191375" cy="952500"/>
          </a:xfrm>
          <a:prstGeom prst="roundRect">
            <a:avLst>
              <a:gd name="adj" fmla="val 12000"/>
            </a:avLst>
          </a:prstGeom>
          <a:solidFill>
            <a:srgbClr val="5AA9FF"/>
          </a:solidFill>
          <a:ln w="0">
            <a:noFill/>
            <a:prstDash val="solid"/>
          </a:ln>
        </p:spPr>
        <p:txBody>
          <a:bodyPr/>
          <a:lstStyle/>
          <a:p>
            <a:endParaRPr lang="en-US"/>
          </a:p>
        </p:txBody>
      </p:sp>
      <p:sp>
        <p:nvSpPr>
          <p:cNvPr id="8" name="Rectangle 7">
            <a:extLst>
              <a:ext uri="{FF2B5EF4-FFF2-40B4-BE49-F238E27FC236}">
                <a16:creationId xmlns:a16="http://schemas.microsoft.com/office/drawing/2014/main" id="{C9BF16FC-2644-47C5-AA6A-06243E499807}"/>
              </a:ext>
            </a:extLst>
          </p:cNvPr>
          <p:cNvSpPr>
            <a:spLocks noGrp="1"/>
          </p:cNvSpPr>
          <p:nvPr/>
        </p:nvSpPr>
        <p:spPr>
          <a:xfrm>
            <a:off x="1000125" y="2476500"/>
            <a:ext cx="6667500" cy="952500"/>
          </a:xfrm>
          <a:prstGeom prst="rect">
            <a:avLst/>
          </a:prstGeom>
          <a:noFill/>
          <a:ln w="0">
            <a:noFill/>
            <a:prstDash val="solid"/>
          </a:ln>
        </p:spPr>
        <p:txBody>
          <a:bodyPr anchor="ctr"/>
          <a:lstStyle/>
          <a:p>
            <a:pPr algn="ctr">
              <a:defRPr sz="2025" b="1">
                <a:solidFill>
                  <a:srgbClr val="071525"/>
                </a:solidFill>
              </a:defRPr>
            </a:pPr>
            <a:r>
              <a:rPr sz="2025" b="1">
                <a:solidFill>
                  <a:srgbClr val="071525"/>
                </a:solidFill>
              </a:rPr>
              <a:t>TRAIN • all earlier ratings</a:t>
            </a:r>
          </a:p>
        </p:txBody>
      </p:sp>
      <p:sp>
        <p:nvSpPr>
          <p:cNvPr id="9" name="Rectangle: Rounded Corners 8">
            <a:extLst>
              <a:ext uri="{FF2B5EF4-FFF2-40B4-BE49-F238E27FC236}">
                <a16:creationId xmlns:a16="http://schemas.microsoft.com/office/drawing/2014/main" id="{B51836E7-A875-4073-AD0B-63DB856F5BB4}"/>
              </a:ext>
            </a:extLst>
          </p:cNvPr>
          <p:cNvSpPr>
            <a:spLocks noGrp="1"/>
          </p:cNvSpPr>
          <p:nvPr/>
        </p:nvSpPr>
        <p:spPr>
          <a:xfrm>
            <a:off x="8096250" y="2476500"/>
            <a:ext cx="1381125" cy="952500"/>
          </a:xfrm>
          <a:prstGeom prst="roundRect">
            <a:avLst>
              <a:gd name="adj" fmla="val 12000"/>
            </a:avLst>
          </a:prstGeom>
          <a:solidFill>
            <a:srgbClr val="FFB547"/>
          </a:solidFill>
          <a:ln w="0">
            <a:noFill/>
            <a:prstDash val="solid"/>
          </a:ln>
        </p:spPr>
        <p:txBody>
          <a:bodyPr/>
          <a:lstStyle/>
          <a:p>
            <a:endParaRPr lang="en-US"/>
          </a:p>
        </p:txBody>
      </p:sp>
      <p:sp>
        <p:nvSpPr>
          <p:cNvPr id="10" name="Rectangle 9">
            <a:extLst>
              <a:ext uri="{FF2B5EF4-FFF2-40B4-BE49-F238E27FC236}">
                <a16:creationId xmlns:a16="http://schemas.microsoft.com/office/drawing/2014/main" id="{AC7BB245-0320-4420-936D-38A1BBBF856A}"/>
              </a:ext>
            </a:extLst>
          </p:cNvPr>
          <p:cNvSpPr>
            <a:spLocks noGrp="1"/>
          </p:cNvSpPr>
          <p:nvPr/>
        </p:nvSpPr>
        <p:spPr>
          <a:xfrm>
            <a:off x="8096250" y="2476500"/>
            <a:ext cx="1381125" cy="952500"/>
          </a:xfrm>
          <a:prstGeom prst="rect">
            <a:avLst/>
          </a:prstGeom>
          <a:noFill/>
          <a:ln w="0">
            <a:noFill/>
            <a:prstDash val="solid"/>
          </a:ln>
        </p:spPr>
        <p:txBody>
          <a:bodyPr anchor="ctr"/>
          <a:lstStyle/>
          <a:p>
            <a:pPr algn="ctr">
              <a:defRPr sz="1425" b="1">
                <a:solidFill>
                  <a:srgbClr val="071525"/>
                </a:solidFill>
              </a:defRPr>
            </a:pPr>
            <a:r>
              <a:rPr sz="1425" b="1">
                <a:solidFill>
                  <a:srgbClr val="071525"/>
                </a:solidFill>
              </a:rPr>
              <a:t>VALIDATE</a:t>
            </a:r>
          </a:p>
          <a:p>
            <a:pPr algn="ctr">
              <a:defRPr sz="1425" b="1">
                <a:solidFill>
                  <a:srgbClr val="071525"/>
                </a:solidFill>
              </a:defRPr>
            </a:pPr>
            <a:r>
              <a:rPr sz="1425" b="1">
                <a:solidFill>
                  <a:srgbClr val="071525"/>
                </a:solidFill>
              </a:rPr>
              <a:t>2nd latest</a:t>
            </a:r>
          </a:p>
        </p:txBody>
      </p:sp>
      <p:sp>
        <p:nvSpPr>
          <p:cNvPr id="11" name="Rectangle: Rounded Corners 10">
            <a:extLst>
              <a:ext uri="{FF2B5EF4-FFF2-40B4-BE49-F238E27FC236}">
                <a16:creationId xmlns:a16="http://schemas.microsoft.com/office/drawing/2014/main" id="{2CFF938B-2E43-4E80-8B68-7B7C2A8FD9B2}"/>
              </a:ext>
            </a:extLst>
          </p:cNvPr>
          <p:cNvSpPr>
            <a:spLocks noGrp="1"/>
          </p:cNvSpPr>
          <p:nvPr/>
        </p:nvSpPr>
        <p:spPr>
          <a:xfrm>
            <a:off x="9620250" y="2476500"/>
            <a:ext cx="1381125" cy="952500"/>
          </a:xfrm>
          <a:prstGeom prst="roundRect">
            <a:avLst>
              <a:gd name="adj" fmla="val 12000"/>
            </a:avLst>
          </a:prstGeom>
          <a:solidFill>
            <a:srgbClr val="32D3C7"/>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7B4E3767-48F6-4A7D-AA80-30C74102C8E7}"/>
              </a:ext>
            </a:extLst>
          </p:cNvPr>
          <p:cNvSpPr>
            <a:spLocks noGrp="1"/>
          </p:cNvSpPr>
          <p:nvPr/>
        </p:nvSpPr>
        <p:spPr>
          <a:xfrm>
            <a:off x="9620250" y="2476500"/>
            <a:ext cx="1381125" cy="952500"/>
          </a:xfrm>
          <a:prstGeom prst="rect">
            <a:avLst/>
          </a:prstGeom>
          <a:noFill/>
          <a:ln w="0">
            <a:noFill/>
            <a:prstDash val="solid"/>
          </a:ln>
        </p:spPr>
        <p:txBody>
          <a:bodyPr anchor="ctr"/>
          <a:lstStyle/>
          <a:p>
            <a:pPr algn="ctr">
              <a:defRPr sz="1425" b="1">
                <a:solidFill>
                  <a:srgbClr val="071525"/>
                </a:solidFill>
              </a:defRPr>
            </a:pPr>
            <a:r>
              <a:rPr sz="1425" b="1">
                <a:solidFill>
                  <a:srgbClr val="071525"/>
                </a:solidFill>
              </a:rPr>
              <a:t>TEST</a:t>
            </a:r>
          </a:p>
          <a:p>
            <a:pPr algn="ctr">
              <a:defRPr sz="1425" b="1">
                <a:solidFill>
                  <a:srgbClr val="071525"/>
                </a:solidFill>
              </a:defRPr>
            </a:pPr>
            <a:r>
              <a:rPr sz="1425" b="1">
                <a:solidFill>
                  <a:srgbClr val="071525"/>
                </a:solidFill>
              </a:rPr>
              <a:t>latest</a:t>
            </a:r>
          </a:p>
        </p:txBody>
      </p:sp>
      <p:sp>
        <p:nvSpPr>
          <p:cNvPr id="13" name="Rectangle 12">
            <a:extLst>
              <a:ext uri="{FF2B5EF4-FFF2-40B4-BE49-F238E27FC236}">
                <a16:creationId xmlns:a16="http://schemas.microsoft.com/office/drawing/2014/main" id="{6C1C1E67-A968-4BE6-A3D7-B47EB24E19FD}"/>
              </a:ext>
            </a:extLst>
          </p:cNvPr>
          <p:cNvSpPr>
            <a:spLocks noGrp="1"/>
          </p:cNvSpPr>
          <p:nvPr/>
        </p:nvSpPr>
        <p:spPr>
          <a:xfrm>
            <a:off x="1762125" y="4333875"/>
            <a:ext cx="8667750" cy="476250"/>
          </a:xfrm>
          <a:prstGeom prst="rect">
            <a:avLst/>
          </a:prstGeom>
          <a:noFill/>
          <a:ln w="0">
            <a:noFill/>
            <a:prstDash val="solid"/>
          </a:ln>
        </p:spPr>
        <p:txBody>
          <a:bodyPr anchor="ctr"/>
          <a:lstStyle/>
          <a:p>
            <a:pPr algn="ctr">
              <a:defRPr sz="2025" b="1">
                <a:solidFill>
                  <a:srgbClr val="F8FBFF"/>
                </a:solidFill>
              </a:defRPr>
            </a:pPr>
            <a:r>
              <a:rPr sz="2025" b="1">
                <a:solidFill>
                  <a:srgbClr val="F8FBFF"/>
                </a:solidFill>
              </a:rPr>
              <a:t>3-fold sensitivity check runs only inside the development data</a:t>
            </a:r>
          </a:p>
        </p:txBody>
      </p:sp>
      <p:sp>
        <p:nvSpPr>
          <p:cNvPr id="14" name="Rectangle 13">
            <a:extLst>
              <a:ext uri="{FF2B5EF4-FFF2-40B4-BE49-F238E27FC236}">
                <a16:creationId xmlns:a16="http://schemas.microsoft.com/office/drawing/2014/main" id="{43354975-77E1-4E00-95DA-68639748F248}"/>
              </a:ext>
            </a:extLst>
          </p:cNvPr>
          <p:cNvSpPr>
            <a:spLocks noGrp="1"/>
          </p:cNvSpPr>
          <p:nvPr/>
        </p:nvSpPr>
        <p:spPr>
          <a:xfrm>
            <a:off x="1762125" y="4933950"/>
            <a:ext cx="8667750" cy="361950"/>
          </a:xfrm>
          <a:prstGeom prst="rect">
            <a:avLst/>
          </a:prstGeom>
          <a:noFill/>
          <a:ln w="0">
            <a:noFill/>
            <a:prstDash val="solid"/>
          </a:ln>
        </p:spPr>
        <p:txBody>
          <a:bodyPr anchor="ctr"/>
          <a:lstStyle/>
          <a:p>
            <a:pPr algn="ctr">
              <a:defRPr sz="1350" b="0">
                <a:solidFill>
                  <a:srgbClr val="A8B8C8"/>
                </a:solidFill>
              </a:defRPr>
            </a:pPr>
            <a:r>
              <a:rPr sz="1350" b="0">
                <a:solidFill>
                  <a:srgbClr val="A8B8C8"/>
                </a:solidFill>
              </a:rPr>
              <a:t>Validation detects overfitting; the test set estimates final generalisation.</a:t>
            </a:r>
          </a:p>
        </p:txBody>
      </p:sp>
    </p:spTree>
    <p:extLst>
      <p:ext uri="{BB962C8B-B14F-4D97-AF65-F5344CB8AC3E}">
        <p14:creationId xmlns:p14="http://schemas.microsoft.com/office/powerpoint/2010/main" val="43534139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F3159BB-97B1-420A-8325-5F6B89FCF137}"/>
              </a:ext>
            </a:extLst>
          </p:cNvPr>
          <p:cNvSpPr>
            <a:spLocks noGrp="1"/>
          </p:cNvSpPr>
          <p:nvPr/>
        </p:nvSpPr>
        <p:spPr>
          <a:xfrm>
            <a:off x="609600" y="323850"/>
            <a:ext cx="4762500" cy="228600"/>
          </a:xfrm>
          <a:prstGeom prst="rect">
            <a:avLst/>
          </a:prstGeom>
          <a:noFill/>
          <a:ln w="0">
            <a:noFill/>
            <a:prstDash val="solid"/>
          </a:ln>
        </p:spPr>
        <p:txBody>
          <a:bodyPr anchor="ctr"/>
          <a:lstStyle/>
          <a:p>
            <a:pPr algn="l">
              <a:defRPr sz="975" b="1">
                <a:solidFill>
                  <a:srgbClr val="32D3C7"/>
                </a:solidFill>
              </a:defRPr>
            </a:pPr>
            <a:r>
              <a:rPr sz="975" b="1">
                <a:solidFill>
                  <a:srgbClr val="32D3C7"/>
                </a:solidFill>
              </a:rPr>
              <a:t>CLASSICAL MODEL</a:t>
            </a:r>
          </a:p>
        </p:txBody>
      </p:sp>
      <p:sp>
        <p:nvSpPr>
          <p:cNvPr id="2" name="Rectangle 1">
            <a:extLst>
              <a:ext uri="{FF2B5EF4-FFF2-40B4-BE49-F238E27FC236}">
                <a16:creationId xmlns:a16="http://schemas.microsoft.com/office/drawing/2014/main" id="{4ADE6203-AC19-4423-B379-AFC51CD579D5}"/>
              </a:ext>
            </a:extLst>
          </p:cNvPr>
          <p:cNvSpPr>
            <a:spLocks noGrp="1"/>
          </p:cNvSpPr>
          <p:nvPr/>
        </p:nvSpPr>
        <p:spPr>
          <a:xfrm>
            <a:off x="609600" y="638175"/>
            <a:ext cx="10668000" cy="552450"/>
          </a:xfrm>
          <a:prstGeom prst="rect">
            <a:avLst/>
          </a:prstGeom>
          <a:noFill/>
          <a:ln w="0">
            <a:noFill/>
            <a:prstDash val="solid"/>
          </a:ln>
        </p:spPr>
        <p:txBody>
          <a:bodyPr anchor="ctr"/>
          <a:lstStyle/>
          <a:p>
            <a:pPr algn="l">
              <a:defRPr sz="2700" b="1">
                <a:solidFill>
                  <a:srgbClr val="F8FBFF"/>
                </a:solidFill>
              </a:defRPr>
            </a:pPr>
            <a:r>
              <a:rPr sz="2700" b="1">
                <a:solidFill>
                  <a:srgbClr val="F8FBFF"/>
                </a:solidFill>
              </a:rPr>
              <a:t>Matrix factorisation compresses preference into additive signals</a:t>
            </a:r>
          </a:p>
        </p:txBody>
      </p:sp>
      <p:sp>
        <p:nvSpPr>
          <p:cNvPr id="3" name="Straight Connector 2">
            <a:extLst>
              <a:ext uri="{FF2B5EF4-FFF2-40B4-BE49-F238E27FC236}">
                <a16:creationId xmlns:a16="http://schemas.microsoft.com/office/drawing/2014/main" id="{CF03B457-000A-4F8D-9984-AC3FDE7223E2}"/>
              </a:ext>
            </a:extLst>
          </p:cNvPr>
          <p:cNvSpPr>
            <a:spLocks noGrp="1"/>
          </p:cNvSpPr>
          <p:nvPr/>
        </p:nvSpPr>
        <p:spPr>
          <a:xfrm>
            <a:off x="609600" y="1304925"/>
            <a:ext cx="10972800" cy="0"/>
          </a:xfrm>
          <a:prstGeom prst="line">
            <a:avLst/>
          </a:prstGeom>
          <a:ln w="9525">
            <a:solidFill>
              <a:srgbClr val="28445F"/>
            </a:solidFill>
            <a:prstDash val="solid"/>
          </a:ln>
        </p:spPr>
        <p:txBody>
          <a:bodyPr/>
          <a:lstStyle/>
          <a:p>
            <a:endParaRPr lang="en-US"/>
          </a:p>
        </p:txBody>
      </p:sp>
      <p:sp>
        <p:nvSpPr>
          <p:cNvPr id="4" name="Rectangle 3">
            <a:extLst>
              <a:ext uri="{FF2B5EF4-FFF2-40B4-BE49-F238E27FC236}">
                <a16:creationId xmlns:a16="http://schemas.microsoft.com/office/drawing/2014/main" id="{1BE0818D-DCEB-4803-94B4-4213D67684B1}"/>
              </a:ext>
            </a:extLst>
          </p:cNvPr>
          <p:cNvSpPr>
            <a:spLocks noGrp="1"/>
          </p:cNvSpPr>
          <p:nvPr/>
        </p:nvSpPr>
        <p:spPr>
          <a:xfrm>
            <a:off x="11239500" y="6238875"/>
            <a:ext cx="428625" cy="228600"/>
          </a:xfrm>
          <a:prstGeom prst="rect">
            <a:avLst/>
          </a:prstGeom>
          <a:noFill/>
          <a:ln w="0">
            <a:noFill/>
            <a:prstDash val="solid"/>
          </a:ln>
        </p:spPr>
        <p:txBody>
          <a:bodyPr anchor="ctr"/>
          <a:lstStyle/>
          <a:p>
            <a:pPr algn="r">
              <a:defRPr sz="900" b="1">
                <a:solidFill>
                  <a:srgbClr val="A8B8C8"/>
                </a:solidFill>
              </a:defRPr>
            </a:pPr>
            <a:r>
              <a:rPr sz="900" b="1">
                <a:solidFill>
                  <a:srgbClr val="A8B8C8"/>
                </a:solidFill>
              </a:rPr>
              <a:t>06</a:t>
            </a:r>
          </a:p>
        </p:txBody>
      </p:sp>
      <p:sp>
        <p:nvSpPr>
          <p:cNvPr id="5" name="Rectangle 4">
            <a:extLst>
              <a:ext uri="{FF2B5EF4-FFF2-40B4-BE49-F238E27FC236}">
                <a16:creationId xmlns:a16="http://schemas.microsoft.com/office/drawing/2014/main" id="{391DEFD3-C029-4A44-A67D-05EB937A61BD}"/>
              </a:ext>
            </a:extLst>
          </p:cNvPr>
          <p:cNvSpPr>
            <a:spLocks noGrp="1"/>
          </p:cNvSpPr>
          <p:nvPr/>
        </p:nvSpPr>
        <p:spPr>
          <a:xfrm>
            <a:off x="1285875" y="1809750"/>
            <a:ext cx="9620250" cy="762000"/>
          </a:xfrm>
          <a:prstGeom prst="rect">
            <a:avLst/>
          </a:prstGeom>
          <a:noFill/>
          <a:ln w="0">
            <a:noFill/>
            <a:prstDash val="solid"/>
          </a:ln>
        </p:spPr>
        <p:txBody>
          <a:bodyPr anchor="ctr"/>
          <a:lstStyle/>
          <a:p>
            <a:pPr algn="ctr">
              <a:defRPr sz="3000" b="1">
                <a:solidFill>
                  <a:srgbClr val="32D3C7"/>
                </a:solidFill>
              </a:defRPr>
            </a:pPr>
            <a:r>
              <a:rPr sz="3000" b="1">
                <a:solidFill>
                  <a:srgbClr val="32D3C7"/>
                </a:solidFill>
              </a:rPr>
              <a:t>r̂ᵤᵢ = μ + bᵤ + bᵢ + pᵤᵀqᵢ</a:t>
            </a:r>
          </a:p>
        </p:txBody>
      </p:sp>
      <p:sp>
        <p:nvSpPr>
          <p:cNvPr id="6" name="Rectangle: Rounded Corners 5">
            <a:extLst>
              <a:ext uri="{FF2B5EF4-FFF2-40B4-BE49-F238E27FC236}">
                <a16:creationId xmlns:a16="http://schemas.microsoft.com/office/drawing/2014/main" id="{2402DA24-662E-461A-9842-0FEED43F8A1F}"/>
              </a:ext>
            </a:extLst>
          </p:cNvPr>
          <p:cNvSpPr>
            <a:spLocks noGrp="1"/>
          </p:cNvSpPr>
          <p:nvPr/>
        </p:nvSpPr>
        <p:spPr>
          <a:xfrm>
            <a:off x="857250" y="3143250"/>
            <a:ext cx="2095500" cy="1143000"/>
          </a:xfrm>
          <a:prstGeom prst="roundRect">
            <a:avLst>
              <a:gd name="adj" fmla="val 10000"/>
            </a:avLst>
          </a:prstGeom>
          <a:solidFill>
            <a:srgbClr val="102A43"/>
          </a:solidFill>
          <a:ln w="0">
            <a:noFill/>
            <a:prstDash val="solid"/>
          </a:ln>
        </p:spPr>
        <p:txBody>
          <a:bodyPr/>
          <a:lstStyle/>
          <a:p>
            <a:endParaRPr lang="en-US"/>
          </a:p>
        </p:txBody>
      </p:sp>
      <p:sp>
        <p:nvSpPr>
          <p:cNvPr id="7" name="Rectangle 6">
            <a:extLst>
              <a:ext uri="{FF2B5EF4-FFF2-40B4-BE49-F238E27FC236}">
                <a16:creationId xmlns:a16="http://schemas.microsoft.com/office/drawing/2014/main" id="{1B02A720-09C0-49F3-8636-A47ACF08FB58}"/>
              </a:ext>
            </a:extLst>
          </p:cNvPr>
          <p:cNvSpPr>
            <a:spLocks noGrp="1"/>
          </p:cNvSpPr>
          <p:nvPr/>
        </p:nvSpPr>
        <p:spPr>
          <a:xfrm>
            <a:off x="857250" y="3238500"/>
            <a:ext cx="2095500" cy="428625"/>
          </a:xfrm>
          <a:prstGeom prst="rect">
            <a:avLst/>
          </a:prstGeom>
          <a:noFill/>
          <a:ln w="0">
            <a:noFill/>
            <a:prstDash val="solid"/>
          </a:ln>
        </p:spPr>
        <p:txBody>
          <a:bodyPr anchor="ctr"/>
          <a:lstStyle/>
          <a:p>
            <a:pPr algn="ctr">
              <a:defRPr sz="2250" b="1">
                <a:solidFill>
                  <a:srgbClr val="FFB547"/>
                </a:solidFill>
              </a:defRPr>
            </a:pPr>
            <a:r>
              <a:rPr sz="2250" b="1">
                <a:solidFill>
                  <a:srgbClr val="FFB547"/>
                </a:solidFill>
              </a:rPr>
              <a:t>μ</a:t>
            </a:r>
          </a:p>
        </p:txBody>
      </p:sp>
      <p:sp>
        <p:nvSpPr>
          <p:cNvPr id="8" name="Rectangle 7">
            <a:extLst>
              <a:ext uri="{FF2B5EF4-FFF2-40B4-BE49-F238E27FC236}">
                <a16:creationId xmlns:a16="http://schemas.microsoft.com/office/drawing/2014/main" id="{E04F2CA7-9DBD-4075-826D-61B62D7C20E3}"/>
              </a:ext>
            </a:extLst>
          </p:cNvPr>
          <p:cNvSpPr>
            <a:spLocks noGrp="1"/>
          </p:cNvSpPr>
          <p:nvPr/>
        </p:nvSpPr>
        <p:spPr>
          <a:xfrm>
            <a:off x="857250" y="3714750"/>
            <a:ext cx="2095500" cy="333375"/>
          </a:xfrm>
          <a:prstGeom prst="rect">
            <a:avLst/>
          </a:prstGeom>
          <a:noFill/>
          <a:ln w="0">
            <a:noFill/>
            <a:prstDash val="solid"/>
          </a:ln>
        </p:spPr>
        <p:txBody>
          <a:bodyPr anchor="ctr"/>
          <a:lstStyle/>
          <a:p>
            <a:pPr algn="ctr">
              <a:defRPr sz="1200" b="0">
                <a:solidFill>
                  <a:srgbClr val="A8B8C8"/>
                </a:solidFill>
              </a:defRPr>
            </a:pPr>
            <a:r>
              <a:rPr sz="1200" b="0">
                <a:solidFill>
                  <a:srgbClr val="A8B8C8"/>
                </a:solidFill>
              </a:rPr>
              <a:t>global mean</a:t>
            </a:r>
          </a:p>
        </p:txBody>
      </p:sp>
      <p:sp>
        <p:nvSpPr>
          <p:cNvPr id="9" name="Rectangle: Rounded Corners 8">
            <a:extLst>
              <a:ext uri="{FF2B5EF4-FFF2-40B4-BE49-F238E27FC236}">
                <a16:creationId xmlns:a16="http://schemas.microsoft.com/office/drawing/2014/main" id="{7BE93C11-E88C-4407-AE8F-40A0E2B96418}"/>
              </a:ext>
            </a:extLst>
          </p:cNvPr>
          <p:cNvSpPr>
            <a:spLocks noGrp="1"/>
          </p:cNvSpPr>
          <p:nvPr/>
        </p:nvSpPr>
        <p:spPr>
          <a:xfrm>
            <a:off x="3524250" y="3143250"/>
            <a:ext cx="2095500" cy="1143000"/>
          </a:xfrm>
          <a:prstGeom prst="roundRect">
            <a:avLst>
              <a:gd name="adj" fmla="val 10000"/>
            </a:avLst>
          </a:prstGeom>
          <a:solidFill>
            <a:srgbClr val="102A43"/>
          </a:solidFill>
          <a:ln w="0">
            <a:noFill/>
            <a:prstDash val="solid"/>
          </a:ln>
        </p:spPr>
        <p:txBody>
          <a:bodyPr/>
          <a:lstStyle/>
          <a:p>
            <a:endParaRPr lang="en-US"/>
          </a:p>
        </p:txBody>
      </p:sp>
      <p:sp>
        <p:nvSpPr>
          <p:cNvPr id="10" name="Rectangle 9">
            <a:extLst>
              <a:ext uri="{FF2B5EF4-FFF2-40B4-BE49-F238E27FC236}">
                <a16:creationId xmlns:a16="http://schemas.microsoft.com/office/drawing/2014/main" id="{6A81CF44-7858-4E23-9372-63F306C6E67D}"/>
              </a:ext>
            </a:extLst>
          </p:cNvPr>
          <p:cNvSpPr>
            <a:spLocks noGrp="1"/>
          </p:cNvSpPr>
          <p:nvPr/>
        </p:nvSpPr>
        <p:spPr>
          <a:xfrm>
            <a:off x="3524250" y="3238500"/>
            <a:ext cx="2095500" cy="428625"/>
          </a:xfrm>
          <a:prstGeom prst="rect">
            <a:avLst/>
          </a:prstGeom>
          <a:noFill/>
          <a:ln w="0">
            <a:noFill/>
            <a:prstDash val="solid"/>
          </a:ln>
        </p:spPr>
        <p:txBody>
          <a:bodyPr anchor="ctr"/>
          <a:lstStyle/>
          <a:p>
            <a:pPr algn="ctr">
              <a:defRPr sz="2250" b="1">
                <a:solidFill>
                  <a:srgbClr val="FFB547"/>
                </a:solidFill>
              </a:defRPr>
            </a:pPr>
            <a:r>
              <a:rPr sz="2250" b="1">
                <a:solidFill>
                  <a:srgbClr val="FFB547"/>
                </a:solidFill>
              </a:rPr>
              <a:t>bᵤ</a:t>
            </a:r>
          </a:p>
        </p:txBody>
      </p:sp>
      <p:sp>
        <p:nvSpPr>
          <p:cNvPr id="11" name="Rectangle 10">
            <a:extLst>
              <a:ext uri="{FF2B5EF4-FFF2-40B4-BE49-F238E27FC236}">
                <a16:creationId xmlns:a16="http://schemas.microsoft.com/office/drawing/2014/main" id="{7156977C-D87C-46D8-93E6-ACE19273B0FE}"/>
              </a:ext>
            </a:extLst>
          </p:cNvPr>
          <p:cNvSpPr>
            <a:spLocks noGrp="1"/>
          </p:cNvSpPr>
          <p:nvPr/>
        </p:nvSpPr>
        <p:spPr>
          <a:xfrm>
            <a:off x="3524250" y="3714750"/>
            <a:ext cx="2095500" cy="333375"/>
          </a:xfrm>
          <a:prstGeom prst="rect">
            <a:avLst/>
          </a:prstGeom>
          <a:noFill/>
          <a:ln w="0">
            <a:noFill/>
            <a:prstDash val="solid"/>
          </a:ln>
        </p:spPr>
        <p:txBody>
          <a:bodyPr anchor="ctr"/>
          <a:lstStyle/>
          <a:p>
            <a:pPr algn="ctr">
              <a:defRPr sz="1200" b="0">
                <a:solidFill>
                  <a:srgbClr val="A8B8C8"/>
                </a:solidFill>
              </a:defRPr>
            </a:pPr>
            <a:r>
              <a:rPr sz="1200" b="0">
                <a:solidFill>
                  <a:srgbClr val="A8B8C8"/>
                </a:solidFill>
              </a:rPr>
              <a:t>user tendency</a:t>
            </a:r>
          </a:p>
        </p:txBody>
      </p:sp>
      <p:sp>
        <p:nvSpPr>
          <p:cNvPr id="12" name="Rectangle: Rounded Corners 11">
            <a:extLst>
              <a:ext uri="{FF2B5EF4-FFF2-40B4-BE49-F238E27FC236}">
                <a16:creationId xmlns:a16="http://schemas.microsoft.com/office/drawing/2014/main" id="{EFEB78C4-D8A6-4481-A0CA-ED979FA3AF81}"/>
              </a:ext>
            </a:extLst>
          </p:cNvPr>
          <p:cNvSpPr>
            <a:spLocks noGrp="1"/>
          </p:cNvSpPr>
          <p:nvPr/>
        </p:nvSpPr>
        <p:spPr>
          <a:xfrm>
            <a:off x="6191250" y="3143250"/>
            <a:ext cx="2095500" cy="1143000"/>
          </a:xfrm>
          <a:prstGeom prst="roundRect">
            <a:avLst>
              <a:gd name="adj" fmla="val 10000"/>
            </a:avLst>
          </a:prstGeom>
          <a:solidFill>
            <a:srgbClr val="102A43"/>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66116370-7411-4089-A124-AEB6FD46F9BE}"/>
              </a:ext>
            </a:extLst>
          </p:cNvPr>
          <p:cNvSpPr>
            <a:spLocks noGrp="1"/>
          </p:cNvSpPr>
          <p:nvPr/>
        </p:nvSpPr>
        <p:spPr>
          <a:xfrm>
            <a:off x="6191250" y="3238500"/>
            <a:ext cx="2095500" cy="428625"/>
          </a:xfrm>
          <a:prstGeom prst="rect">
            <a:avLst/>
          </a:prstGeom>
          <a:noFill/>
          <a:ln w="0">
            <a:noFill/>
            <a:prstDash val="solid"/>
          </a:ln>
        </p:spPr>
        <p:txBody>
          <a:bodyPr anchor="ctr"/>
          <a:lstStyle/>
          <a:p>
            <a:pPr algn="ctr">
              <a:defRPr sz="2250" b="1">
                <a:solidFill>
                  <a:srgbClr val="FFB547"/>
                </a:solidFill>
              </a:defRPr>
            </a:pPr>
            <a:r>
              <a:rPr sz="2250" b="1">
                <a:solidFill>
                  <a:srgbClr val="FFB547"/>
                </a:solidFill>
              </a:rPr>
              <a:t>bᵢ</a:t>
            </a:r>
          </a:p>
        </p:txBody>
      </p:sp>
      <p:sp>
        <p:nvSpPr>
          <p:cNvPr id="14" name="Rectangle 13">
            <a:extLst>
              <a:ext uri="{FF2B5EF4-FFF2-40B4-BE49-F238E27FC236}">
                <a16:creationId xmlns:a16="http://schemas.microsoft.com/office/drawing/2014/main" id="{59976DA6-5A20-4CA4-BF13-B2CB0AE25F69}"/>
              </a:ext>
            </a:extLst>
          </p:cNvPr>
          <p:cNvSpPr>
            <a:spLocks noGrp="1"/>
          </p:cNvSpPr>
          <p:nvPr/>
        </p:nvSpPr>
        <p:spPr>
          <a:xfrm>
            <a:off x="6191250" y="3714750"/>
            <a:ext cx="2095500" cy="333375"/>
          </a:xfrm>
          <a:prstGeom prst="rect">
            <a:avLst/>
          </a:prstGeom>
          <a:noFill/>
          <a:ln w="0">
            <a:noFill/>
            <a:prstDash val="solid"/>
          </a:ln>
        </p:spPr>
        <p:txBody>
          <a:bodyPr anchor="ctr"/>
          <a:lstStyle/>
          <a:p>
            <a:pPr algn="ctr">
              <a:defRPr sz="1200" b="0">
                <a:solidFill>
                  <a:srgbClr val="A8B8C8"/>
                </a:solidFill>
              </a:defRPr>
            </a:pPr>
            <a:r>
              <a:rPr sz="1200" b="0">
                <a:solidFill>
                  <a:srgbClr val="A8B8C8"/>
                </a:solidFill>
              </a:rPr>
              <a:t>movie tendency</a:t>
            </a:r>
          </a:p>
        </p:txBody>
      </p:sp>
      <p:sp>
        <p:nvSpPr>
          <p:cNvPr id="15" name="Rectangle: Rounded Corners 14">
            <a:extLst>
              <a:ext uri="{FF2B5EF4-FFF2-40B4-BE49-F238E27FC236}">
                <a16:creationId xmlns:a16="http://schemas.microsoft.com/office/drawing/2014/main" id="{D49D19AC-35D1-4875-A380-3F2B8841E65E}"/>
              </a:ext>
            </a:extLst>
          </p:cNvPr>
          <p:cNvSpPr>
            <a:spLocks noGrp="1"/>
          </p:cNvSpPr>
          <p:nvPr/>
        </p:nvSpPr>
        <p:spPr>
          <a:xfrm>
            <a:off x="8858250" y="3143250"/>
            <a:ext cx="2095500" cy="1143000"/>
          </a:xfrm>
          <a:prstGeom prst="roundRect">
            <a:avLst>
              <a:gd name="adj" fmla="val 10000"/>
            </a:avLst>
          </a:prstGeom>
          <a:solidFill>
            <a:srgbClr val="102A43"/>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EB31FA10-C55B-41D9-A8B8-72A672A59E25}"/>
              </a:ext>
            </a:extLst>
          </p:cNvPr>
          <p:cNvSpPr>
            <a:spLocks noGrp="1"/>
          </p:cNvSpPr>
          <p:nvPr/>
        </p:nvSpPr>
        <p:spPr>
          <a:xfrm>
            <a:off x="8858250" y="3238500"/>
            <a:ext cx="2095500" cy="428625"/>
          </a:xfrm>
          <a:prstGeom prst="rect">
            <a:avLst/>
          </a:prstGeom>
          <a:noFill/>
          <a:ln w="0">
            <a:noFill/>
            <a:prstDash val="solid"/>
          </a:ln>
        </p:spPr>
        <p:txBody>
          <a:bodyPr anchor="ctr"/>
          <a:lstStyle/>
          <a:p>
            <a:pPr algn="ctr">
              <a:defRPr sz="2250" b="1">
                <a:solidFill>
                  <a:srgbClr val="FFB547"/>
                </a:solidFill>
              </a:defRPr>
            </a:pPr>
            <a:r>
              <a:rPr sz="2250" b="1">
                <a:solidFill>
                  <a:srgbClr val="FFB547"/>
                </a:solidFill>
              </a:rPr>
              <a:t>pᵤᵀqᵢ</a:t>
            </a:r>
          </a:p>
        </p:txBody>
      </p:sp>
      <p:sp>
        <p:nvSpPr>
          <p:cNvPr id="17" name="Rectangle 16">
            <a:extLst>
              <a:ext uri="{FF2B5EF4-FFF2-40B4-BE49-F238E27FC236}">
                <a16:creationId xmlns:a16="http://schemas.microsoft.com/office/drawing/2014/main" id="{6459E859-C475-400A-BABE-0D9FF58AFDBB}"/>
              </a:ext>
            </a:extLst>
          </p:cNvPr>
          <p:cNvSpPr>
            <a:spLocks noGrp="1"/>
          </p:cNvSpPr>
          <p:nvPr/>
        </p:nvSpPr>
        <p:spPr>
          <a:xfrm>
            <a:off x="8858250" y="3714750"/>
            <a:ext cx="2095500" cy="333375"/>
          </a:xfrm>
          <a:prstGeom prst="rect">
            <a:avLst/>
          </a:prstGeom>
          <a:noFill/>
          <a:ln w="0">
            <a:noFill/>
            <a:prstDash val="solid"/>
          </a:ln>
        </p:spPr>
        <p:txBody>
          <a:bodyPr anchor="ctr"/>
          <a:lstStyle/>
          <a:p>
            <a:pPr algn="ctr">
              <a:defRPr sz="1200" b="0">
                <a:solidFill>
                  <a:srgbClr val="A8B8C8"/>
                </a:solidFill>
              </a:defRPr>
            </a:pPr>
            <a:r>
              <a:rPr sz="1200" b="0">
                <a:solidFill>
                  <a:srgbClr val="A8B8C8"/>
                </a:solidFill>
              </a:rPr>
              <a:t>latent interaction</a:t>
            </a:r>
          </a:p>
        </p:txBody>
      </p:sp>
      <p:sp>
        <p:nvSpPr>
          <p:cNvPr id="18" name="Rectangle 17">
            <a:extLst>
              <a:ext uri="{FF2B5EF4-FFF2-40B4-BE49-F238E27FC236}">
                <a16:creationId xmlns:a16="http://schemas.microsoft.com/office/drawing/2014/main" id="{D7649D1E-04AC-41AC-9987-41BB31F8E13A}"/>
              </a:ext>
            </a:extLst>
          </p:cNvPr>
          <p:cNvSpPr>
            <a:spLocks noGrp="1"/>
          </p:cNvSpPr>
          <p:nvPr/>
        </p:nvSpPr>
        <p:spPr>
          <a:xfrm>
            <a:off x="857250" y="4857750"/>
            <a:ext cx="10096500" cy="381000"/>
          </a:xfrm>
          <a:prstGeom prst="rect">
            <a:avLst/>
          </a:prstGeom>
          <a:noFill/>
          <a:ln w="0">
            <a:noFill/>
            <a:prstDash val="solid"/>
          </a:ln>
        </p:spPr>
        <p:txBody>
          <a:bodyPr anchor="ctr"/>
          <a:lstStyle/>
          <a:p>
            <a:pPr algn="ctr">
              <a:defRPr sz="1500" b="1">
                <a:solidFill>
                  <a:srgbClr val="F8FBFF"/>
                </a:solidFill>
              </a:defRPr>
            </a:pPr>
            <a:r>
              <a:rPr sz="1500" b="1">
                <a:solidFill>
                  <a:srgbClr val="F8FBFF"/>
                </a:solidFill>
              </a:rPr>
              <a:t>20 factors • SGD • L2 regularisation • early stopping • clipped to 1–5</a:t>
            </a:r>
          </a:p>
        </p:txBody>
      </p:sp>
      <p:sp>
        <p:nvSpPr>
          <p:cNvPr id="19" name="Rectangle 18">
            <a:extLst>
              <a:ext uri="{FF2B5EF4-FFF2-40B4-BE49-F238E27FC236}">
                <a16:creationId xmlns:a16="http://schemas.microsoft.com/office/drawing/2014/main" id="{06586892-FBA6-46A8-BCF2-9F6F5094BAD1}"/>
              </a:ext>
            </a:extLst>
          </p:cNvPr>
          <p:cNvSpPr>
            <a:spLocks noGrp="1"/>
          </p:cNvSpPr>
          <p:nvPr/>
        </p:nvSpPr>
        <p:spPr>
          <a:xfrm>
            <a:off x="609600" y="6286500"/>
            <a:ext cx="9810750" cy="171450"/>
          </a:xfrm>
          <a:prstGeom prst="rect">
            <a:avLst/>
          </a:prstGeom>
          <a:noFill/>
          <a:ln w="0">
            <a:noFill/>
            <a:prstDash val="solid"/>
          </a:ln>
        </p:spPr>
        <p:txBody>
          <a:bodyPr anchor="ctr"/>
          <a:lstStyle/>
          <a:p>
            <a:pPr algn="l">
              <a:defRPr sz="750" b="0">
                <a:solidFill>
                  <a:srgbClr val="A8B8C8"/>
                </a:solidFill>
              </a:defRPr>
            </a:pPr>
            <a:r>
              <a:rPr sz="750" b="0">
                <a:solidFill>
                  <a:srgbClr val="A8B8C8"/>
                </a:solidFill>
              </a:rPr>
              <a:t>Model basis: Koren, Bell and Volinsky (2009).</a:t>
            </a:r>
          </a:p>
        </p:txBody>
      </p:sp>
    </p:spTree>
    <p:extLst>
      <p:ext uri="{BB962C8B-B14F-4D97-AF65-F5344CB8AC3E}">
        <p14:creationId xmlns:p14="http://schemas.microsoft.com/office/powerpoint/2010/main" val="116256305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1A4EBD9-519F-4EC4-A4B0-CAB7F2AFDFAA}"/>
              </a:ext>
            </a:extLst>
          </p:cNvPr>
          <p:cNvSpPr>
            <a:spLocks noGrp="1"/>
          </p:cNvSpPr>
          <p:nvPr/>
        </p:nvSpPr>
        <p:spPr>
          <a:xfrm>
            <a:off x="609600" y="323850"/>
            <a:ext cx="4762500" cy="228600"/>
          </a:xfrm>
          <a:prstGeom prst="rect">
            <a:avLst/>
          </a:prstGeom>
          <a:noFill/>
          <a:ln w="0">
            <a:noFill/>
            <a:prstDash val="solid"/>
          </a:ln>
        </p:spPr>
        <p:txBody>
          <a:bodyPr anchor="ctr"/>
          <a:lstStyle/>
          <a:p>
            <a:pPr algn="l">
              <a:defRPr sz="975" b="1">
                <a:solidFill>
                  <a:srgbClr val="32D3C7"/>
                </a:solidFill>
              </a:defRPr>
            </a:pPr>
            <a:r>
              <a:rPr sz="975" b="1">
                <a:solidFill>
                  <a:srgbClr val="32D3C7"/>
                </a:solidFill>
              </a:rPr>
              <a:t>DEEP-LEARNING MODEL</a:t>
            </a:r>
          </a:p>
        </p:txBody>
      </p:sp>
      <p:sp>
        <p:nvSpPr>
          <p:cNvPr id="2" name="Rectangle 1">
            <a:extLst>
              <a:ext uri="{FF2B5EF4-FFF2-40B4-BE49-F238E27FC236}">
                <a16:creationId xmlns:a16="http://schemas.microsoft.com/office/drawing/2014/main" id="{49CB5514-3332-4B85-8989-B0B5BB268C8F}"/>
              </a:ext>
            </a:extLst>
          </p:cNvPr>
          <p:cNvSpPr>
            <a:spLocks noGrp="1"/>
          </p:cNvSpPr>
          <p:nvPr/>
        </p:nvSpPr>
        <p:spPr>
          <a:xfrm>
            <a:off x="609600" y="638175"/>
            <a:ext cx="10668000" cy="552450"/>
          </a:xfrm>
          <a:prstGeom prst="rect">
            <a:avLst/>
          </a:prstGeom>
          <a:noFill/>
          <a:ln w="0">
            <a:noFill/>
            <a:prstDash val="solid"/>
          </a:ln>
        </p:spPr>
        <p:txBody>
          <a:bodyPr anchor="ctr"/>
          <a:lstStyle/>
          <a:p>
            <a:pPr algn="l">
              <a:defRPr sz="2700" b="1">
                <a:solidFill>
                  <a:srgbClr val="F8FBFF"/>
                </a:solidFill>
              </a:defRPr>
            </a:pPr>
            <a:r>
              <a:rPr sz="2700" b="1">
                <a:solidFill>
                  <a:srgbClr val="F8FBFF"/>
                </a:solidFill>
              </a:rPr>
              <a:t>NCF learns nonlinear interactions—but adds operational burden</a:t>
            </a:r>
          </a:p>
        </p:txBody>
      </p:sp>
      <p:sp>
        <p:nvSpPr>
          <p:cNvPr id="3" name="Straight Connector 2">
            <a:extLst>
              <a:ext uri="{FF2B5EF4-FFF2-40B4-BE49-F238E27FC236}">
                <a16:creationId xmlns:a16="http://schemas.microsoft.com/office/drawing/2014/main" id="{EFD72D47-5800-448B-8ABA-AE07F68DA1E0}"/>
              </a:ext>
            </a:extLst>
          </p:cNvPr>
          <p:cNvSpPr>
            <a:spLocks noGrp="1"/>
          </p:cNvSpPr>
          <p:nvPr/>
        </p:nvSpPr>
        <p:spPr>
          <a:xfrm>
            <a:off x="609600" y="1304925"/>
            <a:ext cx="10972800" cy="0"/>
          </a:xfrm>
          <a:prstGeom prst="line">
            <a:avLst/>
          </a:prstGeom>
          <a:ln w="9525">
            <a:solidFill>
              <a:srgbClr val="28445F"/>
            </a:solidFill>
            <a:prstDash val="solid"/>
          </a:ln>
        </p:spPr>
        <p:txBody>
          <a:bodyPr/>
          <a:lstStyle/>
          <a:p>
            <a:endParaRPr lang="en-US"/>
          </a:p>
        </p:txBody>
      </p:sp>
      <p:sp>
        <p:nvSpPr>
          <p:cNvPr id="4" name="Rectangle 3">
            <a:extLst>
              <a:ext uri="{FF2B5EF4-FFF2-40B4-BE49-F238E27FC236}">
                <a16:creationId xmlns:a16="http://schemas.microsoft.com/office/drawing/2014/main" id="{7037C5AB-A94E-4C33-8C4D-883DD8E15C9C}"/>
              </a:ext>
            </a:extLst>
          </p:cNvPr>
          <p:cNvSpPr>
            <a:spLocks noGrp="1"/>
          </p:cNvSpPr>
          <p:nvPr/>
        </p:nvSpPr>
        <p:spPr>
          <a:xfrm>
            <a:off x="11239500" y="6238875"/>
            <a:ext cx="428625" cy="228600"/>
          </a:xfrm>
          <a:prstGeom prst="rect">
            <a:avLst/>
          </a:prstGeom>
          <a:noFill/>
          <a:ln w="0">
            <a:noFill/>
            <a:prstDash val="solid"/>
          </a:ln>
        </p:spPr>
        <p:txBody>
          <a:bodyPr anchor="ctr"/>
          <a:lstStyle/>
          <a:p>
            <a:pPr algn="r">
              <a:defRPr sz="900" b="1">
                <a:solidFill>
                  <a:srgbClr val="A8B8C8"/>
                </a:solidFill>
              </a:defRPr>
            </a:pPr>
            <a:r>
              <a:rPr sz="900" b="1">
                <a:solidFill>
                  <a:srgbClr val="A8B8C8"/>
                </a:solidFill>
              </a:rPr>
              <a:t>07</a:t>
            </a:r>
          </a:p>
        </p:txBody>
      </p:sp>
      <p:sp>
        <p:nvSpPr>
          <p:cNvPr id="5" name="Straight Connector 4">
            <a:extLst>
              <a:ext uri="{FF2B5EF4-FFF2-40B4-BE49-F238E27FC236}">
                <a16:creationId xmlns:a16="http://schemas.microsoft.com/office/drawing/2014/main" id="{C6B66654-C071-4D8E-91BE-643F3EFB1C4D}"/>
              </a:ext>
            </a:extLst>
          </p:cNvPr>
          <p:cNvSpPr>
            <a:spLocks noGrp="1"/>
          </p:cNvSpPr>
          <p:nvPr/>
        </p:nvSpPr>
        <p:spPr>
          <a:xfrm>
            <a:off x="2190750" y="2857500"/>
            <a:ext cx="523875" cy="0"/>
          </a:xfrm>
          <a:prstGeom prst="line">
            <a:avLst/>
          </a:prstGeom>
          <a:ln w="28575">
            <a:solidFill>
              <a:srgbClr val="FFB547"/>
            </a:solidFill>
            <a:prstDash val="solid"/>
          </a:ln>
        </p:spPr>
        <p:txBody>
          <a:bodyPr/>
          <a:lstStyle/>
          <a:p>
            <a:endParaRPr lang="en-US"/>
          </a:p>
        </p:txBody>
      </p:sp>
      <p:sp>
        <p:nvSpPr>
          <p:cNvPr id="6" name="Rectangle: Rounded Corners 5">
            <a:extLst>
              <a:ext uri="{FF2B5EF4-FFF2-40B4-BE49-F238E27FC236}">
                <a16:creationId xmlns:a16="http://schemas.microsoft.com/office/drawing/2014/main" id="{34196264-87DC-416A-BE3A-91EA7A881B75}"/>
              </a:ext>
            </a:extLst>
          </p:cNvPr>
          <p:cNvSpPr>
            <a:spLocks noGrp="1"/>
          </p:cNvSpPr>
          <p:nvPr/>
        </p:nvSpPr>
        <p:spPr>
          <a:xfrm>
            <a:off x="666750" y="2333625"/>
            <a:ext cx="1524000" cy="1047750"/>
          </a:xfrm>
          <a:prstGeom prst="roundRect">
            <a:avLst>
              <a:gd name="adj" fmla="val 10909"/>
            </a:avLst>
          </a:prstGeom>
          <a:solidFill>
            <a:srgbClr val="102A43"/>
          </a:solidFill>
          <a:ln w="0">
            <a:noFill/>
            <a:prstDash val="solid"/>
          </a:ln>
        </p:spPr>
        <p:txBody>
          <a:bodyPr/>
          <a:lstStyle/>
          <a:p>
            <a:endParaRPr lang="en-US"/>
          </a:p>
        </p:txBody>
      </p:sp>
      <p:sp>
        <p:nvSpPr>
          <p:cNvPr id="7" name="Rectangle 6">
            <a:extLst>
              <a:ext uri="{FF2B5EF4-FFF2-40B4-BE49-F238E27FC236}">
                <a16:creationId xmlns:a16="http://schemas.microsoft.com/office/drawing/2014/main" id="{8E0FA746-7D9A-4BEE-A779-276F3807129F}"/>
              </a:ext>
            </a:extLst>
          </p:cNvPr>
          <p:cNvSpPr>
            <a:spLocks noGrp="1"/>
          </p:cNvSpPr>
          <p:nvPr/>
        </p:nvSpPr>
        <p:spPr>
          <a:xfrm>
            <a:off x="762000" y="2333625"/>
            <a:ext cx="1333500" cy="1047750"/>
          </a:xfrm>
          <a:prstGeom prst="rect">
            <a:avLst/>
          </a:prstGeom>
          <a:noFill/>
          <a:ln w="0">
            <a:noFill/>
            <a:prstDash val="solid"/>
          </a:ln>
        </p:spPr>
        <p:txBody>
          <a:bodyPr anchor="ctr"/>
          <a:lstStyle/>
          <a:p>
            <a:pPr algn="ctr">
              <a:defRPr sz="1425" b="1">
                <a:solidFill>
                  <a:srgbClr val="F8FBFF"/>
                </a:solidFill>
              </a:defRPr>
            </a:pPr>
            <a:r>
              <a:rPr sz="1425" b="1">
                <a:solidFill>
                  <a:srgbClr val="F8FBFF"/>
                </a:solidFill>
              </a:rPr>
              <a:t>User ID</a:t>
            </a:r>
          </a:p>
        </p:txBody>
      </p:sp>
      <p:sp>
        <p:nvSpPr>
          <p:cNvPr id="8" name="Straight Connector 7">
            <a:extLst>
              <a:ext uri="{FF2B5EF4-FFF2-40B4-BE49-F238E27FC236}">
                <a16:creationId xmlns:a16="http://schemas.microsoft.com/office/drawing/2014/main" id="{3974C110-E3B3-4654-BFE4-C05BA5DAB61C}"/>
              </a:ext>
            </a:extLst>
          </p:cNvPr>
          <p:cNvSpPr>
            <a:spLocks noGrp="1"/>
          </p:cNvSpPr>
          <p:nvPr/>
        </p:nvSpPr>
        <p:spPr>
          <a:xfrm>
            <a:off x="4238625" y="2857500"/>
            <a:ext cx="523875" cy="0"/>
          </a:xfrm>
          <a:prstGeom prst="line">
            <a:avLst/>
          </a:prstGeom>
          <a:ln w="28575">
            <a:solidFill>
              <a:srgbClr val="FFB547"/>
            </a:solidFill>
            <a:prstDash val="solid"/>
          </a:ln>
        </p:spPr>
        <p:txBody>
          <a:bodyPr/>
          <a:lstStyle/>
          <a:p>
            <a:endParaRPr lang="en-US"/>
          </a:p>
        </p:txBody>
      </p:sp>
      <p:sp>
        <p:nvSpPr>
          <p:cNvPr id="9" name="Rectangle: Rounded Corners 8">
            <a:extLst>
              <a:ext uri="{FF2B5EF4-FFF2-40B4-BE49-F238E27FC236}">
                <a16:creationId xmlns:a16="http://schemas.microsoft.com/office/drawing/2014/main" id="{CFAD180E-00FE-4827-9BE1-EDA4A2A27DA6}"/>
              </a:ext>
            </a:extLst>
          </p:cNvPr>
          <p:cNvSpPr>
            <a:spLocks noGrp="1"/>
          </p:cNvSpPr>
          <p:nvPr/>
        </p:nvSpPr>
        <p:spPr>
          <a:xfrm>
            <a:off x="2714625" y="2333625"/>
            <a:ext cx="1524000" cy="1047750"/>
          </a:xfrm>
          <a:prstGeom prst="roundRect">
            <a:avLst>
              <a:gd name="adj" fmla="val 10909"/>
            </a:avLst>
          </a:prstGeom>
          <a:solidFill>
            <a:srgbClr val="102A43"/>
          </a:solidFill>
          <a:ln w="0">
            <a:noFill/>
            <a:prstDash val="solid"/>
          </a:ln>
        </p:spPr>
        <p:txBody>
          <a:bodyPr/>
          <a:lstStyle/>
          <a:p>
            <a:endParaRPr lang="en-US"/>
          </a:p>
        </p:txBody>
      </p:sp>
      <p:sp>
        <p:nvSpPr>
          <p:cNvPr id="10" name="Rectangle 9">
            <a:extLst>
              <a:ext uri="{FF2B5EF4-FFF2-40B4-BE49-F238E27FC236}">
                <a16:creationId xmlns:a16="http://schemas.microsoft.com/office/drawing/2014/main" id="{56885B2E-A67C-49E5-8574-993EC2982A1D}"/>
              </a:ext>
            </a:extLst>
          </p:cNvPr>
          <p:cNvSpPr>
            <a:spLocks noGrp="1"/>
          </p:cNvSpPr>
          <p:nvPr/>
        </p:nvSpPr>
        <p:spPr>
          <a:xfrm>
            <a:off x="2809875" y="2333625"/>
            <a:ext cx="1333500" cy="1047750"/>
          </a:xfrm>
          <a:prstGeom prst="rect">
            <a:avLst/>
          </a:prstGeom>
          <a:noFill/>
          <a:ln w="0">
            <a:noFill/>
            <a:prstDash val="solid"/>
          </a:ln>
        </p:spPr>
        <p:txBody>
          <a:bodyPr anchor="ctr"/>
          <a:lstStyle/>
          <a:p>
            <a:pPr algn="ctr">
              <a:defRPr sz="1425" b="1">
                <a:solidFill>
                  <a:srgbClr val="F8FBFF"/>
                </a:solidFill>
              </a:defRPr>
            </a:pPr>
            <a:r>
              <a:rPr sz="1425" b="1">
                <a:solidFill>
                  <a:srgbClr val="F8FBFF"/>
                </a:solidFill>
              </a:rPr>
              <a:t>24-D embedding</a:t>
            </a:r>
          </a:p>
        </p:txBody>
      </p:sp>
      <p:sp>
        <p:nvSpPr>
          <p:cNvPr id="11" name="Straight Connector 10">
            <a:extLst>
              <a:ext uri="{FF2B5EF4-FFF2-40B4-BE49-F238E27FC236}">
                <a16:creationId xmlns:a16="http://schemas.microsoft.com/office/drawing/2014/main" id="{EFE35923-CC84-45E0-A20C-1FE01671560D}"/>
              </a:ext>
            </a:extLst>
          </p:cNvPr>
          <p:cNvSpPr>
            <a:spLocks noGrp="1"/>
          </p:cNvSpPr>
          <p:nvPr/>
        </p:nvSpPr>
        <p:spPr>
          <a:xfrm>
            <a:off x="6477000" y="2857500"/>
            <a:ext cx="523875" cy="0"/>
          </a:xfrm>
          <a:prstGeom prst="line">
            <a:avLst/>
          </a:prstGeom>
          <a:ln w="28575">
            <a:solidFill>
              <a:srgbClr val="FFB547"/>
            </a:solidFill>
            <a:prstDash val="solid"/>
          </a:ln>
        </p:spPr>
        <p:txBody>
          <a:bodyPr/>
          <a:lstStyle/>
          <a:p>
            <a:endParaRPr lang="en-US"/>
          </a:p>
        </p:txBody>
      </p:sp>
      <p:sp>
        <p:nvSpPr>
          <p:cNvPr id="12" name="Rectangle: Rounded Corners 11">
            <a:extLst>
              <a:ext uri="{FF2B5EF4-FFF2-40B4-BE49-F238E27FC236}">
                <a16:creationId xmlns:a16="http://schemas.microsoft.com/office/drawing/2014/main" id="{83A2E344-9DC6-4CF8-A3CE-739998FC8861}"/>
              </a:ext>
            </a:extLst>
          </p:cNvPr>
          <p:cNvSpPr>
            <a:spLocks noGrp="1"/>
          </p:cNvSpPr>
          <p:nvPr/>
        </p:nvSpPr>
        <p:spPr>
          <a:xfrm>
            <a:off x="4953000" y="2333625"/>
            <a:ext cx="1524000" cy="1047750"/>
          </a:xfrm>
          <a:prstGeom prst="roundRect">
            <a:avLst>
              <a:gd name="adj" fmla="val 10909"/>
            </a:avLst>
          </a:prstGeom>
          <a:solidFill>
            <a:srgbClr val="32D3C7"/>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13FC50E4-6F0A-457D-A1B9-DA7E5C571BA8}"/>
              </a:ext>
            </a:extLst>
          </p:cNvPr>
          <p:cNvSpPr>
            <a:spLocks noGrp="1"/>
          </p:cNvSpPr>
          <p:nvPr/>
        </p:nvSpPr>
        <p:spPr>
          <a:xfrm>
            <a:off x="5048250" y="2333625"/>
            <a:ext cx="1333500" cy="1047750"/>
          </a:xfrm>
          <a:prstGeom prst="rect">
            <a:avLst/>
          </a:prstGeom>
          <a:noFill/>
          <a:ln w="0">
            <a:noFill/>
            <a:prstDash val="solid"/>
          </a:ln>
        </p:spPr>
        <p:txBody>
          <a:bodyPr anchor="ctr"/>
          <a:lstStyle/>
          <a:p>
            <a:pPr algn="ctr">
              <a:defRPr sz="1425" b="1">
                <a:solidFill>
                  <a:srgbClr val="071525"/>
                </a:solidFill>
              </a:defRPr>
            </a:pPr>
            <a:r>
              <a:rPr sz="1425" b="1">
                <a:solidFill>
                  <a:srgbClr val="071525"/>
                </a:solidFill>
              </a:rPr>
              <a:t>64 → 32 ReLU</a:t>
            </a:r>
          </a:p>
        </p:txBody>
      </p:sp>
      <p:sp>
        <p:nvSpPr>
          <p:cNvPr id="14" name="Straight Connector 13">
            <a:extLst>
              <a:ext uri="{FF2B5EF4-FFF2-40B4-BE49-F238E27FC236}">
                <a16:creationId xmlns:a16="http://schemas.microsoft.com/office/drawing/2014/main" id="{DBB8E847-49B0-415A-86E6-0D9A53FEFA8A}"/>
              </a:ext>
            </a:extLst>
          </p:cNvPr>
          <p:cNvSpPr>
            <a:spLocks noGrp="1"/>
          </p:cNvSpPr>
          <p:nvPr/>
        </p:nvSpPr>
        <p:spPr>
          <a:xfrm>
            <a:off x="8715375" y="2857500"/>
            <a:ext cx="523875" cy="0"/>
          </a:xfrm>
          <a:prstGeom prst="line">
            <a:avLst/>
          </a:prstGeom>
          <a:ln w="28575">
            <a:solidFill>
              <a:srgbClr val="FFB547"/>
            </a:solidFill>
            <a:prstDash val="solid"/>
          </a:ln>
        </p:spPr>
        <p:txBody>
          <a:bodyPr/>
          <a:lstStyle/>
          <a:p>
            <a:endParaRPr lang="en-US"/>
          </a:p>
        </p:txBody>
      </p:sp>
      <p:sp>
        <p:nvSpPr>
          <p:cNvPr id="15" name="Rectangle: Rounded Corners 14">
            <a:extLst>
              <a:ext uri="{FF2B5EF4-FFF2-40B4-BE49-F238E27FC236}">
                <a16:creationId xmlns:a16="http://schemas.microsoft.com/office/drawing/2014/main" id="{6E3CAA4E-4A20-4880-9943-A95D78EF75DD}"/>
              </a:ext>
            </a:extLst>
          </p:cNvPr>
          <p:cNvSpPr>
            <a:spLocks noGrp="1"/>
          </p:cNvSpPr>
          <p:nvPr/>
        </p:nvSpPr>
        <p:spPr>
          <a:xfrm>
            <a:off x="7191375" y="2333625"/>
            <a:ext cx="1524000" cy="1047750"/>
          </a:xfrm>
          <a:prstGeom prst="roundRect">
            <a:avLst>
              <a:gd name="adj" fmla="val 10909"/>
            </a:avLst>
          </a:prstGeom>
          <a:solidFill>
            <a:srgbClr val="102A43"/>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FECB8DA8-9B61-4E4A-8AF1-B8872B62996A}"/>
              </a:ext>
            </a:extLst>
          </p:cNvPr>
          <p:cNvSpPr>
            <a:spLocks noGrp="1"/>
          </p:cNvSpPr>
          <p:nvPr/>
        </p:nvSpPr>
        <p:spPr>
          <a:xfrm>
            <a:off x="7286625" y="2333625"/>
            <a:ext cx="1333500" cy="1047750"/>
          </a:xfrm>
          <a:prstGeom prst="rect">
            <a:avLst/>
          </a:prstGeom>
          <a:noFill/>
          <a:ln w="0">
            <a:noFill/>
            <a:prstDash val="solid"/>
          </a:ln>
        </p:spPr>
        <p:txBody>
          <a:bodyPr anchor="ctr"/>
          <a:lstStyle/>
          <a:p>
            <a:pPr algn="ctr">
              <a:defRPr sz="1425" b="1">
                <a:solidFill>
                  <a:srgbClr val="F8FBFF"/>
                </a:solidFill>
              </a:defRPr>
            </a:pPr>
            <a:r>
              <a:rPr sz="1425" b="1">
                <a:solidFill>
                  <a:srgbClr val="F8FBFF"/>
                </a:solidFill>
              </a:rPr>
              <a:t>Sigmoid</a:t>
            </a:r>
          </a:p>
        </p:txBody>
      </p:sp>
      <p:sp>
        <p:nvSpPr>
          <p:cNvPr id="17" name="Rectangle: Rounded Corners 16">
            <a:extLst>
              <a:ext uri="{FF2B5EF4-FFF2-40B4-BE49-F238E27FC236}">
                <a16:creationId xmlns:a16="http://schemas.microsoft.com/office/drawing/2014/main" id="{BB1E76B0-FC84-432E-A55A-7D554D93F0B5}"/>
              </a:ext>
            </a:extLst>
          </p:cNvPr>
          <p:cNvSpPr>
            <a:spLocks noGrp="1"/>
          </p:cNvSpPr>
          <p:nvPr/>
        </p:nvSpPr>
        <p:spPr>
          <a:xfrm>
            <a:off x="9429750" y="2333625"/>
            <a:ext cx="1524000" cy="1047750"/>
          </a:xfrm>
          <a:prstGeom prst="roundRect">
            <a:avLst>
              <a:gd name="adj" fmla="val 10909"/>
            </a:avLst>
          </a:prstGeom>
          <a:solidFill>
            <a:srgbClr val="102A43"/>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443ABA6F-EAA7-4F5C-BFA8-4938BCE84CDC}"/>
              </a:ext>
            </a:extLst>
          </p:cNvPr>
          <p:cNvSpPr>
            <a:spLocks noGrp="1"/>
          </p:cNvSpPr>
          <p:nvPr/>
        </p:nvSpPr>
        <p:spPr>
          <a:xfrm>
            <a:off x="9525000" y="2333625"/>
            <a:ext cx="1333500" cy="1047750"/>
          </a:xfrm>
          <a:prstGeom prst="rect">
            <a:avLst/>
          </a:prstGeom>
          <a:noFill/>
          <a:ln w="0">
            <a:noFill/>
            <a:prstDash val="solid"/>
          </a:ln>
        </p:spPr>
        <p:txBody>
          <a:bodyPr anchor="ctr"/>
          <a:lstStyle/>
          <a:p>
            <a:pPr algn="ctr">
              <a:defRPr sz="1425" b="1">
                <a:solidFill>
                  <a:srgbClr val="F8FBFF"/>
                </a:solidFill>
              </a:defRPr>
            </a:pPr>
            <a:r>
              <a:rPr sz="1425" b="1">
                <a:solidFill>
                  <a:srgbClr val="F8FBFF"/>
                </a:solidFill>
              </a:rPr>
              <a:t>Rating 1–5</a:t>
            </a:r>
          </a:p>
        </p:txBody>
      </p:sp>
      <p:sp>
        <p:nvSpPr>
          <p:cNvPr id="19" name="Rectangle 18">
            <a:extLst>
              <a:ext uri="{FF2B5EF4-FFF2-40B4-BE49-F238E27FC236}">
                <a16:creationId xmlns:a16="http://schemas.microsoft.com/office/drawing/2014/main" id="{D14511B3-ED8D-4787-B9C0-98519C3836CF}"/>
              </a:ext>
            </a:extLst>
          </p:cNvPr>
          <p:cNvSpPr>
            <a:spLocks noGrp="1"/>
          </p:cNvSpPr>
          <p:nvPr/>
        </p:nvSpPr>
        <p:spPr>
          <a:xfrm>
            <a:off x="2714625" y="3762375"/>
            <a:ext cx="6762750" cy="361950"/>
          </a:xfrm>
          <a:prstGeom prst="rect">
            <a:avLst/>
          </a:prstGeom>
          <a:noFill/>
          <a:ln w="0">
            <a:noFill/>
            <a:prstDash val="solid"/>
          </a:ln>
        </p:spPr>
        <p:txBody>
          <a:bodyPr anchor="ctr"/>
          <a:lstStyle/>
          <a:p>
            <a:pPr algn="ctr">
              <a:defRPr sz="1425" b="0">
                <a:solidFill>
                  <a:srgbClr val="A8B8C8"/>
                </a:solidFill>
              </a:defRPr>
            </a:pPr>
            <a:r>
              <a:rPr sz="1425" b="0">
                <a:solidFill>
                  <a:srgbClr val="A8B8C8"/>
                </a:solidFill>
              </a:rPr>
              <a:t>Movie ID enters through a separate 24-D embedding before concatenation</a:t>
            </a:r>
          </a:p>
        </p:txBody>
      </p:sp>
      <p:sp>
        <p:nvSpPr>
          <p:cNvPr id="20" name="Rectangle: Rounded Corners 19">
            <a:extLst>
              <a:ext uri="{FF2B5EF4-FFF2-40B4-BE49-F238E27FC236}">
                <a16:creationId xmlns:a16="http://schemas.microsoft.com/office/drawing/2014/main" id="{45F4230F-F896-4437-85A6-E9E2BAF88ABE}"/>
              </a:ext>
            </a:extLst>
          </p:cNvPr>
          <p:cNvSpPr>
            <a:spLocks noGrp="1"/>
          </p:cNvSpPr>
          <p:nvPr/>
        </p:nvSpPr>
        <p:spPr>
          <a:xfrm>
            <a:off x="1762125" y="4619625"/>
            <a:ext cx="8667750" cy="762000"/>
          </a:xfrm>
          <a:prstGeom prst="roundRect">
            <a:avLst>
              <a:gd name="adj" fmla="val 15000"/>
            </a:avLst>
          </a:prstGeom>
          <a:solidFill>
            <a:srgbClr val="0D2237"/>
          </a:solidFill>
          <a:ln w="9525">
            <a:solidFill>
              <a:srgbClr val="28445F"/>
            </a:solidFill>
            <a:prstDash val="solid"/>
          </a:ln>
        </p:spPr>
        <p:txBody>
          <a:bodyPr/>
          <a:lstStyle/>
          <a:p>
            <a:endParaRPr lang="en-US"/>
          </a:p>
        </p:txBody>
      </p:sp>
      <p:sp>
        <p:nvSpPr>
          <p:cNvPr id="21" name="Rectangle 20">
            <a:extLst>
              <a:ext uri="{FF2B5EF4-FFF2-40B4-BE49-F238E27FC236}">
                <a16:creationId xmlns:a16="http://schemas.microsoft.com/office/drawing/2014/main" id="{6DDD1C22-3DEA-4F70-8BEB-3398EBABDC2D}"/>
              </a:ext>
            </a:extLst>
          </p:cNvPr>
          <p:cNvSpPr>
            <a:spLocks noGrp="1"/>
          </p:cNvSpPr>
          <p:nvPr/>
        </p:nvSpPr>
        <p:spPr>
          <a:xfrm>
            <a:off x="2000250" y="4619625"/>
            <a:ext cx="8191500" cy="762000"/>
          </a:xfrm>
          <a:prstGeom prst="rect">
            <a:avLst/>
          </a:prstGeom>
          <a:noFill/>
          <a:ln w="0">
            <a:noFill/>
            <a:prstDash val="solid"/>
          </a:ln>
        </p:spPr>
        <p:txBody>
          <a:bodyPr anchor="ctr"/>
          <a:lstStyle/>
          <a:p>
            <a:pPr algn="ctr">
              <a:defRPr sz="1500" b="1">
                <a:solidFill>
                  <a:srgbClr val="F8FBFF"/>
                </a:solidFill>
              </a:defRPr>
            </a:pPr>
            <a:r>
              <a:rPr sz="1500" b="1">
                <a:solidFill>
                  <a:srgbClr val="F8FBFF"/>
                </a:solidFill>
              </a:rPr>
              <a:t>Adam • dropout 0.15 • weight decay • learning-rate reduction • early stopping</a:t>
            </a:r>
          </a:p>
        </p:txBody>
      </p:sp>
      <p:sp>
        <p:nvSpPr>
          <p:cNvPr id="22" name="Rectangle 21">
            <a:extLst>
              <a:ext uri="{FF2B5EF4-FFF2-40B4-BE49-F238E27FC236}">
                <a16:creationId xmlns:a16="http://schemas.microsoft.com/office/drawing/2014/main" id="{2E373342-E4E8-46B1-8747-5E257ACDB713}"/>
              </a:ext>
            </a:extLst>
          </p:cNvPr>
          <p:cNvSpPr>
            <a:spLocks noGrp="1"/>
          </p:cNvSpPr>
          <p:nvPr/>
        </p:nvSpPr>
        <p:spPr>
          <a:xfrm>
            <a:off x="609600" y="6286500"/>
            <a:ext cx="9810750" cy="171450"/>
          </a:xfrm>
          <a:prstGeom prst="rect">
            <a:avLst/>
          </a:prstGeom>
          <a:noFill/>
          <a:ln w="0">
            <a:noFill/>
            <a:prstDash val="solid"/>
          </a:ln>
        </p:spPr>
        <p:txBody>
          <a:bodyPr anchor="ctr"/>
          <a:lstStyle/>
          <a:p>
            <a:pPr algn="l">
              <a:defRPr sz="750" b="0">
                <a:solidFill>
                  <a:srgbClr val="A8B8C8"/>
                </a:solidFill>
              </a:defRPr>
            </a:pPr>
            <a:r>
              <a:rPr sz="750" b="0">
                <a:solidFill>
                  <a:srgbClr val="A8B8C8"/>
                </a:solidFill>
              </a:rPr>
              <a:t>Architecture adapted from neural collaborative filtering: He et al. (2017).</a:t>
            </a:r>
          </a:p>
        </p:txBody>
      </p:sp>
    </p:spTree>
    <p:extLst>
      <p:ext uri="{BB962C8B-B14F-4D97-AF65-F5344CB8AC3E}">
        <p14:creationId xmlns:p14="http://schemas.microsoft.com/office/powerpoint/2010/main" val="148704128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E88783C-0BE7-4377-B53A-E4D96DE5997B}"/>
              </a:ext>
            </a:extLst>
          </p:cNvPr>
          <p:cNvSpPr>
            <a:spLocks noGrp="1"/>
          </p:cNvSpPr>
          <p:nvPr/>
        </p:nvSpPr>
        <p:spPr>
          <a:xfrm>
            <a:off x="609600" y="323850"/>
            <a:ext cx="4762500" cy="228600"/>
          </a:xfrm>
          <a:prstGeom prst="rect">
            <a:avLst/>
          </a:prstGeom>
          <a:noFill/>
          <a:ln w="0">
            <a:noFill/>
            <a:prstDash val="solid"/>
          </a:ln>
        </p:spPr>
        <p:txBody>
          <a:bodyPr anchor="ctr"/>
          <a:lstStyle/>
          <a:p>
            <a:pPr algn="l">
              <a:defRPr sz="975" b="1">
                <a:solidFill>
                  <a:srgbClr val="32D3C7"/>
                </a:solidFill>
              </a:defRPr>
            </a:pPr>
            <a:r>
              <a:rPr sz="975" b="1">
                <a:solidFill>
                  <a:srgbClr val="32D3C7"/>
                </a:solidFill>
              </a:rPr>
              <a:t>MODEL TRADE-OFFS</a:t>
            </a:r>
          </a:p>
        </p:txBody>
      </p:sp>
      <p:sp>
        <p:nvSpPr>
          <p:cNvPr id="2" name="Rectangle 1">
            <a:extLst>
              <a:ext uri="{FF2B5EF4-FFF2-40B4-BE49-F238E27FC236}">
                <a16:creationId xmlns:a16="http://schemas.microsoft.com/office/drawing/2014/main" id="{8184884F-78F1-45AE-9A91-40608EE4D2BE}"/>
              </a:ext>
            </a:extLst>
          </p:cNvPr>
          <p:cNvSpPr>
            <a:spLocks noGrp="1"/>
          </p:cNvSpPr>
          <p:nvPr/>
        </p:nvSpPr>
        <p:spPr>
          <a:xfrm>
            <a:off x="609600" y="638175"/>
            <a:ext cx="10668000" cy="552450"/>
          </a:xfrm>
          <a:prstGeom prst="rect">
            <a:avLst/>
          </a:prstGeom>
          <a:noFill/>
          <a:ln w="0">
            <a:noFill/>
            <a:prstDash val="solid"/>
          </a:ln>
        </p:spPr>
        <p:txBody>
          <a:bodyPr anchor="ctr"/>
          <a:lstStyle/>
          <a:p>
            <a:pPr algn="l">
              <a:defRPr sz="2700" b="1">
                <a:solidFill>
                  <a:srgbClr val="F8FBFF"/>
                </a:solidFill>
              </a:defRPr>
            </a:pPr>
            <a:r>
              <a:rPr sz="2700" b="1">
                <a:solidFill>
                  <a:srgbClr val="F8FBFF"/>
                </a:solidFill>
              </a:rPr>
              <a:t>The two models trade simplicity for expressive capacity</a:t>
            </a:r>
          </a:p>
        </p:txBody>
      </p:sp>
      <p:sp>
        <p:nvSpPr>
          <p:cNvPr id="3" name="Straight Connector 2">
            <a:extLst>
              <a:ext uri="{FF2B5EF4-FFF2-40B4-BE49-F238E27FC236}">
                <a16:creationId xmlns:a16="http://schemas.microsoft.com/office/drawing/2014/main" id="{E40DD506-D642-4235-8420-5601D546A17A}"/>
              </a:ext>
            </a:extLst>
          </p:cNvPr>
          <p:cNvSpPr>
            <a:spLocks noGrp="1"/>
          </p:cNvSpPr>
          <p:nvPr/>
        </p:nvSpPr>
        <p:spPr>
          <a:xfrm>
            <a:off x="609600" y="1304925"/>
            <a:ext cx="10972800" cy="0"/>
          </a:xfrm>
          <a:prstGeom prst="line">
            <a:avLst/>
          </a:prstGeom>
          <a:ln w="9525">
            <a:solidFill>
              <a:srgbClr val="28445F"/>
            </a:solidFill>
            <a:prstDash val="solid"/>
          </a:ln>
        </p:spPr>
        <p:txBody>
          <a:bodyPr/>
          <a:lstStyle/>
          <a:p>
            <a:endParaRPr lang="en-US"/>
          </a:p>
        </p:txBody>
      </p:sp>
      <p:sp>
        <p:nvSpPr>
          <p:cNvPr id="4" name="Rectangle 3">
            <a:extLst>
              <a:ext uri="{FF2B5EF4-FFF2-40B4-BE49-F238E27FC236}">
                <a16:creationId xmlns:a16="http://schemas.microsoft.com/office/drawing/2014/main" id="{C5850052-1A8D-4397-BDE4-B6231B6E59CE}"/>
              </a:ext>
            </a:extLst>
          </p:cNvPr>
          <p:cNvSpPr>
            <a:spLocks noGrp="1"/>
          </p:cNvSpPr>
          <p:nvPr/>
        </p:nvSpPr>
        <p:spPr>
          <a:xfrm>
            <a:off x="11239500" y="6238875"/>
            <a:ext cx="428625" cy="228600"/>
          </a:xfrm>
          <a:prstGeom prst="rect">
            <a:avLst/>
          </a:prstGeom>
          <a:noFill/>
          <a:ln w="0">
            <a:noFill/>
            <a:prstDash val="solid"/>
          </a:ln>
        </p:spPr>
        <p:txBody>
          <a:bodyPr anchor="ctr"/>
          <a:lstStyle/>
          <a:p>
            <a:pPr algn="r">
              <a:defRPr sz="900" b="1">
                <a:solidFill>
                  <a:srgbClr val="A8B8C8"/>
                </a:solidFill>
              </a:defRPr>
            </a:pPr>
            <a:r>
              <a:rPr sz="900" b="1">
                <a:solidFill>
                  <a:srgbClr val="A8B8C8"/>
                </a:solidFill>
              </a:rPr>
              <a:t>08</a:t>
            </a:r>
          </a:p>
        </p:txBody>
      </p:sp>
      <p:sp>
        <p:nvSpPr>
          <p:cNvPr id="5" name="Rectangle 4">
            <a:extLst>
              <a:ext uri="{FF2B5EF4-FFF2-40B4-BE49-F238E27FC236}">
                <a16:creationId xmlns:a16="http://schemas.microsoft.com/office/drawing/2014/main" id="{996CBF70-72B1-40D9-AC84-41F9BE8BC6C3}"/>
              </a:ext>
            </a:extLst>
          </p:cNvPr>
          <p:cNvSpPr>
            <a:spLocks noGrp="1"/>
          </p:cNvSpPr>
          <p:nvPr/>
        </p:nvSpPr>
        <p:spPr>
          <a:xfrm>
            <a:off x="762000" y="1666875"/>
            <a:ext cx="2190750" cy="342900"/>
          </a:xfrm>
          <a:prstGeom prst="rect">
            <a:avLst/>
          </a:prstGeom>
          <a:noFill/>
          <a:ln w="0">
            <a:noFill/>
            <a:prstDash val="solid"/>
          </a:ln>
        </p:spPr>
        <p:txBody>
          <a:bodyPr anchor="ctr"/>
          <a:lstStyle/>
          <a:p>
            <a:pPr algn="l">
              <a:defRPr sz="1275" b="1">
                <a:solidFill>
                  <a:srgbClr val="32D3C7"/>
                </a:solidFill>
              </a:defRPr>
            </a:pPr>
            <a:r>
              <a:rPr sz="1275" b="1">
                <a:solidFill>
                  <a:srgbClr val="32D3C7"/>
                </a:solidFill>
              </a:rPr>
              <a:t>Dimension</a:t>
            </a:r>
          </a:p>
        </p:txBody>
      </p:sp>
      <p:sp>
        <p:nvSpPr>
          <p:cNvPr id="6" name="Rectangle 5">
            <a:extLst>
              <a:ext uri="{FF2B5EF4-FFF2-40B4-BE49-F238E27FC236}">
                <a16:creationId xmlns:a16="http://schemas.microsoft.com/office/drawing/2014/main" id="{4630CDF3-5D0D-4A00-B5D9-6EB1E9A1FA1C}"/>
              </a:ext>
            </a:extLst>
          </p:cNvPr>
          <p:cNvSpPr>
            <a:spLocks noGrp="1"/>
          </p:cNvSpPr>
          <p:nvPr/>
        </p:nvSpPr>
        <p:spPr>
          <a:xfrm>
            <a:off x="3190875" y="1666875"/>
            <a:ext cx="3524250" cy="342900"/>
          </a:xfrm>
          <a:prstGeom prst="rect">
            <a:avLst/>
          </a:prstGeom>
          <a:noFill/>
          <a:ln w="0">
            <a:noFill/>
            <a:prstDash val="solid"/>
          </a:ln>
        </p:spPr>
        <p:txBody>
          <a:bodyPr anchor="ctr"/>
          <a:lstStyle/>
          <a:p>
            <a:pPr algn="l">
              <a:defRPr sz="1275" b="1">
                <a:solidFill>
                  <a:srgbClr val="5AA9FF"/>
                </a:solidFill>
              </a:defRPr>
            </a:pPr>
            <a:r>
              <a:rPr sz="1275" b="1">
                <a:solidFill>
                  <a:srgbClr val="5AA9FF"/>
                </a:solidFill>
              </a:rPr>
              <a:t>Matrix factorisation</a:t>
            </a:r>
          </a:p>
        </p:txBody>
      </p:sp>
      <p:sp>
        <p:nvSpPr>
          <p:cNvPr id="7" name="Rectangle 6">
            <a:extLst>
              <a:ext uri="{FF2B5EF4-FFF2-40B4-BE49-F238E27FC236}">
                <a16:creationId xmlns:a16="http://schemas.microsoft.com/office/drawing/2014/main" id="{A74F1150-B28D-4745-B013-E4F5F5FB3B4A}"/>
              </a:ext>
            </a:extLst>
          </p:cNvPr>
          <p:cNvSpPr>
            <a:spLocks noGrp="1"/>
          </p:cNvSpPr>
          <p:nvPr/>
        </p:nvSpPr>
        <p:spPr>
          <a:xfrm>
            <a:off x="7048500" y="1666875"/>
            <a:ext cx="4095750" cy="342900"/>
          </a:xfrm>
          <a:prstGeom prst="rect">
            <a:avLst/>
          </a:prstGeom>
          <a:noFill/>
          <a:ln w="0">
            <a:noFill/>
            <a:prstDash val="solid"/>
          </a:ln>
        </p:spPr>
        <p:txBody>
          <a:bodyPr anchor="ctr"/>
          <a:lstStyle/>
          <a:p>
            <a:pPr algn="l">
              <a:defRPr sz="1275" b="1">
                <a:solidFill>
                  <a:srgbClr val="FFB547"/>
                </a:solidFill>
              </a:defRPr>
            </a:pPr>
            <a:r>
              <a:rPr sz="1275" b="1">
                <a:solidFill>
                  <a:srgbClr val="FFB547"/>
                </a:solidFill>
              </a:rPr>
              <a:t>Neural CF</a:t>
            </a:r>
          </a:p>
        </p:txBody>
      </p:sp>
      <p:sp>
        <p:nvSpPr>
          <p:cNvPr id="8" name="Rectangle: Rounded Corners 7">
            <a:extLst>
              <a:ext uri="{FF2B5EF4-FFF2-40B4-BE49-F238E27FC236}">
                <a16:creationId xmlns:a16="http://schemas.microsoft.com/office/drawing/2014/main" id="{BD5AEFE1-7889-4712-9B86-6ED7CEC37E16}"/>
              </a:ext>
            </a:extLst>
          </p:cNvPr>
          <p:cNvSpPr>
            <a:spLocks noGrp="1"/>
          </p:cNvSpPr>
          <p:nvPr/>
        </p:nvSpPr>
        <p:spPr>
          <a:xfrm>
            <a:off x="666750" y="2047875"/>
            <a:ext cx="10572750" cy="628650"/>
          </a:xfrm>
          <a:prstGeom prst="roundRect">
            <a:avLst>
              <a:gd name="adj" fmla="val 18182"/>
            </a:avLst>
          </a:prstGeom>
          <a:solidFill>
            <a:srgbClr val="0D2237"/>
          </a:solidFill>
          <a:ln w="0">
            <a:noFill/>
            <a:prstDash val="solid"/>
          </a:ln>
        </p:spPr>
        <p:txBody>
          <a:bodyPr/>
          <a:lstStyle/>
          <a:p>
            <a:endParaRPr lang="en-US"/>
          </a:p>
        </p:txBody>
      </p:sp>
      <p:sp>
        <p:nvSpPr>
          <p:cNvPr id="9" name="Rectangle 8">
            <a:extLst>
              <a:ext uri="{FF2B5EF4-FFF2-40B4-BE49-F238E27FC236}">
                <a16:creationId xmlns:a16="http://schemas.microsoft.com/office/drawing/2014/main" id="{15CB3A2F-7C41-4960-B355-A7849608B8F1}"/>
              </a:ext>
            </a:extLst>
          </p:cNvPr>
          <p:cNvSpPr>
            <a:spLocks noGrp="1"/>
          </p:cNvSpPr>
          <p:nvPr/>
        </p:nvSpPr>
        <p:spPr>
          <a:xfrm>
            <a:off x="857250" y="2095500"/>
            <a:ext cx="2000250" cy="476250"/>
          </a:xfrm>
          <a:prstGeom prst="rect">
            <a:avLst/>
          </a:prstGeom>
          <a:noFill/>
          <a:ln w="0">
            <a:noFill/>
            <a:prstDash val="solid"/>
          </a:ln>
        </p:spPr>
        <p:txBody>
          <a:bodyPr anchor="ctr"/>
          <a:lstStyle/>
          <a:p>
            <a:pPr algn="l">
              <a:defRPr sz="1275" b="1">
                <a:solidFill>
                  <a:srgbClr val="F8FBFF"/>
                </a:solidFill>
              </a:defRPr>
            </a:pPr>
            <a:r>
              <a:rPr sz="1275" b="1">
                <a:solidFill>
                  <a:srgbClr val="F8FBFF"/>
                </a:solidFill>
              </a:rPr>
              <a:t>Capacity</a:t>
            </a:r>
          </a:p>
        </p:txBody>
      </p:sp>
      <p:sp>
        <p:nvSpPr>
          <p:cNvPr id="10" name="Rectangle 9">
            <a:extLst>
              <a:ext uri="{FF2B5EF4-FFF2-40B4-BE49-F238E27FC236}">
                <a16:creationId xmlns:a16="http://schemas.microsoft.com/office/drawing/2014/main" id="{8C2F7D49-44E5-4ABB-8F37-CA8B5566EF8A}"/>
              </a:ext>
            </a:extLst>
          </p:cNvPr>
          <p:cNvSpPr>
            <a:spLocks noGrp="1"/>
          </p:cNvSpPr>
          <p:nvPr/>
        </p:nvSpPr>
        <p:spPr>
          <a:xfrm>
            <a:off x="3190875" y="2095500"/>
            <a:ext cx="3429000" cy="476250"/>
          </a:xfrm>
          <a:prstGeom prst="rect">
            <a:avLst/>
          </a:prstGeom>
          <a:noFill/>
          <a:ln w="0">
            <a:noFill/>
            <a:prstDash val="solid"/>
          </a:ln>
        </p:spPr>
        <p:txBody>
          <a:bodyPr anchor="ctr"/>
          <a:lstStyle/>
          <a:p>
            <a:pPr algn="l">
              <a:defRPr sz="1275" b="0">
                <a:solidFill>
                  <a:srgbClr val="A8B8C8"/>
                </a:solidFill>
              </a:defRPr>
            </a:pPr>
            <a:r>
              <a:rPr sz="1275" b="0">
                <a:solidFill>
                  <a:srgbClr val="A8B8C8"/>
                </a:solidFill>
              </a:rPr>
              <a:t>Linear latent interaction</a:t>
            </a:r>
          </a:p>
        </p:txBody>
      </p:sp>
      <p:sp>
        <p:nvSpPr>
          <p:cNvPr id="11" name="Rectangle 10">
            <a:extLst>
              <a:ext uri="{FF2B5EF4-FFF2-40B4-BE49-F238E27FC236}">
                <a16:creationId xmlns:a16="http://schemas.microsoft.com/office/drawing/2014/main" id="{5BB69662-06C1-470E-8940-9C8D6B15251B}"/>
              </a:ext>
            </a:extLst>
          </p:cNvPr>
          <p:cNvSpPr>
            <a:spLocks noGrp="1"/>
          </p:cNvSpPr>
          <p:nvPr/>
        </p:nvSpPr>
        <p:spPr>
          <a:xfrm>
            <a:off x="7048500" y="2095500"/>
            <a:ext cx="3905250" cy="476250"/>
          </a:xfrm>
          <a:prstGeom prst="rect">
            <a:avLst/>
          </a:prstGeom>
          <a:noFill/>
          <a:ln w="0">
            <a:noFill/>
            <a:prstDash val="solid"/>
          </a:ln>
        </p:spPr>
        <p:txBody>
          <a:bodyPr anchor="ctr"/>
          <a:lstStyle/>
          <a:p>
            <a:pPr algn="l">
              <a:defRPr sz="1275" b="0">
                <a:solidFill>
                  <a:srgbClr val="A8B8C8"/>
                </a:solidFill>
              </a:defRPr>
            </a:pPr>
            <a:r>
              <a:rPr sz="1275" b="0">
                <a:solidFill>
                  <a:srgbClr val="A8B8C8"/>
                </a:solidFill>
              </a:rPr>
              <a:t>Nonlinear MLP interaction</a:t>
            </a:r>
          </a:p>
        </p:txBody>
      </p:sp>
      <p:sp>
        <p:nvSpPr>
          <p:cNvPr id="12" name="Rectangle 11">
            <a:extLst>
              <a:ext uri="{FF2B5EF4-FFF2-40B4-BE49-F238E27FC236}">
                <a16:creationId xmlns:a16="http://schemas.microsoft.com/office/drawing/2014/main" id="{F733D54A-3048-4536-AA69-858107D47861}"/>
              </a:ext>
            </a:extLst>
          </p:cNvPr>
          <p:cNvSpPr>
            <a:spLocks noGrp="1"/>
          </p:cNvSpPr>
          <p:nvPr/>
        </p:nvSpPr>
        <p:spPr>
          <a:xfrm>
            <a:off x="857250" y="2809875"/>
            <a:ext cx="2000250" cy="476250"/>
          </a:xfrm>
          <a:prstGeom prst="rect">
            <a:avLst/>
          </a:prstGeom>
          <a:noFill/>
          <a:ln w="0">
            <a:noFill/>
            <a:prstDash val="solid"/>
          </a:ln>
        </p:spPr>
        <p:txBody>
          <a:bodyPr anchor="ctr"/>
          <a:lstStyle/>
          <a:p>
            <a:pPr algn="l">
              <a:defRPr sz="1275" b="1">
                <a:solidFill>
                  <a:srgbClr val="F8FBFF"/>
                </a:solidFill>
              </a:defRPr>
            </a:pPr>
            <a:r>
              <a:rPr sz="1275" b="1">
                <a:solidFill>
                  <a:srgbClr val="F8FBFF"/>
                </a:solidFill>
              </a:rPr>
              <a:t>Training</a:t>
            </a:r>
          </a:p>
        </p:txBody>
      </p:sp>
      <p:sp>
        <p:nvSpPr>
          <p:cNvPr id="13" name="Rectangle 12">
            <a:extLst>
              <a:ext uri="{FF2B5EF4-FFF2-40B4-BE49-F238E27FC236}">
                <a16:creationId xmlns:a16="http://schemas.microsoft.com/office/drawing/2014/main" id="{BC808AD6-F495-4CE6-ADE7-201E5572724C}"/>
              </a:ext>
            </a:extLst>
          </p:cNvPr>
          <p:cNvSpPr>
            <a:spLocks noGrp="1"/>
          </p:cNvSpPr>
          <p:nvPr/>
        </p:nvSpPr>
        <p:spPr>
          <a:xfrm>
            <a:off x="3190875" y="2809875"/>
            <a:ext cx="3429000" cy="476250"/>
          </a:xfrm>
          <a:prstGeom prst="rect">
            <a:avLst/>
          </a:prstGeom>
          <a:noFill/>
          <a:ln w="0">
            <a:noFill/>
            <a:prstDash val="solid"/>
          </a:ln>
        </p:spPr>
        <p:txBody>
          <a:bodyPr anchor="ctr"/>
          <a:lstStyle/>
          <a:p>
            <a:pPr algn="l">
              <a:defRPr sz="1275" b="0">
                <a:solidFill>
                  <a:srgbClr val="A8B8C8"/>
                </a:solidFill>
              </a:defRPr>
            </a:pPr>
            <a:r>
              <a:rPr sz="1275" b="0">
                <a:solidFill>
                  <a:srgbClr val="A8B8C8"/>
                </a:solidFill>
              </a:rPr>
              <a:t>Fast; few tuning choices</a:t>
            </a:r>
          </a:p>
        </p:txBody>
      </p:sp>
      <p:sp>
        <p:nvSpPr>
          <p:cNvPr id="14" name="Rectangle 13">
            <a:extLst>
              <a:ext uri="{FF2B5EF4-FFF2-40B4-BE49-F238E27FC236}">
                <a16:creationId xmlns:a16="http://schemas.microsoft.com/office/drawing/2014/main" id="{2816BF7C-9929-4ED1-8C9D-972516DE948A}"/>
              </a:ext>
            </a:extLst>
          </p:cNvPr>
          <p:cNvSpPr>
            <a:spLocks noGrp="1"/>
          </p:cNvSpPr>
          <p:nvPr/>
        </p:nvSpPr>
        <p:spPr>
          <a:xfrm>
            <a:off x="7048500" y="2809875"/>
            <a:ext cx="3905250" cy="476250"/>
          </a:xfrm>
          <a:prstGeom prst="rect">
            <a:avLst/>
          </a:prstGeom>
          <a:noFill/>
          <a:ln w="0">
            <a:noFill/>
            <a:prstDash val="solid"/>
          </a:ln>
        </p:spPr>
        <p:txBody>
          <a:bodyPr anchor="ctr"/>
          <a:lstStyle/>
          <a:p>
            <a:pPr algn="l">
              <a:defRPr sz="1275" b="0">
                <a:solidFill>
                  <a:srgbClr val="A8B8C8"/>
                </a:solidFill>
              </a:defRPr>
            </a:pPr>
            <a:r>
              <a:rPr sz="1275" b="0">
                <a:solidFill>
                  <a:srgbClr val="A8B8C8"/>
                </a:solidFill>
              </a:rPr>
              <a:t>Slower; more sensitive</a:t>
            </a:r>
          </a:p>
        </p:txBody>
      </p:sp>
      <p:sp>
        <p:nvSpPr>
          <p:cNvPr id="15" name="Rectangle: Rounded Corners 14">
            <a:extLst>
              <a:ext uri="{FF2B5EF4-FFF2-40B4-BE49-F238E27FC236}">
                <a16:creationId xmlns:a16="http://schemas.microsoft.com/office/drawing/2014/main" id="{014B5BF0-1E2A-4A80-8805-E9205FE53809}"/>
              </a:ext>
            </a:extLst>
          </p:cNvPr>
          <p:cNvSpPr>
            <a:spLocks noGrp="1"/>
          </p:cNvSpPr>
          <p:nvPr/>
        </p:nvSpPr>
        <p:spPr>
          <a:xfrm>
            <a:off x="666750" y="3476625"/>
            <a:ext cx="10572750" cy="628650"/>
          </a:xfrm>
          <a:prstGeom prst="roundRect">
            <a:avLst>
              <a:gd name="adj" fmla="val 18182"/>
            </a:avLst>
          </a:prstGeom>
          <a:solidFill>
            <a:srgbClr val="0D2237"/>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56BE8007-EF1D-4774-87E4-67FEE9A0326D}"/>
              </a:ext>
            </a:extLst>
          </p:cNvPr>
          <p:cNvSpPr>
            <a:spLocks noGrp="1"/>
          </p:cNvSpPr>
          <p:nvPr/>
        </p:nvSpPr>
        <p:spPr>
          <a:xfrm>
            <a:off x="857250" y="3524250"/>
            <a:ext cx="2000250" cy="476250"/>
          </a:xfrm>
          <a:prstGeom prst="rect">
            <a:avLst/>
          </a:prstGeom>
          <a:noFill/>
          <a:ln w="0">
            <a:noFill/>
            <a:prstDash val="solid"/>
          </a:ln>
        </p:spPr>
        <p:txBody>
          <a:bodyPr anchor="ctr"/>
          <a:lstStyle/>
          <a:p>
            <a:pPr algn="l">
              <a:defRPr sz="1275" b="1">
                <a:solidFill>
                  <a:srgbClr val="F8FBFF"/>
                </a:solidFill>
              </a:defRPr>
            </a:pPr>
            <a:r>
              <a:rPr sz="1275" b="1">
                <a:solidFill>
                  <a:srgbClr val="F8FBFF"/>
                </a:solidFill>
              </a:rPr>
              <a:t>Explanation</a:t>
            </a:r>
          </a:p>
        </p:txBody>
      </p:sp>
      <p:sp>
        <p:nvSpPr>
          <p:cNvPr id="17" name="Rectangle 16">
            <a:extLst>
              <a:ext uri="{FF2B5EF4-FFF2-40B4-BE49-F238E27FC236}">
                <a16:creationId xmlns:a16="http://schemas.microsoft.com/office/drawing/2014/main" id="{827DAD1F-D8C2-4A70-B598-F1B97C65409C}"/>
              </a:ext>
            </a:extLst>
          </p:cNvPr>
          <p:cNvSpPr>
            <a:spLocks noGrp="1"/>
          </p:cNvSpPr>
          <p:nvPr/>
        </p:nvSpPr>
        <p:spPr>
          <a:xfrm>
            <a:off x="3190875" y="3524250"/>
            <a:ext cx="3429000" cy="476250"/>
          </a:xfrm>
          <a:prstGeom prst="rect">
            <a:avLst/>
          </a:prstGeom>
          <a:noFill/>
          <a:ln w="0">
            <a:noFill/>
            <a:prstDash val="solid"/>
          </a:ln>
        </p:spPr>
        <p:txBody>
          <a:bodyPr anchor="ctr"/>
          <a:lstStyle/>
          <a:p>
            <a:pPr algn="l">
              <a:defRPr sz="1275" b="0">
                <a:solidFill>
                  <a:srgbClr val="A8B8C8"/>
                </a:solidFill>
              </a:defRPr>
            </a:pPr>
            <a:r>
              <a:rPr sz="1275" b="0">
                <a:solidFill>
                  <a:srgbClr val="A8B8C8"/>
                </a:solidFill>
              </a:rPr>
              <a:t>Additive decomposition</a:t>
            </a:r>
          </a:p>
        </p:txBody>
      </p:sp>
      <p:sp>
        <p:nvSpPr>
          <p:cNvPr id="18" name="Rectangle 17">
            <a:extLst>
              <a:ext uri="{FF2B5EF4-FFF2-40B4-BE49-F238E27FC236}">
                <a16:creationId xmlns:a16="http://schemas.microsoft.com/office/drawing/2014/main" id="{AA1F9EFF-513D-412D-B30D-AEC40C5A3A0A}"/>
              </a:ext>
            </a:extLst>
          </p:cNvPr>
          <p:cNvSpPr>
            <a:spLocks noGrp="1"/>
          </p:cNvSpPr>
          <p:nvPr/>
        </p:nvSpPr>
        <p:spPr>
          <a:xfrm>
            <a:off x="7048500" y="3524250"/>
            <a:ext cx="3905250" cy="476250"/>
          </a:xfrm>
          <a:prstGeom prst="rect">
            <a:avLst/>
          </a:prstGeom>
          <a:noFill/>
          <a:ln w="0">
            <a:noFill/>
            <a:prstDash val="solid"/>
          </a:ln>
        </p:spPr>
        <p:txBody>
          <a:bodyPr anchor="ctr"/>
          <a:lstStyle/>
          <a:p>
            <a:pPr algn="l">
              <a:defRPr sz="1275" b="0">
                <a:solidFill>
                  <a:srgbClr val="A8B8C8"/>
                </a:solidFill>
              </a:defRPr>
            </a:pPr>
            <a:r>
              <a:rPr sz="1275" b="0">
                <a:solidFill>
                  <a:srgbClr val="A8B8C8"/>
                </a:solidFill>
              </a:rPr>
              <a:t>Approximate global importance</a:t>
            </a:r>
          </a:p>
        </p:txBody>
      </p:sp>
      <p:sp>
        <p:nvSpPr>
          <p:cNvPr id="19" name="Rectangle 18">
            <a:extLst>
              <a:ext uri="{FF2B5EF4-FFF2-40B4-BE49-F238E27FC236}">
                <a16:creationId xmlns:a16="http://schemas.microsoft.com/office/drawing/2014/main" id="{C15FE3BD-8B54-4709-BDC0-017047DA0AF7}"/>
              </a:ext>
            </a:extLst>
          </p:cNvPr>
          <p:cNvSpPr>
            <a:spLocks noGrp="1"/>
          </p:cNvSpPr>
          <p:nvPr/>
        </p:nvSpPr>
        <p:spPr>
          <a:xfrm>
            <a:off x="857250" y="4238625"/>
            <a:ext cx="2000250" cy="476250"/>
          </a:xfrm>
          <a:prstGeom prst="rect">
            <a:avLst/>
          </a:prstGeom>
          <a:noFill/>
          <a:ln w="0">
            <a:noFill/>
            <a:prstDash val="solid"/>
          </a:ln>
        </p:spPr>
        <p:txBody>
          <a:bodyPr anchor="ctr"/>
          <a:lstStyle/>
          <a:p>
            <a:pPr algn="l">
              <a:defRPr sz="1275" b="1">
                <a:solidFill>
                  <a:srgbClr val="F8FBFF"/>
                </a:solidFill>
              </a:defRPr>
            </a:pPr>
            <a:r>
              <a:rPr sz="1275" b="1">
                <a:solidFill>
                  <a:srgbClr val="F8FBFF"/>
                </a:solidFill>
              </a:rPr>
              <a:t>Cold start</a:t>
            </a:r>
          </a:p>
        </p:txBody>
      </p:sp>
      <p:sp>
        <p:nvSpPr>
          <p:cNvPr id="20" name="Rectangle 19">
            <a:extLst>
              <a:ext uri="{FF2B5EF4-FFF2-40B4-BE49-F238E27FC236}">
                <a16:creationId xmlns:a16="http://schemas.microsoft.com/office/drawing/2014/main" id="{4FE7BC10-C807-48BD-BDB9-8C40B2EC7FCB}"/>
              </a:ext>
            </a:extLst>
          </p:cNvPr>
          <p:cNvSpPr>
            <a:spLocks noGrp="1"/>
          </p:cNvSpPr>
          <p:nvPr/>
        </p:nvSpPr>
        <p:spPr>
          <a:xfrm>
            <a:off x="3190875" y="4238625"/>
            <a:ext cx="3429000" cy="476250"/>
          </a:xfrm>
          <a:prstGeom prst="rect">
            <a:avLst/>
          </a:prstGeom>
          <a:noFill/>
          <a:ln w="0">
            <a:noFill/>
            <a:prstDash val="solid"/>
          </a:ln>
        </p:spPr>
        <p:txBody>
          <a:bodyPr anchor="ctr"/>
          <a:lstStyle/>
          <a:p>
            <a:pPr algn="l">
              <a:defRPr sz="1275" b="0">
                <a:solidFill>
                  <a:srgbClr val="A8B8C8"/>
                </a:solidFill>
              </a:defRPr>
            </a:pPr>
            <a:r>
              <a:rPr sz="1275" b="0">
                <a:solidFill>
                  <a:srgbClr val="A8B8C8"/>
                </a:solidFill>
              </a:rPr>
              <a:t>Unseen IDs unsupported</a:t>
            </a:r>
          </a:p>
        </p:txBody>
      </p:sp>
      <p:sp>
        <p:nvSpPr>
          <p:cNvPr id="21" name="Rectangle 20">
            <a:extLst>
              <a:ext uri="{FF2B5EF4-FFF2-40B4-BE49-F238E27FC236}">
                <a16:creationId xmlns:a16="http://schemas.microsoft.com/office/drawing/2014/main" id="{CF9132B1-8EC5-4C9C-BA28-BE12B8D904C6}"/>
              </a:ext>
            </a:extLst>
          </p:cNvPr>
          <p:cNvSpPr>
            <a:spLocks noGrp="1"/>
          </p:cNvSpPr>
          <p:nvPr/>
        </p:nvSpPr>
        <p:spPr>
          <a:xfrm>
            <a:off x="7048500" y="4238625"/>
            <a:ext cx="3905250" cy="476250"/>
          </a:xfrm>
          <a:prstGeom prst="rect">
            <a:avLst/>
          </a:prstGeom>
          <a:noFill/>
          <a:ln w="0">
            <a:noFill/>
            <a:prstDash val="solid"/>
          </a:ln>
        </p:spPr>
        <p:txBody>
          <a:bodyPr anchor="ctr"/>
          <a:lstStyle/>
          <a:p>
            <a:pPr algn="l">
              <a:defRPr sz="1275" b="0">
                <a:solidFill>
                  <a:srgbClr val="A8B8C8"/>
                </a:solidFill>
              </a:defRPr>
            </a:pPr>
            <a:r>
              <a:rPr sz="1275" b="0">
                <a:solidFill>
                  <a:srgbClr val="A8B8C8"/>
                </a:solidFill>
              </a:rPr>
              <a:t>Unseen IDs unsupported</a:t>
            </a:r>
          </a:p>
        </p:txBody>
      </p:sp>
      <p:sp>
        <p:nvSpPr>
          <p:cNvPr id="22" name="Rectangle: Rounded Corners 21">
            <a:extLst>
              <a:ext uri="{FF2B5EF4-FFF2-40B4-BE49-F238E27FC236}">
                <a16:creationId xmlns:a16="http://schemas.microsoft.com/office/drawing/2014/main" id="{63C02A86-03D2-4CD1-AC52-DC038A469139}"/>
              </a:ext>
            </a:extLst>
          </p:cNvPr>
          <p:cNvSpPr>
            <a:spLocks noGrp="1"/>
          </p:cNvSpPr>
          <p:nvPr/>
        </p:nvSpPr>
        <p:spPr>
          <a:xfrm>
            <a:off x="666750" y="4905375"/>
            <a:ext cx="10572750" cy="628650"/>
          </a:xfrm>
          <a:prstGeom prst="roundRect">
            <a:avLst>
              <a:gd name="adj" fmla="val 18182"/>
            </a:avLst>
          </a:prstGeom>
          <a:solidFill>
            <a:srgbClr val="0D2237"/>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B1BC53AD-EBAE-44ED-B6EF-0AD6CF39F5F5}"/>
              </a:ext>
            </a:extLst>
          </p:cNvPr>
          <p:cNvSpPr>
            <a:spLocks noGrp="1"/>
          </p:cNvSpPr>
          <p:nvPr/>
        </p:nvSpPr>
        <p:spPr>
          <a:xfrm>
            <a:off x="857250" y="4953000"/>
            <a:ext cx="2000250" cy="476250"/>
          </a:xfrm>
          <a:prstGeom prst="rect">
            <a:avLst/>
          </a:prstGeom>
          <a:noFill/>
          <a:ln w="0">
            <a:noFill/>
            <a:prstDash val="solid"/>
          </a:ln>
        </p:spPr>
        <p:txBody>
          <a:bodyPr anchor="ctr"/>
          <a:lstStyle/>
          <a:p>
            <a:pPr algn="l">
              <a:defRPr sz="1275" b="1">
                <a:solidFill>
                  <a:srgbClr val="F8FBFF"/>
                </a:solidFill>
              </a:defRPr>
            </a:pPr>
            <a:r>
              <a:rPr sz="1275" b="1">
                <a:solidFill>
                  <a:srgbClr val="F8FBFF"/>
                </a:solidFill>
              </a:rPr>
              <a:t>Deployment</a:t>
            </a:r>
          </a:p>
        </p:txBody>
      </p:sp>
      <p:sp>
        <p:nvSpPr>
          <p:cNvPr id="24" name="Rectangle 23">
            <a:extLst>
              <a:ext uri="{FF2B5EF4-FFF2-40B4-BE49-F238E27FC236}">
                <a16:creationId xmlns:a16="http://schemas.microsoft.com/office/drawing/2014/main" id="{F3652B1F-4D2D-420B-9F3E-767EBB1E3C20}"/>
              </a:ext>
            </a:extLst>
          </p:cNvPr>
          <p:cNvSpPr>
            <a:spLocks noGrp="1"/>
          </p:cNvSpPr>
          <p:nvPr/>
        </p:nvSpPr>
        <p:spPr>
          <a:xfrm>
            <a:off x="3190875" y="4953000"/>
            <a:ext cx="3429000" cy="476250"/>
          </a:xfrm>
          <a:prstGeom prst="rect">
            <a:avLst/>
          </a:prstGeom>
          <a:noFill/>
          <a:ln w="0">
            <a:noFill/>
            <a:prstDash val="solid"/>
          </a:ln>
        </p:spPr>
        <p:txBody>
          <a:bodyPr anchor="ctr"/>
          <a:lstStyle/>
          <a:p>
            <a:pPr algn="l">
              <a:defRPr sz="1275" b="0">
                <a:solidFill>
                  <a:srgbClr val="A8B8C8"/>
                </a:solidFill>
              </a:defRPr>
            </a:pPr>
            <a:r>
              <a:rPr sz="1275" b="0">
                <a:solidFill>
                  <a:srgbClr val="A8B8C8"/>
                </a:solidFill>
              </a:rPr>
              <a:t>Small and predictable</a:t>
            </a:r>
          </a:p>
        </p:txBody>
      </p:sp>
      <p:sp>
        <p:nvSpPr>
          <p:cNvPr id="25" name="Rectangle 24">
            <a:extLst>
              <a:ext uri="{FF2B5EF4-FFF2-40B4-BE49-F238E27FC236}">
                <a16:creationId xmlns:a16="http://schemas.microsoft.com/office/drawing/2014/main" id="{68C8A55A-6251-4CD2-A45F-D809461A865F}"/>
              </a:ext>
            </a:extLst>
          </p:cNvPr>
          <p:cNvSpPr>
            <a:spLocks noGrp="1"/>
          </p:cNvSpPr>
          <p:nvPr/>
        </p:nvSpPr>
        <p:spPr>
          <a:xfrm>
            <a:off x="7048500" y="4953000"/>
            <a:ext cx="3905250" cy="476250"/>
          </a:xfrm>
          <a:prstGeom prst="rect">
            <a:avLst/>
          </a:prstGeom>
          <a:noFill/>
          <a:ln w="0">
            <a:noFill/>
            <a:prstDash val="solid"/>
          </a:ln>
        </p:spPr>
        <p:txBody>
          <a:bodyPr anchor="ctr"/>
          <a:lstStyle/>
          <a:p>
            <a:pPr algn="l">
              <a:defRPr sz="1275" b="0">
                <a:solidFill>
                  <a:srgbClr val="A8B8C8"/>
                </a:solidFill>
              </a:defRPr>
            </a:pPr>
            <a:r>
              <a:rPr sz="1275" b="0">
                <a:solidFill>
                  <a:srgbClr val="A8B8C8"/>
                </a:solidFill>
              </a:rPr>
              <a:t>Higher latency and monitoring</a:t>
            </a:r>
          </a:p>
        </p:txBody>
      </p:sp>
    </p:spTree>
    <p:extLst>
      <p:ext uri="{BB962C8B-B14F-4D97-AF65-F5344CB8AC3E}">
        <p14:creationId xmlns:p14="http://schemas.microsoft.com/office/powerpoint/2010/main" val="138493891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C691F76-21B1-4FC5-88F0-00B517F26089}"/>
              </a:ext>
            </a:extLst>
          </p:cNvPr>
          <p:cNvSpPr>
            <a:spLocks noGrp="1"/>
          </p:cNvSpPr>
          <p:nvPr/>
        </p:nvSpPr>
        <p:spPr>
          <a:xfrm>
            <a:off x="609600" y="323850"/>
            <a:ext cx="4762500" cy="228600"/>
          </a:xfrm>
          <a:prstGeom prst="rect">
            <a:avLst/>
          </a:prstGeom>
          <a:noFill/>
          <a:ln w="0">
            <a:noFill/>
            <a:prstDash val="solid"/>
          </a:ln>
        </p:spPr>
        <p:txBody>
          <a:bodyPr anchor="ctr"/>
          <a:lstStyle/>
          <a:p>
            <a:pPr algn="l">
              <a:defRPr sz="975" b="1">
                <a:solidFill>
                  <a:srgbClr val="32D3C7"/>
                </a:solidFill>
              </a:defRPr>
            </a:pPr>
            <a:r>
              <a:rPr sz="975" b="1">
                <a:solidFill>
                  <a:srgbClr val="32D3C7"/>
                </a:solidFill>
              </a:rPr>
              <a:t>EVALUATION METRICS</a:t>
            </a:r>
          </a:p>
        </p:txBody>
      </p:sp>
      <p:sp>
        <p:nvSpPr>
          <p:cNvPr id="2" name="Rectangle 1">
            <a:extLst>
              <a:ext uri="{FF2B5EF4-FFF2-40B4-BE49-F238E27FC236}">
                <a16:creationId xmlns:a16="http://schemas.microsoft.com/office/drawing/2014/main" id="{1D21D7B5-BCD9-4976-A6FF-DCB9A77CB53B}"/>
              </a:ext>
            </a:extLst>
          </p:cNvPr>
          <p:cNvSpPr>
            <a:spLocks noGrp="1"/>
          </p:cNvSpPr>
          <p:nvPr/>
        </p:nvSpPr>
        <p:spPr>
          <a:xfrm>
            <a:off x="609600" y="638175"/>
            <a:ext cx="10668000" cy="552450"/>
          </a:xfrm>
          <a:prstGeom prst="rect">
            <a:avLst/>
          </a:prstGeom>
          <a:noFill/>
          <a:ln w="0">
            <a:noFill/>
            <a:prstDash val="solid"/>
          </a:ln>
        </p:spPr>
        <p:txBody>
          <a:bodyPr anchor="ctr"/>
          <a:lstStyle/>
          <a:p>
            <a:pPr algn="l">
              <a:defRPr sz="2700" b="1">
                <a:solidFill>
                  <a:srgbClr val="F8FBFF"/>
                </a:solidFill>
              </a:defRPr>
            </a:pPr>
            <a:r>
              <a:rPr sz="2700" b="1">
                <a:solidFill>
                  <a:srgbClr val="F8FBFF"/>
                </a:solidFill>
              </a:rPr>
              <a:t>RMSE and NDCG answer different performance questions</a:t>
            </a:r>
          </a:p>
        </p:txBody>
      </p:sp>
      <p:sp>
        <p:nvSpPr>
          <p:cNvPr id="3" name="Straight Connector 2">
            <a:extLst>
              <a:ext uri="{FF2B5EF4-FFF2-40B4-BE49-F238E27FC236}">
                <a16:creationId xmlns:a16="http://schemas.microsoft.com/office/drawing/2014/main" id="{5B4FA574-8689-4D48-8653-0DE906A6DA5D}"/>
              </a:ext>
            </a:extLst>
          </p:cNvPr>
          <p:cNvSpPr>
            <a:spLocks noGrp="1"/>
          </p:cNvSpPr>
          <p:nvPr/>
        </p:nvSpPr>
        <p:spPr>
          <a:xfrm>
            <a:off x="609600" y="1304925"/>
            <a:ext cx="10972800" cy="0"/>
          </a:xfrm>
          <a:prstGeom prst="line">
            <a:avLst/>
          </a:prstGeom>
          <a:ln w="9525">
            <a:solidFill>
              <a:srgbClr val="28445F"/>
            </a:solidFill>
            <a:prstDash val="solid"/>
          </a:ln>
        </p:spPr>
        <p:txBody>
          <a:bodyPr/>
          <a:lstStyle/>
          <a:p>
            <a:endParaRPr lang="en-US"/>
          </a:p>
        </p:txBody>
      </p:sp>
      <p:sp>
        <p:nvSpPr>
          <p:cNvPr id="4" name="Rectangle 3">
            <a:extLst>
              <a:ext uri="{FF2B5EF4-FFF2-40B4-BE49-F238E27FC236}">
                <a16:creationId xmlns:a16="http://schemas.microsoft.com/office/drawing/2014/main" id="{1A145778-ECF7-475D-B292-9E8F9AAB6A63}"/>
              </a:ext>
            </a:extLst>
          </p:cNvPr>
          <p:cNvSpPr>
            <a:spLocks noGrp="1"/>
          </p:cNvSpPr>
          <p:nvPr/>
        </p:nvSpPr>
        <p:spPr>
          <a:xfrm>
            <a:off x="11239500" y="6238875"/>
            <a:ext cx="428625" cy="228600"/>
          </a:xfrm>
          <a:prstGeom prst="rect">
            <a:avLst/>
          </a:prstGeom>
          <a:noFill/>
          <a:ln w="0">
            <a:noFill/>
            <a:prstDash val="solid"/>
          </a:ln>
        </p:spPr>
        <p:txBody>
          <a:bodyPr anchor="ctr"/>
          <a:lstStyle/>
          <a:p>
            <a:pPr algn="r">
              <a:defRPr sz="900" b="1">
                <a:solidFill>
                  <a:srgbClr val="A8B8C8"/>
                </a:solidFill>
              </a:defRPr>
            </a:pPr>
            <a:r>
              <a:rPr sz="900" b="1">
                <a:solidFill>
                  <a:srgbClr val="A8B8C8"/>
                </a:solidFill>
              </a:rPr>
              <a:t>09</a:t>
            </a:r>
          </a:p>
        </p:txBody>
      </p:sp>
      <p:sp>
        <p:nvSpPr>
          <p:cNvPr id="5" name="Rectangle: Rounded Corners 4">
            <a:extLst>
              <a:ext uri="{FF2B5EF4-FFF2-40B4-BE49-F238E27FC236}">
                <a16:creationId xmlns:a16="http://schemas.microsoft.com/office/drawing/2014/main" id="{F10C5069-659D-4C10-8D33-8C95F5673969}"/>
              </a:ext>
            </a:extLst>
          </p:cNvPr>
          <p:cNvSpPr>
            <a:spLocks noGrp="1"/>
          </p:cNvSpPr>
          <p:nvPr/>
        </p:nvSpPr>
        <p:spPr>
          <a:xfrm>
            <a:off x="809625" y="1809750"/>
            <a:ext cx="4762500" cy="3143250"/>
          </a:xfrm>
          <a:prstGeom prst="roundRect">
            <a:avLst>
              <a:gd name="adj" fmla="val 3636"/>
            </a:avLst>
          </a:prstGeom>
          <a:solidFill>
            <a:srgbClr val="102A43"/>
          </a:solidFill>
          <a:ln w="0">
            <a:noFill/>
            <a:prstDash val="solid"/>
          </a:ln>
        </p:spPr>
        <p:txBody>
          <a:bodyPr/>
          <a:lstStyle/>
          <a:p>
            <a:endParaRPr lang="en-US"/>
          </a:p>
        </p:txBody>
      </p:sp>
      <p:sp>
        <p:nvSpPr>
          <p:cNvPr id="6" name="Rectangle 5">
            <a:extLst>
              <a:ext uri="{FF2B5EF4-FFF2-40B4-BE49-F238E27FC236}">
                <a16:creationId xmlns:a16="http://schemas.microsoft.com/office/drawing/2014/main" id="{E01E8767-C055-485B-A544-AA4DD8B433FE}"/>
              </a:ext>
            </a:extLst>
          </p:cNvPr>
          <p:cNvSpPr>
            <a:spLocks noGrp="1"/>
          </p:cNvSpPr>
          <p:nvPr/>
        </p:nvSpPr>
        <p:spPr>
          <a:xfrm>
            <a:off x="1095375" y="2076450"/>
            <a:ext cx="4191000" cy="571500"/>
          </a:xfrm>
          <a:prstGeom prst="rect">
            <a:avLst/>
          </a:prstGeom>
          <a:noFill/>
          <a:ln w="0">
            <a:noFill/>
            <a:prstDash val="solid"/>
          </a:ln>
        </p:spPr>
        <p:txBody>
          <a:bodyPr anchor="ctr"/>
          <a:lstStyle/>
          <a:p>
            <a:pPr algn="l">
              <a:defRPr sz="2850" b="1">
                <a:solidFill>
                  <a:srgbClr val="5AA9FF"/>
                </a:solidFill>
              </a:defRPr>
            </a:pPr>
            <a:r>
              <a:rPr sz="2850" b="1">
                <a:solidFill>
                  <a:srgbClr val="5AA9FF"/>
                </a:solidFill>
              </a:rPr>
              <a:t>RMSE</a:t>
            </a:r>
          </a:p>
        </p:txBody>
      </p:sp>
      <p:sp>
        <p:nvSpPr>
          <p:cNvPr id="7" name="Rectangle 6">
            <a:extLst>
              <a:ext uri="{FF2B5EF4-FFF2-40B4-BE49-F238E27FC236}">
                <a16:creationId xmlns:a16="http://schemas.microsoft.com/office/drawing/2014/main" id="{2199C21F-478F-460F-BD9B-A719CCFC5A85}"/>
              </a:ext>
            </a:extLst>
          </p:cNvPr>
          <p:cNvSpPr>
            <a:spLocks noGrp="1"/>
          </p:cNvSpPr>
          <p:nvPr/>
        </p:nvSpPr>
        <p:spPr>
          <a:xfrm>
            <a:off x="1095375" y="2762250"/>
            <a:ext cx="4191000" cy="381000"/>
          </a:xfrm>
          <a:prstGeom prst="rect">
            <a:avLst/>
          </a:prstGeom>
          <a:noFill/>
          <a:ln w="0">
            <a:noFill/>
            <a:prstDash val="solid"/>
          </a:ln>
        </p:spPr>
        <p:txBody>
          <a:bodyPr anchor="ctr"/>
          <a:lstStyle/>
          <a:p>
            <a:pPr algn="l">
              <a:defRPr sz="1650" b="1">
                <a:solidFill>
                  <a:srgbClr val="F8FBFF"/>
                </a:solidFill>
              </a:defRPr>
            </a:pPr>
            <a:r>
              <a:rPr sz="1650" b="1">
                <a:solidFill>
                  <a:srgbClr val="F8FBFF"/>
                </a:solidFill>
              </a:rPr>
              <a:t>How close are predicted ratings?</a:t>
            </a:r>
          </a:p>
        </p:txBody>
      </p:sp>
      <p:sp>
        <p:nvSpPr>
          <p:cNvPr id="8" name="Rectangle 7">
            <a:extLst>
              <a:ext uri="{FF2B5EF4-FFF2-40B4-BE49-F238E27FC236}">
                <a16:creationId xmlns:a16="http://schemas.microsoft.com/office/drawing/2014/main" id="{221244DF-78E2-4331-963D-3BCC032BA108}"/>
              </a:ext>
            </a:extLst>
          </p:cNvPr>
          <p:cNvSpPr>
            <a:spLocks noGrp="1"/>
          </p:cNvSpPr>
          <p:nvPr/>
        </p:nvSpPr>
        <p:spPr>
          <a:xfrm>
            <a:off x="1095375" y="3333750"/>
            <a:ext cx="3905250" cy="1047750"/>
          </a:xfrm>
          <a:prstGeom prst="rect">
            <a:avLst/>
          </a:prstGeom>
          <a:noFill/>
          <a:ln w="0">
            <a:noFill/>
            <a:prstDash val="solid"/>
          </a:ln>
        </p:spPr>
        <p:txBody>
          <a:bodyPr anchor="ctr"/>
          <a:lstStyle/>
          <a:p>
            <a:pPr algn="l">
              <a:defRPr sz="1425" b="0">
                <a:solidFill>
                  <a:srgbClr val="A8B8C8"/>
                </a:solidFill>
              </a:defRPr>
            </a:pPr>
            <a:r>
              <a:rPr sz="1425" b="0">
                <a:solidFill>
                  <a:srgbClr val="A8B8C8"/>
                </a:solidFill>
              </a:rPr>
              <a:t>Penalises large errors</a:t>
            </a:r>
          </a:p>
          <a:p>
            <a:pPr algn="l">
              <a:defRPr sz="1425" b="0">
                <a:solidFill>
                  <a:srgbClr val="A8B8C8"/>
                </a:solidFill>
              </a:defRPr>
            </a:pPr>
            <a:r>
              <a:rPr sz="1425" b="0">
                <a:solidFill>
                  <a:srgbClr val="A8B8C8"/>
                </a:solidFill>
              </a:rPr>
              <a:t>Lower is better</a:t>
            </a:r>
          </a:p>
          <a:p>
            <a:pPr algn="l">
              <a:defRPr sz="1425" b="0">
                <a:solidFill>
                  <a:srgbClr val="A8B8C8"/>
                </a:solidFill>
              </a:defRPr>
            </a:pPr>
            <a:r>
              <a:rPr sz="1425" b="0">
                <a:solidFill>
                  <a:srgbClr val="A8B8C8"/>
                </a:solidFill>
              </a:rPr>
              <a:t>Easy to compare across folds</a:t>
            </a:r>
          </a:p>
        </p:txBody>
      </p:sp>
      <p:sp>
        <p:nvSpPr>
          <p:cNvPr id="9" name="Rectangle: Rounded Corners 8">
            <a:extLst>
              <a:ext uri="{FF2B5EF4-FFF2-40B4-BE49-F238E27FC236}">
                <a16:creationId xmlns:a16="http://schemas.microsoft.com/office/drawing/2014/main" id="{870BC36F-7A0E-43E7-A473-FB01FC4464DA}"/>
              </a:ext>
            </a:extLst>
          </p:cNvPr>
          <p:cNvSpPr>
            <a:spLocks noGrp="1"/>
          </p:cNvSpPr>
          <p:nvPr/>
        </p:nvSpPr>
        <p:spPr>
          <a:xfrm>
            <a:off x="6619875" y="1809750"/>
            <a:ext cx="4762500" cy="3143250"/>
          </a:xfrm>
          <a:prstGeom prst="roundRect">
            <a:avLst>
              <a:gd name="adj" fmla="val 3636"/>
            </a:avLst>
          </a:prstGeom>
          <a:solidFill>
            <a:srgbClr val="102A43"/>
          </a:solidFill>
          <a:ln w="0">
            <a:noFill/>
            <a:prstDash val="solid"/>
          </a:ln>
        </p:spPr>
        <p:txBody>
          <a:bodyPr/>
          <a:lstStyle/>
          <a:p>
            <a:endParaRPr lang="en-US"/>
          </a:p>
        </p:txBody>
      </p:sp>
      <p:sp>
        <p:nvSpPr>
          <p:cNvPr id="10" name="Rectangle 9">
            <a:extLst>
              <a:ext uri="{FF2B5EF4-FFF2-40B4-BE49-F238E27FC236}">
                <a16:creationId xmlns:a16="http://schemas.microsoft.com/office/drawing/2014/main" id="{A4E63965-2559-4C03-A5D8-ECDF65C00F15}"/>
              </a:ext>
            </a:extLst>
          </p:cNvPr>
          <p:cNvSpPr>
            <a:spLocks noGrp="1"/>
          </p:cNvSpPr>
          <p:nvPr/>
        </p:nvSpPr>
        <p:spPr>
          <a:xfrm>
            <a:off x="6905625" y="2076450"/>
            <a:ext cx="4191000" cy="571500"/>
          </a:xfrm>
          <a:prstGeom prst="rect">
            <a:avLst/>
          </a:prstGeom>
          <a:noFill/>
          <a:ln w="0">
            <a:noFill/>
            <a:prstDash val="solid"/>
          </a:ln>
        </p:spPr>
        <p:txBody>
          <a:bodyPr anchor="ctr"/>
          <a:lstStyle/>
          <a:p>
            <a:pPr algn="l">
              <a:defRPr sz="2850" b="1">
                <a:solidFill>
                  <a:srgbClr val="FFB547"/>
                </a:solidFill>
              </a:defRPr>
            </a:pPr>
            <a:r>
              <a:rPr sz="2850" b="1">
                <a:solidFill>
                  <a:srgbClr val="FFB547"/>
                </a:solidFill>
              </a:rPr>
              <a:t>NDCG@10</a:t>
            </a:r>
          </a:p>
        </p:txBody>
      </p:sp>
      <p:sp>
        <p:nvSpPr>
          <p:cNvPr id="11" name="Rectangle 10">
            <a:extLst>
              <a:ext uri="{FF2B5EF4-FFF2-40B4-BE49-F238E27FC236}">
                <a16:creationId xmlns:a16="http://schemas.microsoft.com/office/drawing/2014/main" id="{5E3B83B7-881C-4999-BCF0-3FA4DD9659A9}"/>
              </a:ext>
            </a:extLst>
          </p:cNvPr>
          <p:cNvSpPr>
            <a:spLocks noGrp="1"/>
          </p:cNvSpPr>
          <p:nvPr/>
        </p:nvSpPr>
        <p:spPr>
          <a:xfrm>
            <a:off x="6905625" y="2762250"/>
            <a:ext cx="4191000" cy="381000"/>
          </a:xfrm>
          <a:prstGeom prst="rect">
            <a:avLst/>
          </a:prstGeom>
          <a:noFill/>
          <a:ln w="0">
            <a:noFill/>
            <a:prstDash val="solid"/>
          </a:ln>
        </p:spPr>
        <p:txBody>
          <a:bodyPr anchor="ctr"/>
          <a:lstStyle/>
          <a:p>
            <a:pPr algn="l">
              <a:defRPr sz="1650" b="1">
                <a:solidFill>
                  <a:srgbClr val="F8FBFF"/>
                </a:solidFill>
              </a:defRPr>
            </a:pPr>
            <a:r>
              <a:rPr sz="1650" b="1">
                <a:solidFill>
                  <a:srgbClr val="F8FBFF"/>
                </a:solidFill>
              </a:rPr>
              <a:t>Are relevant films near the top?</a:t>
            </a:r>
          </a:p>
        </p:txBody>
      </p:sp>
      <p:sp>
        <p:nvSpPr>
          <p:cNvPr id="12" name="Rectangle 11">
            <a:extLst>
              <a:ext uri="{FF2B5EF4-FFF2-40B4-BE49-F238E27FC236}">
                <a16:creationId xmlns:a16="http://schemas.microsoft.com/office/drawing/2014/main" id="{63F20552-E1A9-4F7C-BED3-60D2287A021E}"/>
              </a:ext>
            </a:extLst>
          </p:cNvPr>
          <p:cNvSpPr>
            <a:spLocks noGrp="1"/>
          </p:cNvSpPr>
          <p:nvPr/>
        </p:nvSpPr>
        <p:spPr>
          <a:xfrm>
            <a:off x="6905625" y="3333750"/>
            <a:ext cx="3905250" cy="1047750"/>
          </a:xfrm>
          <a:prstGeom prst="rect">
            <a:avLst/>
          </a:prstGeom>
          <a:noFill/>
          <a:ln w="0">
            <a:noFill/>
            <a:prstDash val="solid"/>
          </a:ln>
        </p:spPr>
        <p:txBody>
          <a:bodyPr anchor="ctr"/>
          <a:lstStyle/>
          <a:p>
            <a:pPr algn="l">
              <a:defRPr sz="1425" b="0">
                <a:solidFill>
                  <a:srgbClr val="A8B8C8"/>
                </a:solidFill>
              </a:defRPr>
            </a:pPr>
            <a:r>
              <a:rPr sz="1425" b="0">
                <a:solidFill>
                  <a:srgbClr val="A8B8C8"/>
                </a:solidFill>
              </a:rPr>
              <a:t>Rewards correct ordering</a:t>
            </a:r>
          </a:p>
          <a:p>
            <a:pPr algn="l">
              <a:defRPr sz="1425" b="0">
                <a:solidFill>
                  <a:srgbClr val="A8B8C8"/>
                </a:solidFill>
              </a:defRPr>
            </a:pPr>
            <a:r>
              <a:rPr sz="1425" b="0">
                <a:solidFill>
                  <a:srgbClr val="A8B8C8"/>
                </a:solidFill>
              </a:rPr>
              <a:t>Discounts lower ranks</a:t>
            </a:r>
          </a:p>
          <a:p>
            <a:pPr algn="l">
              <a:defRPr sz="1425" b="0">
                <a:solidFill>
                  <a:srgbClr val="A8B8C8"/>
                </a:solidFill>
              </a:defRPr>
            </a:pPr>
            <a:r>
              <a:rPr sz="1425" b="0">
                <a:solidFill>
                  <a:srgbClr val="A8B8C8"/>
                </a:solidFill>
              </a:rPr>
              <a:t>Higher is better</a:t>
            </a:r>
          </a:p>
        </p:txBody>
      </p:sp>
      <p:sp>
        <p:nvSpPr>
          <p:cNvPr id="13" name="Rectangle 12">
            <a:extLst>
              <a:ext uri="{FF2B5EF4-FFF2-40B4-BE49-F238E27FC236}">
                <a16:creationId xmlns:a16="http://schemas.microsoft.com/office/drawing/2014/main" id="{CA9BB460-81A2-46FE-9312-62D012AE674A}"/>
              </a:ext>
            </a:extLst>
          </p:cNvPr>
          <p:cNvSpPr>
            <a:spLocks noGrp="1"/>
          </p:cNvSpPr>
          <p:nvPr/>
        </p:nvSpPr>
        <p:spPr>
          <a:xfrm>
            <a:off x="1047750" y="5334000"/>
            <a:ext cx="10096500" cy="381000"/>
          </a:xfrm>
          <a:prstGeom prst="rect">
            <a:avLst/>
          </a:prstGeom>
          <a:noFill/>
          <a:ln w="0">
            <a:noFill/>
            <a:prstDash val="solid"/>
          </a:ln>
        </p:spPr>
        <p:txBody>
          <a:bodyPr anchor="ctr"/>
          <a:lstStyle/>
          <a:p>
            <a:pPr algn="ctr">
              <a:defRPr sz="1425" b="1">
                <a:solidFill>
                  <a:srgbClr val="32D3C7"/>
                </a:solidFill>
              </a:defRPr>
            </a:pPr>
            <a:r>
              <a:rPr sz="1425" b="1">
                <a:solidFill>
                  <a:srgbClr val="32D3C7"/>
                </a:solidFill>
              </a:rPr>
              <a:t>Ranking protocol: held-out rating ≥4 vs up to 100 sampled unseen items</a:t>
            </a:r>
          </a:p>
        </p:txBody>
      </p:sp>
    </p:spTree>
    <p:extLst>
      <p:ext uri="{BB962C8B-B14F-4D97-AF65-F5344CB8AC3E}">
        <p14:creationId xmlns:p14="http://schemas.microsoft.com/office/powerpoint/2010/main" val="556750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541B672-146B-44F6-B989-5FE038AE4087}"/>
              </a:ext>
            </a:extLst>
          </p:cNvPr>
          <p:cNvSpPr>
            <a:spLocks noGrp="1"/>
          </p:cNvSpPr>
          <p:nvPr/>
        </p:nvSpPr>
        <p:spPr>
          <a:xfrm>
            <a:off x="609600" y="323850"/>
            <a:ext cx="4762500" cy="228600"/>
          </a:xfrm>
          <a:prstGeom prst="rect">
            <a:avLst/>
          </a:prstGeom>
          <a:noFill/>
          <a:ln w="0">
            <a:noFill/>
            <a:prstDash val="solid"/>
          </a:ln>
        </p:spPr>
        <p:txBody>
          <a:bodyPr anchor="ctr"/>
          <a:lstStyle/>
          <a:p>
            <a:pPr algn="l">
              <a:defRPr sz="975" b="1">
                <a:solidFill>
                  <a:srgbClr val="32D3C7"/>
                </a:solidFill>
              </a:defRPr>
            </a:pPr>
            <a:r>
              <a:rPr sz="975" b="1">
                <a:solidFill>
                  <a:srgbClr val="32D3C7"/>
                </a:solidFill>
              </a:rPr>
              <a:t>INTERPRETING RESULTS</a:t>
            </a:r>
          </a:p>
        </p:txBody>
      </p:sp>
      <p:sp>
        <p:nvSpPr>
          <p:cNvPr id="2" name="Rectangle 1">
            <a:extLst>
              <a:ext uri="{FF2B5EF4-FFF2-40B4-BE49-F238E27FC236}">
                <a16:creationId xmlns:a16="http://schemas.microsoft.com/office/drawing/2014/main" id="{7A23BDE0-FF4A-42EC-BFE7-B4A6DBBD7CE9}"/>
              </a:ext>
            </a:extLst>
          </p:cNvPr>
          <p:cNvSpPr>
            <a:spLocks noGrp="1"/>
          </p:cNvSpPr>
          <p:nvPr/>
        </p:nvSpPr>
        <p:spPr>
          <a:xfrm>
            <a:off x="609600" y="638175"/>
            <a:ext cx="10668000" cy="552450"/>
          </a:xfrm>
          <a:prstGeom prst="rect">
            <a:avLst/>
          </a:prstGeom>
          <a:noFill/>
          <a:ln w="0">
            <a:noFill/>
            <a:prstDash val="solid"/>
          </a:ln>
        </p:spPr>
        <p:txBody>
          <a:bodyPr anchor="ctr"/>
          <a:lstStyle/>
          <a:p>
            <a:pPr algn="l">
              <a:defRPr sz="2700" b="1">
                <a:solidFill>
                  <a:srgbClr val="F8FBFF"/>
                </a:solidFill>
              </a:defRPr>
            </a:pPr>
            <a:r>
              <a:rPr sz="2700" b="1">
                <a:solidFill>
                  <a:srgbClr val="F8FBFF"/>
                </a:solidFill>
              </a:rPr>
              <a:t>Robust evaluation reports uncertainty—not one lucky score</a:t>
            </a:r>
          </a:p>
        </p:txBody>
      </p:sp>
      <p:sp>
        <p:nvSpPr>
          <p:cNvPr id="3" name="Straight Connector 2">
            <a:extLst>
              <a:ext uri="{FF2B5EF4-FFF2-40B4-BE49-F238E27FC236}">
                <a16:creationId xmlns:a16="http://schemas.microsoft.com/office/drawing/2014/main" id="{E9730884-092F-46EA-B0E6-7FC6E73FA58A}"/>
              </a:ext>
            </a:extLst>
          </p:cNvPr>
          <p:cNvSpPr>
            <a:spLocks noGrp="1"/>
          </p:cNvSpPr>
          <p:nvPr/>
        </p:nvSpPr>
        <p:spPr>
          <a:xfrm>
            <a:off x="609600" y="1304925"/>
            <a:ext cx="10972800" cy="0"/>
          </a:xfrm>
          <a:prstGeom prst="line">
            <a:avLst/>
          </a:prstGeom>
          <a:ln w="9525">
            <a:solidFill>
              <a:srgbClr val="28445F"/>
            </a:solidFill>
            <a:prstDash val="solid"/>
          </a:ln>
        </p:spPr>
        <p:txBody>
          <a:bodyPr/>
          <a:lstStyle/>
          <a:p>
            <a:endParaRPr lang="en-US"/>
          </a:p>
        </p:txBody>
      </p:sp>
      <p:sp>
        <p:nvSpPr>
          <p:cNvPr id="4" name="Rectangle 3">
            <a:extLst>
              <a:ext uri="{FF2B5EF4-FFF2-40B4-BE49-F238E27FC236}">
                <a16:creationId xmlns:a16="http://schemas.microsoft.com/office/drawing/2014/main" id="{E7188D70-417B-4646-A56D-0EA420AE5C3A}"/>
              </a:ext>
            </a:extLst>
          </p:cNvPr>
          <p:cNvSpPr>
            <a:spLocks noGrp="1"/>
          </p:cNvSpPr>
          <p:nvPr/>
        </p:nvSpPr>
        <p:spPr>
          <a:xfrm>
            <a:off x="11239500" y="6238875"/>
            <a:ext cx="428625" cy="228600"/>
          </a:xfrm>
          <a:prstGeom prst="rect">
            <a:avLst/>
          </a:prstGeom>
          <a:noFill/>
          <a:ln w="0">
            <a:noFill/>
            <a:prstDash val="solid"/>
          </a:ln>
        </p:spPr>
        <p:txBody>
          <a:bodyPr anchor="ctr"/>
          <a:lstStyle/>
          <a:p>
            <a:pPr algn="r">
              <a:defRPr sz="900" b="1">
                <a:solidFill>
                  <a:srgbClr val="A8B8C8"/>
                </a:solidFill>
              </a:defRPr>
            </a:pPr>
            <a:r>
              <a:rPr sz="900" b="1">
                <a:solidFill>
                  <a:srgbClr val="A8B8C8"/>
                </a:solidFill>
              </a:rPr>
              <a:t>10</a:t>
            </a:r>
          </a:p>
        </p:txBody>
      </p:sp>
      <p:sp>
        <p:nvSpPr>
          <p:cNvPr id="5" name="Rectangle: Rounded Corners 4">
            <a:extLst>
              <a:ext uri="{FF2B5EF4-FFF2-40B4-BE49-F238E27FC236}">
                <a16:creationId xmlns:a16="http://schemas.microsoft.com/office/drawing/2014/main" id="{7850EAC6-777C-4A7E-A0F2-383C8ABAE80D}"/>
              </a:ext>
            </a:extLst>
          </p:cNvPr>
          <p:cNvSpPr>
            <a:spLocks noGrp="1"/>
          </p:cNvSpPr>
          <p:nvPr/>
        </p:nvSpPr>
        <p:spPr>
          <a:xfrm>
            <a:off x="762000" y="1762125"/>
            <a:ext cx="4953000" cy="3333750"/>
          </a:xfrm>
          <a:prstGeom prst="roundRect">
            <a:avLst>
              <a:gd name="adj" fmla="val 3429"/>
            </a:avLst>
          </a:prstGeom>
          <a:solidFill>
            <a:srgbClr val="102A43"/>
          </a:solidFill>
          <a:ln w="0">
            <a:noFill/>
            <a:prstDash val="solid"/>
          </a:ln>
        </p:spPr>
        <p:txBody>
          <a:bodyPr/>
          <a:lstStyle/>
          <a:p>
            <a:endParaRPr lang="en-US"/>
          </a:p>
        </p:txBody>
      </p:sp>
      <p:sp>
        <p:nvSpPr>
          <p:cNvPr id="6" name="Rectangle 5">
            <a:extLst>
              <a:ext uri="{FF2B5EF4-FFF2-40B4-BE49-F238E27FC236}">
                <a16:creationId xmlns:a16="http://schemas.microsoft.com/office/drawing/2014/main" id="{8520FA33-1C67-4D69-BB4B-2F4AE0661718}"/>
              </a:ext>
            </a:extLst>
          </p:cNvPr>
          <p:cNvSpPr>
            <a:spLocks noGrp="1"/>
          </p:cNvSpPr>
          <p:nvPr/>
        </p:nvSpPr>
        <p:spPr>
          <a:xfrm>
            <a:off x="1047750" y="2047875"/>
            <a:ext cx="4286250" cy="333375"/>
          </a:xfrm>
          <a:prstGeom prst="rect">
            <a:avLst/>
          </a:prstGeom>
          <a:noFill/>
          <a:ln w="0">
            <a:noFill/>
            <a:prstDash val="solid"/>
          </a:ln>
        </p:spPr>
        <p:txBody>
          <a:bodyPr anchor="ctr"/>
          <a:lstStyle/>
          <a:p>
            <a:pPr algn="l">
              <a:defRPr sz="1875" b="1">
                <a:solidFill>
                  <a:srgbClr val="32D3C7"/>
                </a:solidFill>
              </a:defRPr>
            </a:pPr>
            <a:r>
              <a:rPr sz="1875" b="1">
                <a:solidFill>
                  <a:srgbClr val="32D3C7"/>
                </a:solidFill>
              </a:rPr>
              <a:t>Evidence to report</a:t>
            </a:r>
          </a:p>
        </p:txBody>
      </p:sp>
      <p:sp>
        <p:nvSpPr>
          <p:cNvPr id="7" name="Rectangle 6">
            <a:extLst>
              <a:ext uri="{FF2B5EF4-FFF2-40B4-BE49-F238E27FC236}">
                <a16:creationId xmlns:a16="http://schemas.microsoft.com/office/drawing/2014/main" id="{C7ACA093-4663-4E27-B67A-F9C56BDDDAE1}"/>
              </a:ext>
            </a:extLst>
          </p:cNvPr>
          <p:cNvSpPr>
            <a:spLocks noGrp="1"/>
          </p:cNvSpPr>
          <p:nvPr/>
        </p:nvSpPr>
        <p:spPr>
          <a:xfrm>
            <a:off x="1047750" y="2619375"/>
            <a:ext cx="4191000" cy="2095500"/>
          </a:xfrm>
          <a:prstGeom prst="rect">
            <a:avLst/>
          </a:prstGeom>
          <a:noFill/>
          <a:ln w="0">
            <a:noFill/>
            <a:prstDash val="solid"/>
          </a:ln>
        </p:spPr>
        <p:txBody>
          <a:bodyPr anchor="ctr"/>
          <a:lstStyle/>
          <a:p>
            <a:pPr algn="l">
              <a:defRPr sz="1650" b="0">
                <a:solidFill>
                  <a:srgbClr val="F8FBFF"/>
                </a:solidFill>
              </a:defRPr>
            </a:pPr>
            <a:r>
              <a:rPr sz="1650" b="0">
                <a:solidFill>
                  <a:srgbClr val="F8FBFF"/>
                </a:solidFill>
              </a:rPr>
              <a:t>• Test RMSE</a:t>
            </a:r>
          </a:p>
          <a:p>
            <a:pPr algn="l">
              <a:defRPr sz="1650" b="0">
                <a:solidFill>
                  <a:srgbClr val="F8FBFF"/>
                </a:solidFill>
              </a:defRPr>
            </a:pPr>
            <a:r>
              <a:rPr sz="1650" b="0">
                <a:solidFill>
                  <a:srgbClr val="F8FBFF"/>
                </a:solidFill>
              </a:rPr>
              <a:t>• Sampled NDCG@10</a:t>
            </a:r>
          </a:p>
          <a:p>
            <a:pPr algn="l">
              <a:defRPr sz="1650" b="0">
                <a:solidFill>
                  <a:srgbClr val="F8FBFF"/>
                </a:solidFill>
              </a:defRPr>
            </a:pPr>
            <a:r>
              <a:rPr sz="1650" b="0">
                <a:solidFill>
                  <a:srgbClr val="F8FBFF"/>
                </a:solidFill>
              </a:rPr>
              <a:t>• 3-fold mean ± SD</a:t>
            </a:r>
          </a:p>
          <a:p>
            <a:pPr algn="l">
              <a:defRPr sz="1650" b="0">
                <a:solidFill>
                  <a:srgbClr val="F8FBFF"/>
                </a:solidFill>
              </a:defRPr>
            </a:pPr>
            <a:r>
              <a:rPr sz="1650" b="0">
                <a:solidFill>
                  <a:srgbClr val="F8FBFF"/>
                </a:solidFill>
              </a:rPr>
              <a:t>• Parameter count</a:t>
            </a:r>
          </a:p>
          <a:p>
            <a:pPr algn="l">
              <a:defRPr sz="1650" b="0">
                <a:solidFill>
                  <a:srgbClr val="F8FBFF"/>
                </a:solidFill>
              </a:defRPr>
            </a:pPr>
            <a:r>
              <a:rPr sz="1650" b="0">
                <a:solidFill>
                  <a:srgbClr val="F8FBFF"/>
                </a:solidFill>
              </a:rPr>
              <a:t>• Training and inference time</a:t>
            </a:r>
          </a:p>
        </p:txBody>
      </p:sp>
      <p:sp>
        <p:nvSpPr>
          <p:cNvPr id="8" name="Rectangle: Rounded Corners 7">
            <a:extLst>
              <a:ext uri="{FF2B5EF4-FFF2-40B4-BE49-F238E27FC236}">
                <a16:creationId xmlns:a16="http://schemas.microsoft.com/office/drawing/2014/main" id="{2E3859CB-672B-43EA-A2FA-64E9A89FAE49}"/>
              </a:ext>
            </a:extLst>
          </p:cNvPr>
          <p:cNvSpPr>
            <a:spLocks noGrp="1"/>
          </p:cNvSpPr>
          <p:nvPr/>
        </p:nvSpPr>
        <p:spPr>
          <a:xfrm>
            <a:off x="6477000" y="1762125"/>
            <a:ext cx="4953000" cy="3333750"/>
          </a:xfrm>
          <a:prstGeom prst="roundRect">
            <a:avLst>
              <a:gd name="adj" fmla="val 3429"/>
            </a:avLst>
          </a:prstGeom>
          <a:solidFill>
            <a:srgbClr val="0D2237"/>
          </a:solidFill>
          <a:ln w="9525">
            <a:solidFill>
              <a:srgbClr val="28445F"/>
            </a:solidFill>
            <a:prstDash val="solid"/>
          </a:ln>
        </p:spPr>
        <p:txBody>
          <a:bodyPr/>
          <a:lstStyle/>
          <a:p>
            <a:endParaRPr lang="en-US"/>
          </a:p>
        </p:txBody>
      </p:sp>
      <p:sp>
        <p:nvSpPr>
          <p:cNvPr id="9" name="Rectangle 8">
            <a:extLst>
              <a:ext uri="{FF2B5EF4-FFF2-40B4-BE49-F238E27FC236}">
                <a16:creationId xmlns:a16="http://schemas.microsoft.com/office/drawing/2014/main" id="{0B1AE77B-6D3F-4EC7-A705-96CDFD53CBE5}"/>
              </a:ext>
            </a:extLst>
          </p:cNvPr>
          <p:cNvSpPr>
            <a:spLocks noGrp="1"/>
          </p:cNvSpPr>
          <p:nvPr/>
        </p:nvSpPr>
        <p:spPr>
          <a:xfrm>
            <a:off x="6762750" y="2047875"/>
            <a:ext cx="4286250" cy="333375"/>
          </a:xfrm>
          <a:prstGeom prst="rect">
            <a:avLst/>
          </a:prstGeom>
          <a:noFill/>
          <a:ln w="0">
            <a:noFill/>
            <a:prstDash val="solid"/>
          </a:ln>
        </p:spPr>
        <p:txBody>
          <a:bodyPr anchor="ctr"/>
          <a:lstStyle/>
          <a:p>
            <a:pPr algn="l">
              <a:defRPr sz="1875" b="1">
                <a:solidFill>
                  <a:srgbClr val="FFB547"/>
                </a:solidFill>
              </a:defRPr>
            </a:pPr>
            <a:r>
              <a:rPr sz="1875" b="1">
                <a:solidFill>
                  <a:srgbClr val="FFB547"/>
                </a:solidFill>
              </a:rPr>
              <a:t>Decision rule</a:t>
            </a:r>
          </a:p>
        </p:txBody>
      </p:sp>
      <p:sp>
        <p:nvSpPr>
          <p:cNvPr id="10" name="Rectangle 9">
            <a:extLst>
              <a:ext uri="{FF2B5EF4-FFF2-40B4-BE49-F238E27FC236}">
                <a16:creationId xmlns:a16="http://schemas.microsoft.com/office/drawing/2014/main" id="{EAD8D8F8-2B21-462C-98D3-16F14D866362}"/>
              </a:ext>
            </a:extLst>
          </p:cNvPr>
          <p:cNvSpPr>
            <a:spLocks noGrp="1"/>
          </p:cNvSpPr>
          <p:nvPr/>
        </p:nvSpPr>
        <p:spPr>
          <a:xfrm>
            <a:off x="6762750" y="2667000"/>
            <a:ext cx="4095750" cy="1381125"/>
          </a:xfrm>
          <a:prstGeom prst="rect">
            <a:avLst/>
          </a:prstGeom>
          <a:noFill/>
          <a:ln w="0">
            <a:noFill/>
            <a:prstDash val="solid"/>
          </a:ln>
        </p:spPr>
        <p:txBody>
          <a:bodyPr anchor="ctr"/>
          <a:lstStyle/>
          <a:p>
            <a:pPr algn="l">
              <a:defRPr sz="1725" b="1">
                <a:solidFill>
                  <a:srgbClr val="F8FBFF"/>
                </a:solidFill>
              </a:defRPr>
            </a:pPr>
            <a:r>
              <a:rPr sz="1725" b="1">
                <a:solidFill>
                  <a:srgbClr val="F8FBFF"/>
                </a:solidFill>
              </a:rPr>
              <a:t>Choose NCF only when its ranking gain is meaningful, stable across folds, and worth the added latency and explanation burden.</a:t>
            </a:r>
          </a:p>
        </p:txBody>
      </p:sp>
      <p:sp>
        <p:nvSpPr>
          <p:cNvPr id="11" name="Rectangle 10">
            <a:extLst>
              <a:ext uri="{FF2B5EF4-FFF2-40B4-BE49-F238E27FC236}">
                <a16:creationId xmlns:a16="http://schemas.microsoft.com/office/drawing/2014/main" id="{19E15641-4ECB-44D2-901B-2BA042E46BCC}"/>
              </a:ext>
            </a:extLst>
          </p:cNvPr>
          <p:cNvSpPr>
            <a:spLocks noGrp="1"/>
          </p:cNvSpPr>
          <p:nvPr/>
        </p:nvSpPr>
        <p:spPr>
          <a:xfrm>
            <a:off x="6762750" y="4286250"/>
            <a:ext cx="4095750" cy="523875"/>
          </a:xfrm>
          <a:prstGeom prst="rect">
            <a:avLst/>
          </a:prstGeom>
          <a:noFill/>
          <a:ln w="0">
            <a:noFill/>
            <a:prstDash val="solid"/>
          </a:ln>
        </p:spPr>
        <p:txBody>
          <a:bodyPr anchor="ctr"/>
          <a:lstStyle/>
          <a:p>
            <a:pPr algn="l">
              <a:defRPr sz="1200" b="1">
                <a:solidFill>
                  <a:srgbClr val="32D3C7"/>
                </a:solidFill>
              </a:defRPr>
            </a:pPr>
            <a:r>
              <a:rPr sz="1200" b="1">
                <a:solidFill>
                  <a:srgbClr val="32D3C7"/>
                </a:solidFill>
              </a:rPr>
              <a:t>Final evidence comes directly from the reproducible notebook output.</a:t>
            </a:r>
          </a:p>
        </p:txBody>
      </p:sp>
    </p:spTree>
    <p:extLst>
      <p:ext uri="{BB962C8B-B14F-4D97-AF65-F5344CB8AC3E}">
        <p14:creationId xmlns:p14="http://schemas.microsoft.com/office/powerpoint/2010/main" val="57971248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EF6CE2C-6DB3-4B17-B15C-0CD0905719E4}"/>
              </a:ext>
            </a:extLst>
          </p:cNvPr>
          <p:cNvSpPr>
            <a:spLocks noGrp="1"/>
          </p:cNvSpPr>
          <p:nvPr/>
        </p:nvSpPr>
        <p:spPr>
          <a:xfrm>
            <a:off x="609600" y="323850"/>
            <a:ext cx="4762500" cy="228600"/>
          </a:xfrm>
          <a:prstGeom prst="rect">
            <a:avLst/>
          </a:prstGeom>
          <a:noFill/>
          <a:ln w="0">
            <a:noFill/>
            <a:prstDash val="solid"/>
          </a:ln>
        </p:spPr>
        <p:txBody>
          <a:bodyPr anchor="ctr"/>
          <a:lstStyle/>
          <a:p>
            <a:pPr algn="l">
              <a:defRPr sz="975" b="1">
                <a:solidFill>
                  <a:srgbClr val="32D3C7"/>
                </a:solidFill>
              </a:defRPr>
            </a:pPr>
            <a:r>
              <a:rPr sz="975" b="1">
                <a:solidFill>
                  <a:srgbClr val="32D3C7"/>
                </a:solidFill>
              </a:rPr>
              <a:t>EXPLAINABLE AI</a:t>
            </a:r>
          </a:p>
        </p:txBody>
      </p:sp>
      <p:sp>
        <p:nvSpPr>
          <p:cNvPr id="2" name="Rectangle 1">
            <a:extLst>
              <a:ext uri="{FF2B5EF4-FFF2-40B4-BE49-F238E27FC236}">
                <a16:creationId xmlns:a16="http://schemas.microsoft.com/office/drawing/2014/main" id="{2662BA5C-10EB-4459-9A30-B20A0D47AE86}"/>
              </a:ext>
            </a:extLst>
          </p:cNvPr>
          <p:cNvSpPr>
            <a:spLocks noGrp="1"/>
          </p:cNvSpPr>
          <p:nvPr/>
        </p:nvSpPr>
        <p:spPr>
          <a:xfrm>
            <a:off x="609600" y="638175"/>
            <a:ext cx="10668000" cy="552450"/>
          </a:xfrm>
          <a:prstGeom prst="rect">
            <a:avLst/>
          </a:prstGeom>
          <a:noFill/>
          <a:ln w="0">
            <a:noFill/>
            <a:prstDash val="solid"/>
          </a:ln>
        </p:spPr>
        <p:txBody>
          <a:bodyPr anchor="ctr"/>
          <a:lstStyle/>
          <a:p>
            <a:pPr algn="l">
              <a:defRPr sz="2700" b="1">
                <a:solidFill>
                  <a:srgbClr val="F8FBFF"/>
                </a:solidFill>
              </a:defRPr>
            </a:pPr>
            <a:r>
              <a:rPr sz="2700" b="1">
                <a:solidFill>
                  <a:srgbClr val="F8FBFF"/>
                </a:solidFill>
              </a:rPr>
              <a:t>Explainability reveals reliance—but does not prove causality</a:t>
            </a:r>
          </a:p>
        </p:txBody>
      </p:sp>
      <p:sp>
        <p:nvSpPr>
          <p:cNvPr id="3" name="Straight Connector 2">
            <a:extLst>
              <a:ext uri="{FF2B5EF4-FFF2-40B4-BE49-F238E27FC236}">
                <a16:creationId xmlns:a16="http://schemas.microsoft.com/office/drawing/2014/main" id="{1D05E77B-E68E-4822-91B7-F3A70C01D5F8}"/>
              </a:ext>
            </a:extLst>
          </p:cNvPr>
          <p:cNvSpPr>
            <a:spLocks noGrp="1"/>
          </p:cNvSpPr>
          <p:nvPr/>
        </p:nvSpPr>
        <p:spPr>
          <a:xfrm>
            <a:off x="609600" y="1304925"/>
            <a:ext cx="10972800" cy="0"/>
          </a:xfrm>
          <a:prstGeom prst="line">
            <a:avLst/>
          </a:prstGeom>
          <a:ln w="9525">
            <a:solidFill>
              <a:srgbClr val="28445F"/>
            </a:solidFill>
            <a:prstDash val="solid"/>
          </a:ln>
        </p:spPr>
        <p:txBody>
          <a:bodyPr/>
          <a:lstStyle/>
          <a:p>
            <a:endParaRPr lang="en-US"/>
          </a:p>
        </p:txBody>
      </p:sp>
      <p:sp>
        <p:nvSpPr>
          <p:cNvPr id="4" name="Rectangle 3">
            <a:extLst>
              <a:ext uri="{FF2B5EF4-FFF2-40B4-BE49-F238E27FC236}">
                <a16:creationId xmlns:a16="http://schemas.microsoft.com/office/drawing/2014/main" id="{1CE3456E-58AF-48CF-A9E7-91531C29E2D6}"/>
              </a:ext>
            </a:extLst>
          </p:cNvPr>
          <p:cNvSpPr>
            <a:spLocks noGrp="1"/>
          </p:cNvSpPr>
          <p:nvPr/>
        </p:nvSpPr>
        <p:spPr>
          <a:xfrm>
            <a:off x="11239500" y="6238875"/>
            <a:ext cx="428625" cy="228600"/>
          </a:xfrm>
          <a:prstGeom prst="rect">
            <a:avLst/>
          </a:prstGeom>
          <a:noFill/>
          <a:ln w="0">
            <a:noFill/>
            <a:prstDash val="solid"/>
          </a:ln>
        </p:spPr>
        <p:txBody>
          <a:bodyPr anchor="ctr"/>
          <a:lstStyle/>
          <a:p>
            <a:pPr algn="r">
              <a:defRPr sz="900" b="1">
                <a:solidFill>
                  <a:srgbClr val="A8B8C8"/>
                </a:solidFill>
              </a:defRPr>
            </a:pPr>
            <a:r>
              <a:rPr sz="900" b="1">
                <a:solidFill>
                  <a:srgbClr val="A8B8C8"/>
                </a:solidFill>
              </a:rPr>
              <a:t>11</a:t>
            </a:r>
          </a:p>
        </p:txBody>
      </p:sp>
      <p:sp>
        <p:nvSpPr>
          <p:cNvPr id="5" name="Rectangle: Rounded Corners 4">
            <a:extLst>
              <a:ext uri="{FF2B5EF4-FFF2-40B4-BE49-F238E27FC236}">
                <a16:creationId xmlns:a16="http://schemas.microsoft.com/office/drawing/2014/main" id="{A4B15A84-B71F-4D6B-87A7-BE691F71F0D6}"/>
              </a:ext>
            </a:extLst>
          </p:cNvPr>
          <p:cNvSpPr>
            <a:spLocks noGrp="1"/>
          </p:cNvSpPr>
          <p:nvPr/>
        </p:nvSpPr>
        <p:spPr>
          <a:xfrm>
            <a:off x="666750" y="1809750"/>
            <a:ext cx="5048250" cy="3238500"/>
          </a:xfrm>
          <a:prstGeom prst="roundRect">
            <a:avLst>
              <a:gd name="adj" fmla="val 3529"/>
            </a:avLst>
          </a:prstGeom>
          <a:solidFill>
            <a:srgbClr val="102A43"/>
          </a:solidFill>
          <a:ln w="0">
            <a:noFill/>
            <a:prstDash val="solid"/>
          </a:ln>
        </p:spPr>
        <p:txBody>
          <a:bodyPr/>
          <a:lstStyle/>
          <a:p>
            <a:endParaRPr lang="en-US"/>
          </a:p>
        </p:txBody>
      </p:sp>
      <p:sp>
        <p:nvSpPr>
          <p:cNvPr id="6" name="Rectangle 5">
            <a:extLst>
              <a:ext uri="{FF2B5EF4-FFF2-40B4-BE49-F238E27FC236}">
                <a16:creationId xmlns:a16="http://schemas.microsoft.com/office/drawing/2014/main" id="{33003042-7A23-44BD-AB45-2FF8053EF13C}"/>
              </a:ext>
            </a:extLst>
          </p:cNvPr>
          <p:cNvSpPr>
            <a:spLocks noGrp="1"/>
          </p:cNvSpPr>
          <p:nvPr/>
        </p:nvSpPr>
        <p:spPr>
          <a:xfrm>
            <a:off x="952500" y="2095500"/>
            <a:ext cx="4476750" cy="342900"/>
          </a:xfrm>
          <a:prstGeom prst="rect">
            <a:avLst/>
          </a:prstGeom>
          <a:noFill/>
          <a:ln w="0">
            <a:noFill/>
            <a:prstDash val="solid"/>
          </a:ln>
        </p:spPr>
        <p:txBody>
          <a:bodyPr anchor="ctr"/>
          <a:lstStyle/>
          <a:p>
            <a:pPr algn="l">
              <a:defRPr sz="1875" b="1">
                <a:solidFill>
                  <a:srgbClr val="5AA9FF"/>
                </a:solidFill>
              </a:defRPr>
            </a:pPr>
            <a:r>
              <a:rPr sz="1875" b="1">
                <a:solidFill>
                  <a:srgbClr val="5AA9FF"/>
                </a:solidFill>
              </a:rPr>
              <a:t>MF • local decomposition</a:t>
            </a:r>
          </a:p>
        </p:txBody>
      </p:sp>
      <p:sp>
        <p:nvSpPr>
          <p:cNvPr id="7" name="Rectangle 6">
            <a:extLst>
              <a:ext uri="{FF2B5EF4-FFF2-40B4-BE49-F238E27FC236}">
                <a16:creationId xmlns:a16="http://schemas.microsoft.com/office/drawing/2014/main" id="{452A6A47-037A-4E8D-A88B-F0E1C9FDB3C0}"/>
              </a:ext>
            </a:extLst>
          </p:cNvPr>
          <p:cNvSpPr>
            <a:spLocks noGrp="1"/>
          </p:cNvSpPr>
          <p:nvPr/>
        </p:nvSpPr>
        <p:spPr>
          <a:xfrm>
            <a:off x="952500" y="2714625"/>
            <a:ext cx="4000500" cy="1619250"/>
          </a:xfrm>
          <a:prstGeom prst="rect">
            <a:avLst/>
          </a:prstGeom>
          <a:noFill/>
          <a:ln w="0">
            <a:noFill/>
            <a:prstDash val="solid"/>
          </a:ln>
        </p:spPr>
        <p:txBody>
          <a:bodyPr anchor="ctr"/>
          <a:lstStyle/>
          <a:p>
            <a:pPr algn="l">
              <a:defRPr sz="1875" b="1">
                <a:solidFill>
                  <a:srgbClr val="F8FBFF"/>
                </a:solidFill>
              </a:defRPr>
            </a:pPr>
            <a:r>
              <a:rPr sz="1875" b="1">
                <a:solidFill>
                  <a:srgbClr val="F8FBFF"/>
                </a:solidFill>
              </a:rPr>
              <a:t>Global mean</a:t>
            </a:r>
          </a:p>
          <a:p>
            <a:pPr algn="l">
              <a:defRPr sz="1875" b="1">
                <a:solidFill>
                  <a:srgbClr val="F8FBFF"/>
                </a:solidFill>
              </a:defRPr>
            </a:pPr>
            <a:r>
              <a:rPr sz="1875" b="1">
                <a:solidFill>
                  <a:srgbClr val="F8FBFF"/>
                </a:solidFill>
              </a:rPr>
              <a:t>+ user bias</a:t>
            </a:r>
          </a:p>
          <a:p>
            <a:pPr algn="l">
              <a:defRPr sz="1875" b="1">
                <a:solidFill>
                  <a:srgbClr val="F8FBFF"/>
                </a:solidFill>
              </a:defRPr>
            </a:pPr>
            <a:r>
              <a:rPr sz="1875" b="1">
                <a:solidFill>
                  <a:srgbClr val="F8FBFF"/>
                </a:solidFill>
              </a:rPr>
              <a:t>+ movie bias</a:t>
            </a:r>
          </a:p>
          <a:p>
            <a:pPr algn="l">
              <a:defRPr sz="1875" b="1">
                <a:solidFill>
                  <a:srgbClr val="F8FBFF"/>
                </a:solidFill>
              </a:defRPr>
            </a:pPr>
            <a:r>
              <a:rPr sz="1875" b="1">
                <a:solidFill>
                  <a:srgbClr val="F8FBFF"/>
                </a:solidFill>
              </a:rPr>
              <a:t>+ latent interaction</a:t>
            </a:r>
          </a:p>
        </p:txBody>
      </p:sp>
      <p:sp>
        <p:nvSpPr>
          <p:cNvPr id="8" name="Rectangle 7">
            <a:extLst>
              <a:ext uri="{FF2B5EF4-FFF2-40B4-BE49-F238E27FC236}">
                <a16:creationId xmlns:a16="http://schemas.microsoft.com/office/drawing/2014/main" id="{81C850B5-85E7-4D0C-9845-462FC40EA67F}"/>
              </a:ext>
            </a:extLst>
          </p:cNvPr>
          <p:cNvSpPr>
            <a:spLocks noGrp="1"/>
          </p:cNvSpPr>
          <p:nvPr/>
        </p:nvSpPr>
        <p:spPr>
          <a:xfrm>
            <a:off x="952500" y="4476750"/>
            <a:ext cx="4286250" cy="285750"/>
          </a:xfrm>
          <a:prstGeom prst="rect">
            <a:avLst/>
          </a:prstGeom>
          <a:noFill/>
          <a:ln w="0">
            <a:noFill/>
            <a:prstDash val="solid"/>
          </a:ln>
        </p:spPr>
        <p:txBody>
          <a:bodyPr anchor="ctr"/>
          <a:lstStyle/>
          <a:p>
            <a:pPr algn="l">
              <a:defRPr sz="1275" b="0">
                <a:solidFill>
                  <a:srgbClr val="A8B8C8"/>
                </a:solidFill>
              </a:defRPr>
            </a:pPr>
            <a:r>
              <a:rPr sz="1275" b="0">
                <a:solidFill>
                  <a:srgbClr val="A8B8C8"/>
                </a:solidFill>
              </a:rPr>
              <a:t>Directly reconstructs one prediction</a:t>
            </a:r>
          </a:p>
        </p:txBody>
      </p:sp>
      <p:sp>
        <p:nvSpPr>
          <p:cNvPr id="9" name="Rectangle: Rounded Corners 8">
            <a:extLst>
              <a:ext uri="{FF2B5EF4-FFF2-40B4-BE49-F238E27FC236}">
                <a16:creationId xmlns:a16="http://schemas.microsoft.com/office/drawing/2014/main" id="{10D8210C-637F-445F-9C9E-5CE4356D5CDB}"/>
              </a:ext>
            </a:extLst>
          </p:cNvPr>
          <p:cNvSpPr>
            <a:spLocks noGrp="1"/>
          </p:cNvSpPr>
          <p:nvPr/>
        </p:nvSpPr>
        <p:spPr>
          <a:xfrm>
            <a:off x="6477000" y="1809750"/>
            <a:ext cx="5048250" cy="3238500"/>
          </a:xfrm>
          <a:prstGeom prst="roundRect">
            <a:avLst>
              <a:gd name="adj" fmla="val 3529"/>
            </a:avLst>
          </a:prstGeom>
          <a:solidFill>
            <a:srgbClr val="102A43"/>
          </a:solidFill>
          <a:ln w="0">
            <a:noFill/>
            <a:prstDash val="solid"/>
          </a:ln>
        </p:spPr>
        <p:txBody>
          <a:bodyPr/>
          <a:lstStyle/>
          <a:p>
            <a:endParaRPr lang="en-US"/>
          </a:p>
        </p:txBody>
      </p:sp>
      <p:sp>
        <p:nvSpPr>
          <p:cNvPr id="10" name="Rectangle 9">
            <a:extLst>
              <a:ext uri="{FF2B5EF4-FFF2-40B4-BE49-F238E27FC236}">
                <a16:creationId xmlns:a16="http://schemas.microsoft.com/office/drawing/2014/main" id="{4F2F5601-A6E2-4C58-895F-8A5878ABDB82}"/>
              </a:ext>
            </a:extLst>
          </p:cNvPr>
          <p:cNvSpPr>
            <a:spLocks noGrp="1"/>
          </p:cNvSpPr>
          <p:nvPr/>
        </p:nvSpPr>
        <p:spPr>
          <a:xfrm>
            <a:off x="6762750" y="2095500"/>
            <a:ext cx="4476750" cy="342900"/>
          </a:xfrm>
          <a:prstGeom prst="rect">
            <a:avLst/>
          </a:prstGeom>
          <a:noFill/>
          <a:ln w="0">
            <a:noFill/>
            <a:prstDash val="solid"/>
          </a:ln>
        </p:spPr>
        <p:txBody>
          <a:bodyPr anchor="ctr"/>
          <a:lstStyle/>
          <a:p>
            <a:pPr algn="l">
              <a:defRPr sz="1875" b="1">
                <a:solidFill>
                  <a:srgbClr val="FFB547"/>
                </a:solidFill>
              </a:defRPr>
            </a:pPr>
            <a:r>
              <a:rPr sz="1875" b="1">
                <a:solidFill>
                  <a:srgbClr val="FFB547"/>
                </a:solidFill>
              </a:rPr>
              <a:t>NCF • permutation importance</a:t>
            </a:r>
          </a:p>
        </p:txBody>
      </p:sp>
      <p:sp>
        <p:nvSpPr>
          <p:cNvPr id="11" name="Rectangle 10">
            <a:extLst>
              <a:ext uri="{FF2B5EF4-FFF2-40B4-BE49-F238E27FC236}">
                <a16:creationId xmlns:a16="http://schemas.microsoft.com/office/drawing/2014/main" id="{75B80A45-2BA5-4A43-A440-7B439EA56600}"/>
              </a:ext>
            </a:extLst>
          </p:cNvPr>
          <p:cNvSpPr>
            <a:spLocks noGrp="1"/>
          </p:cNvSpPr>
          <p:nvPr/>
        </p:nvSpPr>
        <p:spPr>
          <a:xfrm>
            <a:off x="6762750" y="2809875"/>
            <a:ext cx="4095750" cy="1190625"/>
          </a:xfrm>
          <a:prstGeom prst="rect">
            <a:avLst/>
          </a:prstGeom>
          <a:noFill/>
          <a:ln w="0">
            <a:noFill/>
            <a:prstDash val="solid"/>
          </a:ln>
        </p:spPr>
        <p:txBody>
          <a:bodyPr anchor="ctr"/>
          <a:lstStyle/>
          <a:p>
            <a:pPr algn="l">
              <a:defRPr sz="1875" b="1">
                <a:solidFill>
                  <a:srgbClr val="F8FBFF"/>
                </a:solidFill>
              </a:defRPr>
            </a:pPr>
            <a:r>
              <a:rPr sz="1875" b="1">
                <a:solidFill>
                  <a:srgbClr val="F8FBFF"/>
                </a:solidFill>
              </a:rPr>
              <a:t>Shuffle user IDs</a:t>
            </a:r>
          </a:p>
          <a:p>
            <a:pPr algn="l">
              <a:defRPr sz="1875" b="1">
                <a:solidFill>
                  <a:srgbClr val="F8FBFF"/>
                </a:solidFill>
              </a:defRPr>
            </a:pPr>
            <a:r>
              <a:rPr sz="1875" b="1">
                <a:solidFill>
                  <a:srgbClr val="F8FBFF"/>
                </a:solidFill>
              </a:rPr>
              <a:t>Shuffle movie IDs</a:t>
            </a:r>
          </a:p>
          <a:p>
            <a:pPr algn="l">
              <a:defRPr sz="1875" b="1">
                <a:solidFill>
                  <a:srgbClr val="F8FBFF"/>
                </a:solidFill>
              </a:defRPr>
            </a:pPr>
            <a:r>
              <a:rPr sz="1875" b="1">
                <a:solidFill>
                  <a:srgbClr val="F8FBFF"/>
                </a:solidFill>
              </a:rPr>
              <a:t>Measure RMSE increase</a:t>
            </a:r>
          </a:p>
        </p:txBody>
      </p:sp>
      <p:sp>
        <p:nvSpPr>
          <p:cNvPr id="12" name="Rectangle 11">
            <a:extLst>
              <a:ext uri="{FF2B5EF4-FFF2-40B4-BE49-F238E27FC236}">
                <a16:creationId xmlns:a16="http://schemas.microsoft.com/office/drawing/2014/main" id="{732CADBD-3214-4B89-A234-B17DD9072792}"/>
              </a:ext>
            </a:extLst>
          </p:cNvPr>
          <p:cNvSpPr>
            <a:spLocks noGrp="1"/>
          </p:cNvSpPr>
          <p:nvPr/>
        </p:nvSpPr>
        <p:spPr>
          <a:xfrm>
            <a:off x="6762750" y="4476750"/>
            <a:ext cx="4286250" cy="285750"/>
          </a:xfrm>
          <a:prstGeom prst="rect">
            <a:avLst/>
          </a:prstGeom>
          <a:noFill/>
          <a:ln w="0">
            <a:noFill/>
            <a:prstDash val="solid"/>
          </a:ln>
        </p:spPr>
        <p:txBody>
          <a:bodyPr anchor="ctr"/>
          <a:lstStyle/>
          <a:p>
            <a:pPr algn="l">
              <a:defRPr sz="1275" b="0">
                <a:solidFill>
                  <a:srgbClr val="A8B8C8"/>
                </a:solidFill>
              </a:defRPr>
            </a:pPr>
            <a:r>
              <a:rPr sz="1275" b="0">
                <a:solidFill>
                  <a:srgbClr val="A8B8C8"/>
                </a:solidFill>
              </a:rPr>
              <a:t>Shows global dependence, not causal influence</a:t>
            </a:r>
          </a:p>
        </p:txBody>
      </p:sp>
    </p:spTree>
    <p:extLst>
      <p:ext uri="{BB962C8B-B14F-4D97-AF65-F5344CB8AC3E}">
        <p14:creationId xmlns:p14="http://schemas.microsoft.com/office/powerpoint/2010/main" val="2111342781"/>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E2F73AF-1FA8-483C-972E-0BC911EBF688}"/>
              </a:ext>
            </a:extLst>
          </p:cNvPr>
          <p:cNvSpPr>
            <a:spLocks noGrp="1"/>
          </p:cNvSpPr>
          <p:nvPr/>
        </p:nvSpPr>
        <p:spPr>
          <a:xfrm>
            <a:off x="609600" y="323850"/>
            <a:ext cx="4762500" cy="228600"/>
          </a:xfrm>
          <a:prstGeom prst="rect">
            <a:avLst/>
          </a:prstGeom>
          <a:noFill/>
          <a:ln w="0">
            <a:noFill/>
            <a:prstDash val="solid"/>
          </a:ln>
        </p:spPr>
        <p:txBody>
          <a:bodyPr anchor="ctr"/>
          <a:lstStyle/>
          <a:p>
            <a:pPr algn="l">
              <a:defRPr sz="975" b="1">
                <a:solidFill>
                  <a:srgbClr val="32D3C7"/>
                </a:solidFill>
              </a:defRPr>
            </a:pPr>
            <a:r>
              <a:rPr sz="975" b="1">
                <a:solidFill>
                  <a:srgbClr val="32D3C7"/>
                </a:solidFill>
              </a:rPr>
              <a:t>BIAS DIAGNOSTICS</a:t>
            </a:r>
          </a:p>
        </p:txBody>
      </p:sp>
      <p:sp>
        <p:nvSpPr>
          <p:cNvPr id="2" name="Rectangle 1">
            <a:extLst>
              <a:ext uri="{FF2B5EF4-FFF2-40B4-BE49-F238E27FC236}">
                <a16:creationId xmlns:a16="http://schemas.microsoft.com/office/drawing/2014/main" id="{351A8A56-EE42-450C-90A7-837638ECF11A}"/>
              </a:ext>
            </a:extLst>
          </p:cNvPr>
          <p:cNvSpPr>
            <a:spLocks noGrp="1"/>
          </p:cNvSpPr>
          <p:nvPr/>
        </p:nvSpPr>
        <p:spPr>
          <a:xfrm>
            <a:off x="609600" y="638175"/>
            <a:ext cx="10668000" cy="552450"/>
          </a:xfrm>
          <a:prstGeom prst="rect">
            <a:avLst/>
          </a:prstGeom>
          <a:noFill/>
          <a:ln w="0">
            <a:noFill/>
            <a:prstDash val="solid"/>
          </a:ln>
        </p:spPr>
        <p:txBody>
          <a:bodyPr anchor="ctr"/>
          <a:lstStyle/>
          <a:p>
            <a:pPr algn="l">
              <a:defRPr sz="2700" b="1">
                <a:solidFill>
                  <a:srgbClr val="F8FBFF"/>
                </a:solidFill>
              </a:defRPr>
            </a:pPr>
            <a:r>
              <a:rPr sz="2700" b="1">
                <a:solidFill>
                  <a:srgbClr val="F8FBFF"/>
                </a:solidFill>
              </a:rPr>
              <a:t>Average performance can hide who receives weaker recommendations</a:t>
            </a:r>
          </a:p>
        </p:txBody>
      </p:sp>
      <p:sp>
        <p:nvSpPr>
          <p:cNvPr id="3" name="Straight Connector 2">
            <a:extLst>
              <a:ext uri="{FF2B5EF4-FFF2-40B4-BE49-F238E27FC236}">
                <a16:creationId xmlns:a16="http://schemas.microsoft.com/office/drawing/2014/main" id="{6232652A-C796-440A-9A03-223B309D8F83}"/>
              </a:ext>
            </a:extLst>
          </p:cNvPr>
          <p:cNvSpPr>
            <a:spLocks noGrp="1"/>
          </p:cNvSpPr>
          <p:nvPr/>
        </p:nvSpPr>
        <p:spPr>
          <a:xfrm>
            <a:off x="609600" y="1304925"/>
            <a:ext cx="10972800" cy="0"/>
          </a:xfrm>
          <a:prstGeom prst="line">
            <a:avLst/>
          </a:prstGeom>
          <a:ln w="9525">
            <a:solidFill>
              <a:srgbClr val="28445F"/>
            </a:solidFill>
            <a:prstDash val="solid"/>
          </a:ln>
        </p:spPr>
        <p:txBody>
          <a:bodyPr/>
          <a:lstStyle/>
          <a:p>
            <a:endParaRPr lang="en-US"/>
          </a:p>
        </p:txBody>
      </p:sp>
      <p:sp>
        <p:nvSpPr>
          <p:cNvPr id="4" name="Rectangle 3">
            <a:extLst>
              <a:ext uri="{FF2B5EF4-FFF2-40B4-BE49-F238E27FC236}">
                <a16:creationId xmlns:a16="http://schemas.microsoft.com/office/drawing/2014/main" id="{FAF59D89-136D-4F47-BB1F-EACB6C1F4091}"/>
              </a:ext>
            </a:extLst>
          </p:cNvPr>
          <p:cNvSpPr>
            <a:spLocks noGrp="1"/>
          </p:cNvSpPr>
          <p:nvPr/>
        </p:nvSpPr>
        <p:spPr>
          <a:xfrm>
            <a:off x="11239500" y="6238875"/>
            <a:ext cx="428625" cy="228600"/>
          </a:xfrm>
          <a:prstGeom prst="rect">
            <a:avLst/>
          </a:prstGeom>
          <a:noFill/>
          <a:ln w="0">
            <a:noFill/>
            <a:prstDash val="solid"/>
          </a:ln>
        </p:spPr>
        <p:txBody>
          <a:bodyPr anchor="ctr"/>
          <a:lstStyle/>
          <a:p>
            <a:pPr algn="r">
              <a:defRPr sz="900" b="1">
                <a:solidFill>
                  <a:srgbClr val="A8B8C8"/>
                </a:solidFill>
              </a:defRPr>
            </a:pPr>
            <a:r>
              <a:rPr sz="900" b="1">
                <a:solidFill>
                  <a:srgbClr val="A8B8C8"/>
                </a:solidFill>
              </a:rPr>
              <a:t>12</a:t>
            </a:r>
          </a:p>
        </p:txBody>
      </p:sp>
      <p:sp>
        <p:nvSpPr>
          <p:cNvPr id="5" name="Rectangle: Rounded Corners 4">
            <a:extLst>
              <a:ext uri="{FF2B5EF4-FFF2-40B4-BE49-F238E27FC236}">
                <a16:creationId xmlns:a16="http://schemas.microsoft.com/office/drawing/2014/main" id="{45867C09-B3CE-4727-B52A-C4443FC00A98}"/>
              </a:ext>
            </a:extLst>
          </p:cNvPr>
          <p:cNvSpPr>
            <a:spLocks noGrp="1"/>
          </p:cNvSpPr>
          <p:nvPr/>
        </p:nvSpPr>
        <p:spPr>
          <a:xfrm>
            <a:off x="857250" y="1952625"/>
            <a:ext cx="3143250" cy="1714500"/>
          </a:xfrm>
          <a:prstGeom prst="roundRect">
            <a:avLst>
              <a:gd name="adj" fmla="val 6667"/>
            </a:avLst>
          </a:prstGeom>
          <a:solidFill>
            <a:srgbClr val="102A43"/>
          </a:solidFill>
          <a:ln w="0">
            <a:noFill/>
            <a:prstDash val="solid"/>
          </a:ln>
        </p:spPr>
        <p:txBody>
          <a:bodyPr/>
          <a:lstStyle/>
          <a:p>
            <a:endParaRPr lang="en-US"/>
          </a:p>
        </p:txBody>
      </p:sp>
      <p:sp>
        <p:nvSpPr>
          <p:cNvPr id="6" name="Rectangle 5">
            <a:extLst>
              <a:ext uri="{FF2B5EF4-FFF2-40B4-BE49-F238E27FC236}">
                <a16:creationId xmlns:a16="http://schemas.microsoft.com/office/drawing/2014/main" id="{0D574888-39CF-4B22-B0BB-4A0D9E488ACD}"/>
              </a:ext>
            </a:extLst>
          </p:cNvPr>
          <p:cNvSpPr>
            <a:spLocks noGrp="1"/>
          </p:cNvSpPr>
          <p:nvPr/>
        </p:nvSpPr>
        <p:spPr>
          <a:xfrm>
            <a:off x="1047750" y="2190750"/>
            <a:ext cx="2762250" cy="381000"/>
          </a:xfrm>
          <a:prstGeom prst="rect">
            <a:avLst/>
          </a:prstGeom>
          <a:noFill/>
          <a:ln w="0">
            <a:noFill/>
            <a:prstDash val="solid"/>
          </a:ln>
        </p:spPr>
        <p:txBody>
          <a:bodyPr anchor="ctr"/>
          <a:lstStyle/>
          <a:p>
            <a:pPr algn="l">
              <a:defRPr sz="2025" b="1">
                <a:solidFill>
                  <a:srgbClr val="32D3C7"/>
                </a:solidFill>
              </a:defRPr>
            </a:pPr>
            <a:r>
              <a:rPr sz="2025" b="1">
                <a:solidFill>
                  <a:srgbClr val="32D3C7"/>
                </a:solidFill>
              </a:rPr>
              <a:t>Activity</a:t>
            </a:r>
          </a:p>
        </p:txBody>
      </p:sp>
      <p:sp>
        <p:nvSpPr>
          <p:cNvPr id="7" name="Rectangle 6">
            <a:extLst>
              <a:ext uri="{FF2B5EF4-FFF2-40B4-BE49-F238E27FC236}">
                <a16:creationId xmlns:a16="http://schemas.microsoft.com/office/drawing/2014/main" id="{18FDFE59-C368-4257-9F77-76A908EC879B}"/>
              </a:ext>
            </a:extLst>
          </p:cNvPr>
          <p:cNvSpPr>
            <a:spLocks noGrp="1"/>
          </p:cNvSpPr>
          <p:nvPr/>
        </p:nvSpPr>
        <p:spPr>
          <a:xfrm>
            <a:off x="1047750" y="2809875"/>
            <a:ext cx="2762250" cy="523875"/>
          </a:xfrm>
          <a:prstGeom prst="rect">
            <a:avLst/>
          </a:prstGeom>
          <a:noFill/>
          <a:ln w="0">
            <a:noFill/>
            <a:prstDash val="solid"/>
          </a:ln>
        </p:spPr>
        <p:txBody>
          <a:bodyPr anchor="ctr"/>
          <a:lstStyle/>
          <a:p>
            <a:pPr algn="l">
              <a:defRPr sz="1350" b="0">
                <a:solidFill>
                  <a:srgbClr val="F8FBFF"/>
                </a:solidFill>
              </a:defRPr>
            </a:pPr>
            <a:r>
              <a:rPr sz="1350" b="0">
                <a:solidFill>
                  <a:srgbClr val="F8FBFF"/>
                </a:solidFill>
              </a:rPr>
              <a:t>low • medium • high</a:t>
            </a:r>
          </a:p>
        </p:txBody>
      </p:sp>
      <p:sp>
        <p:nvSpPr>
          <p:cNvPr id="8" name="Rectangle: Rounded Corners 7">
            <a:extLst>
              <a:ext uri="{FF2B5EF4-FFF2-40B4-BE49-F238E27FC236}">
                <a16:creationId xmlns:a16="http://schemas.microsoft.com/office/drawing/2014/main" id="{1E9469CB-C5D3-4E8B-98EF-1FDF7A9A2136}"/>
              </a:ext>
            </a:extLst>
          </p:cNvPr>
          <p:cNvSpPr>
            <a:spLocks noGrp="1"/>
          </p:cNvSpPr>
          <p:nvPr/>
        </p:nvSpPr>
        <p:spPr>
          <a:xfrm>
            <a:off x="4524375" y="1952625"/>
            <a:ext cx="3143250" cy="1714500"/>
          </a:xfrm>
          <a:prstGeom prst="roundRect">
            <a:avLst>
              <a:gd name="adj" fmla="val 6667"/>
            </a:avLst>
          </a:prstGeom>
          <a:solidFill>
            <a:srgbClr val="102A43"/>
          </a:solidFill>
          <a:ln w="0">
            <a:noFill/>
            <a:prstDash val="solid"/>
          </a:ln>
        </p:spPr>
        <p:txBody>
          <a:bodyPr/>
          <a:lstStyle/>
          <a:p>
            <a:endParaRPr lang="en-US"/>
          </a:p>
        </p:txBody>
      </p:sp>
      <p:sp>
        <p:nvSpPr>
          <p:cNvPr id="9" name="Rectangle 8">
            <a:extLst>
              <a:ext uri="{FF2B5EF4-FFF2-40B4-BE49-F238E27FC236}">
                <a16:creationId xmlns:a16="http://schemas.microsoft.com/office/drawing/2014/main" id="{6B868F37-1415-4193-A948-35AAA2C17A72}"/>
              </a:ext>
            </a:extLst>
          </p:cNvPr>
          <p:cNvSpPr>
            <a:spLocks noGrp="1"/>
          </p:cNvSpPr>
          <p:nvPr/>
        </p:nvSpPr>
        <p:spPr>
          <a:xfrm>
            <a:off x="4714875" y="2190750"/>
            <a:ext cx="2762250" cy="381000"/>
          </a:xfrm>
          <a:prstGeom prst="rect">
            <a:avLst/>
          </a:prstGeom>
          <a:noFill/>
          <a:ln w="0">
            <a:noFill/>
            <a:prstDash val="solid"/>
          </a:ln>
        </p:spPr>
        <p:txBody>
          <a:bodyPr anchor="ctr"/>
          <a:lstStyle/>
          <a:p>
            <a:pPr algn="l">
              <a:defRPr sz="2025" b="1">
                <a:solidFill>
                  <a:srgbClr val="5AA9FF"/>
                </a:solidFill>
              </a:defRPr>
            </a:pPr>
            <a:r>
              <a:rPr sz="2025" b="1">
                <a:solidFill>
                  <a:srgbClr val="5AA9FF"/>
                </a:solidFill>
              </a:rPr>
              <a:t>Gender</a:t>
            </a:r>
          </a:p>
        </p:txBody>
      </p:sp>
      <p:sp>
        <p:nvSpPr>
          <p:cNvPr id="10" name="Rectangle 9">
            <a:extLst>
              <a:ext uri="{FF2B5EF4-FFF2-40B4-BE49-F238E27FC236}">
                <a16:creationId xmlns:a16="http://schemas.microsoft.com/office/drawing/2014/main" id="{200B6ABA-D9DD-4BCD-A2EE-789187BC0744}"/>
              </a:ext>
            </a:extLst>
          </p:cNvPr>
          <p:cNvSpPr>
            <a:spLocks noGrp="1"/>
          </p:cNvSpPr>
          <p:nvPr/>
        </p:nvSpPr>
        <p:spPr>
          <a:xfrm>
            <a:off x="4714875" y="2809875"/>
            <a:ext cx="2762250" cy="523875"/>
          </a:xfrm>
          <a:prstGeom prst="rect">
            <a:avLst/>
          </a:prstGeom>
          <a:noFill/>
          <a:ln w="0">
            <a:noFill/>
            <a:prstDash val="solid"/>
          </a:ln>
        </p:spPr>
        <p:txBody>
          <a:bodyPr anchor="ctr"/>
          <a:lstStyle/>
          <a:p>
            <a:pPr algn="l">
              <a:defRPr sz="1350" b="0">
                <a:solidFill>
                  <a:srgbClr val="F8FBFF"/>
                </a:solidFill>
              </a:defRPr>
            </a:pPr>
            <a:r>
              <a:rPr sz="1350" b="0">
                <a:solidFill>
                  <a:srgbClr val="F8FBFF"/>
                </a:solidFill>
              </a:rPr>
              <a:t>dataset categories</a:t>
            </a:r>
          </a:p>
        </p:txBody>
      </p:sp>
      <p:sp>
        <p:nvSpPr>
          <p:cNvPr id="11" name="Rectangle: Rounded Corners 10">
            <a:extLst>
              <a:ext uri="{FF2B5EF4-FFF2-40B4-BE49-F238E27FC236}">
                <a16:creationId xmlns:a16="http://schemas.microsoft.com/office/drawing/2014/main" id="{DC643CEE-34CC-43B9-8768-C02A0C9A4C24}"/>
              </a:ext>
            </a:extLst>
          </p:cNvPr>
          <p:cNvSpPr>
            <a:spLocks noGrp="1"/>
          </p:cNvSpPr>
          <p:nvPr/>
        </p:nvSpPr>
        <p:spPr>
          <a:xfrm>
            <a:off x="8191500" y="1952625"/>
            <a:ext cx="3143250" cy="1714500"/>
          </a:xfrm>
          <a:prstGeom prst="roundRect">
            <a:avLst>
              <a:gd name="adj" fmla="val 6667"/>
            </a:avLst>
          </a:prstGeom>
          <a:solidFill>
            <a:srgbClr val="102A43"/>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0D35F5AE-C9CE-4500-9F38-D21EBDF1C2FF}"/>
              </a:ext>
            </a:extLst>
          </p:cNvPr>
          <p:cNvSpPr>
            <a:spLocks noGrp="1"/>
          </p:cNvSpPr>
          <p:nvPr/>
        </p:nvSpPr>
        <p:spPr>
          <a:xfrm>
            <a:off x="8382000" y="2190750"/>
            <a:ext cx="2762250" cy="381000"/>
          </a:xfrm>
          <a:prstGeom prst="rect">
            <a:avLst/>
          </a:prstGeom>
          <a:noFill/>
          <a:ln w="0">
            <a:noFill/>
            <a:prstDash val="solid"/>
          </a:ln>
        </p:spPr>
        <p:txBody>
          <a:bodyPr anchor="ctr"/>
          <a:lstStyle/>
          <a:p>
            <a:pPr algn="l">
              <a:defRPr sz="2025" b="1">
                <a:solidFill>
                  <a:srgbClr val="FFB547"/>
                </a:solidFill>
              </a:defRPr>
            </a:pPr>
            <a:r>
              <a:rPr sz="2025" b="1">
                <a:solidFill>
                  <a:srgbClr val="FFB547"/>
                </a:solidFill>
              </a:rPr>
              <a:t>Age band</a:t>
            </a:r>
          </a:p>
        </p:txBody>
      </p:sp>
      <p:sp>
        <p:nvSpPr>
          <p:cNvPr id="13" name="Rectangle 12">
            <a:extLst>
              <a:ext uri="{FF2B5EF4-FFF2-40B4-BE49-F238E27FC236}">
                <a16:creationId xmlns:a16="http://schemas.microsoft.com/office/drawing/2014/main" id="{A6802127-5BAA-4820-815C-CC0147171893}"/>
              </a:ext>
            </a:extLst>
          </p:cNvPr>
          <p:cNvSpPr>
            <a:spLocks noGrp="1"/>
          </p:cNvSpPr>
          <p:nvPr/>
        </p:nvSpPr>
        <p:spPr>
          <a:xfrm>
            <a:off x="8382000" y="2809875"/>
            <a:ext cx="2762250" cy="523875"/>
          </a:xfrm>
          <a:prstGeom prst="rect">
            <a:avLst/>
          </a:prstGeom>
          <a:noFill/>
          <a:ln w="0">
            <a:noFill/>
            <a:prstDash val="solid"/>
          </a:ln>
        </p:spPr>
        <p:txBody>
          <a:bodyPr anchor="ctr"/>
          <a:lstStyle/>
          <a:p>
            <a:pPr algn="l">
              <a:defRPr sz="1350" b="0">
                <a:solidFill>
                  <a:srgbClr val="F8FBFF"/>
                </a:solidFill>
              </a:defRPr>
            </a:pPr>
            <a:r>
              <a:rPr sz="1350" b="0">
                <a:solidFill>
                  <a:srgbClr val="F8FBFF"/>
                </a:solidFill>
              </a:rPr>
              <a:t>&lt;25 • 25–34 • 35–49 • 50+</a:t>
            </a:r>
          </a:p>
        </p:txBody>
      </p:sp>
      <p:sp>
        <p:nvSpPr>
          <p:cNvPr id="14" name="Rectangle: Rounded Corners 13">
            <a:extLst>
              <a:ext uri="{FF2B5EF4-FFF2-40B4-BE49-F238E27FC236}">
                <a16:creationId xmlns:a16="http://schemas.microsoft.com/office/drawing/2014/main" id="{3BC9A11A-E62A-4EF1-903C-6003574C6964}"/>
              </a:ext>
            </a:extLst>
          </p:cNvPr>
          <p:cNvSpPr>
            <a:spLocks noGrp="1"/>
          </p:cNvSpPr>
          <p:nvPr/>
        </p:nvSpPr>
        <p:spPr>
          <a:xfrm>
            <a:off x="1666875" y="4286250"/>
            <a:ext cx="8858250" cy="904875"/>
          </a:xfrm>
          <a:prstGeom prst="roundRect">
            <a:avLst>
              <a:gd name="adj" fmla="val 12632"/>
            </a:avLst>
          </a:prstGeom>
          <a:solidFill>
            <a:srgbClr val="0D2237"/>
          </a:solidFill>
          <a:ln w="9525">
            <a:solidFill>
              <a:srgbClr val="28445F"/>
            </a:solidFill>
            <a:prstDash val="solid"/>
          </a:ln>
        </p:spPr>
        <p:txBody>
          <a:bodyPr/>
          <a:lstStyle/>
          <a:p>
            <a:endParaRPr lang="en-US"/>
          </a:p>
        </p:txBody>
      </p:sp>
      <p:sp>
        <p:nvSpPr>
          <p:cNvPr id="15" name="Rectangle 14">
            <a:extLst>
              <a:ext uri="{FF2B5EF4-FFF2-40B4-BE49-F238E27FC236}">
                <a16:creationId xmlns:a16="http://schemas.microsoft.com/office/drawing/2014/main" id="{01976C79-0A5D-4038-9808-E0ECDEB01B98}"/>
              </a:ext>
            </a:extLst>
          </p:cNvPr>
          <p:cNvSpPr>
            <a:spLocks noGrp="1"/>
          </p:cNvSpPr>
          <p:nvPr/>
        </p:nvSpPr>
        <p:spPr>
          <a:xfrm>
            <a:off x="1857375" y="4286250"/>
            <a:ext cx="8477250" cy="904875"/>
          </a:xfrm>
          <a:prstGeom prst="rect">
            <a:avLst/>
          </a:prstGeom>
          <a:noFill/>
          <a:ln w="0">
            <a:noFill/>
            <a:prstDash val="solid"/>
          </a:ln>
        </p:spPr>
        <p:txBody>
          <a:bodyPr anchor="ctr"/>
          <a:lstStyle/>
          <a:p>
            <a:pPr algn="ctr">
              <a:defRPr sz="1725" b="1">
                <a:solidFill>
                  <a:srgbClr val="F8FBFF"/>
                </a:solidFill>
              </a:defRPr>
            </a:pPr>
            <a:r>
              <a:rPr sz="1725" b="1">
                <a:solidFill>
                  <a:srgbClr val="F8FBFF"/>
                </a:solidFill>
              </a:rPr>
              <a:t>Fairness audit = RMSE + group size + ranking/exposure + intersectional review</a:t>
            </a:r>
          </a:p>
        </p:txBody>
      </p:sp>
      <p:sp>
        <p:nvSpPr>
          <p:cNvPr id="16" name="Rectangle 15">
            <a:extLst>
              <a:ext uri="{FF2B5EF4-FFF2-40B4-BE49-F238E27FC236}">
                <a16:creationId xmlns:a16="http://schemas.microsoft.com/office/drawing/2014/main" id="{5E681C69-57B4-4907-9980-04A256218136}"/>
              </a:ext>
            </a:extLst>
          </p:cNvPr>
          <p:cNvSpPr>
            <a:spLocks noGrp="1"/>
          </p:cNvSpPr>
          <p:nvPr/>
        </p:nvSpPr>
        <p:spPr>
          <a:xfrm>
            <a:off x="1857375" y="5476875"/>
            <a:ext cx="8477250" cy="304800"/>
          </a:xfrm>
          <a:prstGeom prst="rect">
            <a:avLst/>
          </a:prstGeom>
          <a:noFill/>
          <a:ln w="0">
            <a:noFill/>
            <a:prstDash val="solid"/>
          </a:ln>
        </p:spPr>
        <p:txBody>
          <a:bodyPr anchor="ctr"/>
          <a:lstStyle/>
          <a:p>
            <a:pPr algn="ctr">
              <a:defRPr sz="1275" b="0">
                <a:solidFill>
                  <a:srgbClr val="A8B8C8"/>
                </a:solidFill>
              </a:defRPr>
            </a:pPr>
            <a:r>
              <a:rPr sz="1275" b="0">
                <a:solidFill>
                  <a:srgbClr val="A8B8C8"/>
                </a:solidFill>
              </a:rPr>
              <a:t>Demographics are used only after prediction—not as model inputs.</a:t>
            </a:r>
          </a:p>
        </p:txBody>
      </p:sp>
    </p:spTree>
    <p:extLst>
      <p:ext uri="{BB962C8B-B14F-4D97-AF65-F5344CB8AC3E}">
        <p14:creationId xmlns:p14="http://schemas.microsoft.com/office/powerpoint/2010/main" val="1602507776"/>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9649E79-D866-4D86-9472-0A810DBE7D50}"/>
              </a:ext>
            </a:extLst>
          </p:cNvPr>
          <p:cNvSpPr>
            <a:spLocks noGrp="1"/>
          </p:cNvSpPr>
          <p:nvPr/>
        </p:nvSpPr>
        <p:spPr>
          <a:xfrm>
            <a:off x="609600" y="323850"/>
            <a:ext cx="4762500" cy="228600"/>
          </a:xfrm>
          <a:prstGeom prst="rect">
            <a:avLst/>
          </a:prstGeom>
          <a:noFill/>
          <a:ln w="0">
            <a:noFill/>
            <a:prstDash val="solid"/>
          </a:ln>
        </p:spPr>
        <p:txBody>
          <a:bodyPr anchor="ctr"/>
          <a:lstStyle/>
          <a:p>
            <a:pPr algn="l">
              <a:defRPr sz="975" b="1">
                <a:solidFill>
                  <a:srgbClr val="32D3C7"/>
                </a:solidFill>
              </a:defRPr>
            </a:pPr>
            <a:r>
              <a:rPr sz="975" b="1">
                <a:solidFill>
                  <a:srgbClr val="32D3C7"/>
                </a:solidFill>
              </a:rPr>
              <a:t>ETHICAL IMPLICATIONS</a:t>
            </a:r>
          </a:p>
        </p:txBody>
      </p:sp>
      <p:sp>
        <p:nvSpPr>
          <p:cNvPr id="2" name="Rectangle 1">
            <a:extLst>
              <a:ext uri="{FF2B5EF4-FFF2-40B4-BE49-F238E27FC236}">
                <a16:creationId xmlns:a16="http://schemas.microsoft.com/office/drawing/2014/main" id="{E02B947C-24F8-4F13-918F-63BD49B5E643}"/>
              </a:ext>
            </a:extLst>
          </p:cNvPr>
          <p:cNvSpPr>
            <a:spLocks noGrp="1"/>
          </p:cNvSpPr>
          <p:nvPr/>
        </p:nvSpPr>
        <p:spPr>
          <a:xfrm>
            <a:off x="609600" y="638175"/>
            <a:ext cx="10668000" cy="552450"/>
          </a:xfrm>
          <a:prstGeom prst="rect">
            <a:avLst/>
          </a:prstGeom>
          <a:noFill/>
          <a:ln w="0">
            <a:noFill/>
            <a:prstDash val="solid"/>
          </a:ln>
        </p:spPr>
        <p:txBody>
          <a:bodyPr anchor="ctr"/>
          <a:lstStyle/>
          <a:p>
            <a:pPr algn="l">
              <a:defRPr sz="2700" b="1">
                <a:solidFill>
                  <a:srgbClr val="F8FBFF"/>
                </a:solidFill>
              </a:defRPr>
            </a:pPr>
            <a:r>
              <a:rPr sz="2700" b="1">
                <a:solidFill>
                  <a:srgbClr val="F8FBFF"/>
                </a:solidFill>
              </a:rPr>
              <a:t>Recommendation errors affect privacy, autonomy and cultural exposure</a:t>
            </a:r>
          </a:p>
        </p:txBody>
      </p:sp>
      <p:sp>
        <p:nvSpPr>
          <p:cNvPr id="3" name="Straight Connector 2">
            <a:extLst>
              <a:ext uri="{FF2B5EF4-FFF2-40B4-BE49-F238E27FC236}">
                <a16:creationId xmlns:a16="http://schemas.microsoft.com/office/drawing/2014/main" id="{1C479038-395F-405E-A313-073ECA1F3200}"/>
              </a:ext>
            </a:extLst>
          </p:cNvPr>
          <p:cNvSpPr>
            <a:spLocks noGrp="1"/>
          </p:cNvSpPr>
          <p:nvPr/>
        </p:nvSpPr>
        <p:spPr>
          <a:xfrm>
            <a:off x="609600" y="1304925"/>
            <a:ext cx="10972800" cy="0"/>
          </a:xfrm>
          <a:prstGeom prst="line">
            <a:avLst/>
          </a:prstGeom>
          <a:ln w="9525">
            <a:solidFill>
              <a:srgbClr val="28445F"/>
            </a:solidFill>
            <a:prstDash val="solid"/>
          </a:ln>
        </p:spPr>
        <p:txBody>
          <a:bodyPr/>
          <a:lstStyle/>
          <a:p>
            <a:endParaRPr lang="en-US"/>
          </a:p>
        </p:txBody>
      </p:sp>
      <p:sp>
        <p:nvSpPr>
          <p:cNvPr id="4" name="Rectangle 3">
            <a:extLst>
              <a:ext uri="{FF2B5EF4-FFF2-40B4-BE49-F238E27FC236}">
                <a16:creationId xmlns:a16="http://schemas.microsoft.com/office/drawing/2014/main" id="{4DB48617-6DF4-437F-AE24-C6AAD4ECA98F}"/>
              </a:ext>
            </a:extLst>
          </p:cNvPr>
          <p:cNvSpPr>
            <a:spLocks noGrp="1"/>
          </p:cNvSpPr>
          <p:nvPr/>
        </p:nvSpPr>
        <p:spPr>
          <a:xfrm>
            <a:off x="11239500" y="6238875"/>
            <a:ext cx="428625" cy="228600"/>
          </a:xfrm>
          <a:prstGeom prst="rect">
            <a:avLst/>
          </a:prstGeom>
          <a:noFill/>
          <a:ln w="0">
            <a:noFill/>
            <a:prstDash val="solid"/>
          </a:ln>
        </p:spPr>
        <p:txBody>
          <a:bodyPr anchor="ctr"/>
          <a:lstStyle/>
          <a:p>
            <a:pPr algn="r">
              <a:defRPr sz="900" b="1">
                <a:solidFill>
                  <a:srgbClr val="A8B8C8"/>
                </a:solidFill>
              </a:defRPr>
            </a:pPr>
            <a:r>
              <a:rPr sz="900" b="1">
                <a:solidFill>
                  <a:srgbClr val="A8B8C8"/>
                </a:solidFill>
              </a:rPr>
              <a:t>13</a:t>
            </a:r>
          </a:p>
        </p:txBody>
      </p:sp>
      <p:sp>
        <p:nvSpPr>
          <p:cNvPr id="5" name="Rectangle: Rounded Corners 4">
            <a:extLst>
              <a:ext uri="{FF2B5EF4-FFF2-40B4-BE49-F238E27FC236}">
                <a16:creationId xmlns:a16="http://schemas.microsoft.com/office/drawing/2014/main" id="{23F2E422-4440-4AC3-AF31-E4CE80A066E3}"/>
              </a:ext>
            </a:extLst>
          </p:cNvPr>
          <p:cNvSpPr>
            <a:spLocks noGrp="1"/>
          </p:cNvSpPr>
          <p:nvPr/>
        </p:nvSpPr>
        <p:spPr>
          <a:xfrm>
            <a:off x="619125" y="1809750"/>
            <a:ext cx="2571750" cy="2857500"/>
          </a:xfrm>
          <a:prstGeom prst="roundRect">
            <a:avLst>
              <a:gd name="adj" fmla="val 4444"/>
            </a:avLst>
          </a:prstGeom>
          <a:solidFill>
            <a:srgbClr val="102A43"/>
          </a:solidFill>
          <a:ln w="0">
            <a:noFill/>
            <a:prstDash val="solid"/>
          </a:ln>
        </p:spPr>
        <p:txBody>
          <a:bodyPr/>
          <a:lstStyle/>
          <a:p>
            <a:endParaRPr lang="en-US"/>
          </a:p>
        </p:txBody>
      </p:sp>
      <p:sp>
        <p:nvSpPr>
          <p:cNvPr id="6" name="Rectangle 5">
            <a:extLst>
              <a:ext uri="{FF2B5EF4-FFF2-40B4-BE49-F238E27FC236}">
                <a16:creationId xmlns:a16="http://schemas.microsoft.com/office/drawing/2014/main" id="{A991AE2E-4053-4A4A-A592-E40AB1BF3ABB}"/>
              </a:ext>
            </a:extLst>
          </p:cNvPr>
          <p:cNvSpPr>
            <a:spLocks noGrp="1"/>
          </p:cNvSpPr>
          <p:nvPr/>
        </p:nvSpPr>
        <p:spPr>
          <a:xfrm>
            <a:off x="619125" y="1809750"/>
            <a:ext cx="2571750" cy="95250"/>
          </a:xfrm>
          <a:prstGeom prst="rect">
            <a:avLst/>
          </a:prstGeom>
          <a:solidFill>
            <a:srgbClr val="32D3C7"/>
          </a:solidFill>
          <a:ln w="0">
            <a:noFill/>
            <a:prstDash val="solid"/>
          </a:ln>
        </p:spPr>
        <p:txBody>
          <a:bodyPr/>
          <a:lstStyle/>
          <a:p>
            <a:endParaRPr lang="en-US"/>
          </a:p>
        </p:txBody>
      </p:sp>
      <p:sp>
        <p:nvSpPr>
          <p:cNvPr id="7" name="Rectangle 6">
            <a:extLst>
              <a:ext uri="{FF2B5EF4-FFF2-40B4-BE49-F238E27FC236}">
                <a16:creationId xmlns:a16="http://schemas.microsoft.com/office/drawing/2014/main" id="{23A64F2A-0B20-4ABD-8426-A76F226A3E17}"/>
              </a:ext>
            </a:extLst>
          </p:cNvPr>
          <p:cNvSpPr>
            <a:spLocks noGrp="1"/>
          </p:cNvSpPr>
          <p:nvPr/>
        </p:nvSpPr>
        <p:spPr>
          <a:xfrm>
            <a:off x="809625" y="2143125"/>
            <a:ext cx="2190750" cy="400050"/>
          </a:xfrm>
          <a:prstGeom prst="rect">
            <a:avLst/>
          </a:prstGeom>
          <a:noFill/>
          <a:ln w="0">
            <a:noFill/>
            <a:prstDash val="solid"/>
          </a:ln>
        </p:spPr>
        <p:txBody>
          <a:bodyPr anchor="ctr"/>
          <a:lstStyle/>
          <a:p>
            <a:pPr algn="l">
              <a:defRPr sz="1725" b="1">
                <a:solidFill>
                  <a:srgbClr val="32D3C7"/>
                </a:solidFill>
              </a:defRPr>
            </a:pPr>
            <a:r>
              <a:rPr sz="1725" b="1">
                <a:solidFill>
                  <a:srgbClr val="32D3C7"/>
                </a:solidFill>
              </a:rPr>
              <a:t>Privacy</a:t>
            </a:r>
          </a:p>
        </p:txBody>
      </p:sp>
      <p:sp>
        <p:nvSpPr>
          <p:cNvPr id="8" name="Rectangle 7">
            <a:extLst>
              <a:ext uri="{FF2B5EF4-FFF2-40B4-BE49-F238E27FC236}">
                <a16:creationId xmlns:a16="http://schemas.microsoft.com/office/drawing/2014/main" id="{ACFF18A9-243A-4B31-B020-0F8B0A2ADDAA}"/>
              </a:ext>
            </a:extLst>
          </p:cNvPr>
          <p:cNvSpPr>
            <a:spLocks noGrp="1"/>
          </p:cNvSpPr>
          <p:nvPr/>
        </p:nvSpPr>
        <p:spPr>
          <a:xfrm>
            <a:off x="809625" y="2762250"/>
            <a:ext cx="2190750" cy="952500"/>
          </a:xfrm>
          <a:prstGeom prst="rect">
            <a:avLst/>
          </a:prstGeom>
          <a:noFill/>
          <a:ln w="0">
            <a:noFill/>
            <a:prstDash val="solid"/>
          </a:ln>
        </p:spPr>
        <p:txBody>
          <a:bodyPr anchor="ctr"/>
          <a:lstStyle/>
          <a:p>
            <a:pPr algn="l">
              <a:defRPr sz="1425" b="0">
                <a:solidFill>
                  <a:srgbClr val="F8FBFF"/>
                </a:solidFill>
              </a:defRPr>
            </a:pPr>
            <a:r>
              <a:rPr sz="1425" b="0">
                <a:solidFill>
                  <a:srgbClr val="F8FBFF"/>
                </a:solidFill>
              </a:rPr>
              <a:t>Pseudonymous data can still be linked</a:t>
            </a:r>
          </a:p>
        </p:txBody>
      </p:sp>
      <p:sp>
        <p:nvSpPr>
          <p:cNvPr id="9" name="Rectangle: Rounded Corners 8">
            <a:extLst>
              <a:ext uri="{FF2B5EF4-FFF2-40B4-BE49-F238E27FC236}">
                <a16:creationId xmlns:a16="http://schemas.microsoft.com/office/drawing/2014/main" id="{66AA2C10-2FA0-4E68-B2F7-D9840F4E033C}"/>
              </a:ext>
            </a:extLst>
          </p:cNvPr>
          <p:cNvSpPr>
            <a:spLocks noGrp="1"/>
          </p:cNvSpPr>
          <p:nvPr/>
        </p:nvSpPr>
        <p:spPr>
          <a:xfrm>
            <a:off x="3429000" y="1809750"/>
            <a:ext cx="2571750" cy="2857500"/>
          </a:xfrm>
          <a:prstGeom prst="roundRect">
            <a:avLst>
              <a:gd name="adj" fmla="val 4444"/>
            </a:avLst>
          </a:prstGeom>
          <a:solidFill>
            <a:srgbClr val="102A43"/>
          </a:solidFill>
          <a:ln w="0">
            <a:noFill/>
            <a:prstDash val="solid"/>
          </a:ln>
        </p:spPr>
        <p:txBody>
          <a:bodyPr/>
          <a:lstStyle/>
          <a:p>
            <a:endParaRPr lang="en-US"/>
          </a:p>
        </p:txBody>
      </p:sp>
      <p:sp>
        <p:nvSpPr>
          <p:cNvPr id="10" name="Rectangle 9">
            <a:extLst>
              <a:ext uri="{FF2B5EF4-FFF2-40B4-BE49-F238E27FC236}">
                <a16:creationId xmlns:a16="http://schemas.microsoft.com/office/drawing/2014/main" id="{A54E99FD-9475-457F-A3D3-822EAE70EF60}"/>
              </a:ext>
            </a:extLst>
          </p:cNvPr>
          <p:cNvSpPr>
            <a:spLocks noGrp="1"/>
          </p:cNvSpPr>
          <p:nvPr/>
        </p:nvSpPr>
        <p:spPr>
          <a:xfrm>
            <a:off x="3429000" y="1809750"/>
            <a:ext cx="2571750" cy="95250"/>
          </a:xfrm>
          <a:prstGeom prst="rect">
            <a:avLst/>
          </a:prstGeom>
          <a:solidFill>
            <a:srgbClr val="FF6B6B"/>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943AEAEF-E136-4024-A674-5F9E85AAA68A}"/>
              </a:ext>
            </a:extLst>
          </p:cNvPr>
          <p:cNvSpPr>
            <a:spLocks noGrp="1"/>
          </p:cNvSpPr>
          <p:nvPr/>
        </p:nvSpPr>
        <p:spPr>
          <a:xfrm>
            <a:off x="3619500" y="2143125"/>
            <a:ext cx="2190750" cy="400050"/>
          </a:xfrm>
          <a:prstGeom prst="rect">
            <a:avLst/>
          </a:prstGeom>
          <a:noFill/>
          <a:ln w="0">
            <a:noFill/>
            <a:prstDash val="solid"/>
          </a:ln>
        </p:spPr>
        <p:txBody>
          <a:bodyPr anchor="ctr"/>
          <a:lstStyle/>
          <a:p>
            <a:pPr algn="l">
              <a:defRPr sz="1725" b="1">
                <a:solidFill>
                  <a:srgbClr val="FF6B6B"/>
                </a:solidFill>
              </a:defRPr>
            </a:pPr>
            <a:r>
              <a:rPr sz="1725" b="1">
                <a:solidFill>
                  <a:srgbClr val="FF6B6B"/>
                </a:solidFill>
              </a:rPr>
              <a:t>False positive</a:t>
            </a:r>
          </a:p>
        </p:txBody>
      </p:sp>
      <p:sp>
        <p:nvSpPr>
          <p:cNvPr id="12" name="Rectangle 11">
            <a:extLst>
              <a:ext uri="{FF2B5EF4-FFF2-40B4-BE49-F238E27FC236}">
                <a16:creationId xmlns:a16="http://schemas.microsoft.com/office/drawing/2014/main" id="{1846E3A0-B2BA-4B58-8ECC-137D197B79C9}"/>
              </a:ext>
            </a:extLst>
          </p:cNvPr>
          <p:cNvSpPr>
            <a:spLocks noGrp="1"/>
          </p:cNvSpPr>
          <p:nvPr/>
        </p:nvSpPr>
        <p:spPr>
          <a:xfrm>
            <a:off x="3619500" y="2762250"/>
            <a:ext cx="2190750" cy="952500"/>
          </a:xfrm>
          <a:prstGeom prst="rect">
            <a:avLst/>
          </a:prstGeom>
          <a:noFill/>
          <a:ln w="0">
            <a:noFill/>
            <a:prstDash val="solid"/>
          </a:ln>
        </p:spPr>
        <p:txBody>
          <a:bodyPr anchor="ctr"/>
          <a:lstStyle/>
          <a:p>
            <a:pPr algn="l">
              <a:defRPr sz="1425" b="0">
                <a:solidFill>
                  <a:srgbClr val="F8FBFF"/>
                </a:solidFill>
              </a:defRPr>
            </a:pPr>
            <a:r>
              <a:rPr sz="1425" b="0">
                <a:solidFill>
                  <a:srgbClr val="F8FBFF"/>
                </a:solidFill>
              </a:rPr>
              <a:t>Irrelevant or unsuitable content is promoted</a:t>
            </a:r>
          </a:p>
        </p:txBody>
      </p:sp>
      <p:sp>
        <p:nvSpPr>
          <p:cNvPr id="13" name="Rectangle: Rounded Corners 12">
            <a:extLst>
              <a:ext uri="{FF2B5EF4-FFF2-40B4-BE49-F238E27FC236}">
                <a16:creationId xmlns:a16="http://schemas.microsoft.com/office/drawing/2014/main" id="{A02837AC-9567-4490-8C78-D6032299CC9B}"/>
              </a:ext>
            </a:extLst>
          </p:cNvPr>
          <p:cNvSpPr>
            <a:spLocks noGrp="1"/>
          </p:cNvSpPr>
          <p:nvPr/>
        </p:nvSpPr>
        <p:spPr>
          <a:xfrm>
            <a:off x="6238875" y="1809750"/>
            <a:ext cx="2571750" cy="2857500"/>
          </a:xfrm>
          <a:prstGeom prst="roundRect">
            <a:avLst>
              <a:gd name="adj" fmla="val 4444"/>
            </a:avLst>
          </a:prstGeom>
          <a:solidFill>
            <a:srgbClr val="102A43"/>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4B68A39F-A14C-4398-9BC2-30737116BB07}"/>
              </a:ext>
            </a:extLst>
          </p:cNvPr>
          <p:cNvSpPr>
            <a:spLocks noGrp="1"/>
          </p:cNvSpPr>
          <p:nvPr/>
        </p:nvSpPr>
        <p:spPr>
          <a:xfrm>
            <a:off x="6238875" y="1809750"/>
            <a:ext cx="2571750" cy="95250"/>
          </a:xfrm>
          <a:prstGeom prst="rect">
            <a:avLst/>
          </a:prstGeom>
          <a:solidFill>
            <a:srgbClr val="FFB547"/>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76001BFB-4D7A-4C76-B281-B0D01CB6A330}"/>
              </a:ext>
            </a:extLst>
          </p:cNvPr>
          <p:cNvSpPr>
            <a:spLocks noGrp="1"/>
          </p:cNvSpPr>
          <p:nvPr/>
        </p:nvSpPr>
        <p:spPr>
          <a:xfrm>
            <a:off x="6429375" y="2143125"/>
            <a:ext cx="2190750" cy="400050"/>
          </a:xfrm>
          <a:prstGeom prst="rect">
            <a:avLst/>
          </a:prstGeom>
          <a:noFill/>
          <a:ln w="0">
            <a:noFill/>
            <a:prstDash val="solid"/>
          </a:ln>
        </p:spPr>
        <p:txBody>
          <a:bodyPr anchor="ctr"/>
          <a:lstStyle/>
          <a:p>
            <a:pPr algn="l">
              <a:defRPr sz="1725" b="1">
                <a:solidFill>
                  <a:srgbClr val="FFB547"/>
                </a:solidFill>
              </a:defRPr>
            </a:pPr>
            <a:r>
              <a:rPr sz="1725" b="1">
                <a:solidFill>
                  <a:srgbClr val="FFB547"/>
                </a:solidFill>
              </a:rPr>
              <a:t>False negative</a:t>
            </a:r>
          </a:p>
        </p:txBody>
      </p:sp>
      <p:sp>
        <p:nvSpPr>
          <p:cNvPr id="16" name="Rectangle 15">
            <a:extLst>
              <a:ext uri="{FF2B5EF4-FFF2-40B4-BE49-F238E27FC236}">
                <a16:creationId xmlns:a16="http://schemas.microsoft.com/office/drawing/2014/main" id="{5DACA54B-F085-4DD6-9BE0-A3EC2AD2D63E}"/>
              </a:ext>
            </a:extLst>
          </p:cNvPr>
          <p:cNvSpPr>
            <a:spLocks noGrp="1"/>
          </p:cNvSpPr>
          <p:nvPr/>
        </p:nvSpPr>
        <p:spPr>
          <a:xfrm>
            <a:off x="6429375" y="2762250"/>
            <a:ext cx="2190750" cy="952500"/>
          </a:xfrm>
          <a:prstGeom prst="rect">
            <a:avLst/>
          </a:prstGeom>
          <a:noFill/>
          <a:ln w="0">
            <a:noFill/>
            <a:prstDash val="solid"/>
          </a:ln>
        </p:spPr>
        <p:txBody>
          <a:bodyPr anchor="ctr"/>
          <a:lstStyle/>
          <a:p>
            <a:pPr algn="l">
              <a:defRPr sz="1425" b="0">
                <a:solidFill>
                  <a:srgbClr val="F8FBFF"/>
                </a:solidFill>
              </a:defRPr>
            </a:pPr>
            <a:r>
              <a:rPr sz="1425" b="0">
                <a:solidFill>
                  <a:srgbClr val="F8FBFF"/>
                </a:solidFill>
              </a:rPr>
              <a:t>Relevant or minority-interest content is hidden</a:t>
            </a:r>
          </a:p>
        </p:txBody>
      </p:sp>
      <p:sp>
        <p:nvSpPr>
          <p:cNvPr id="17" name="Rectangle: Rounded Corners 16">
            <a:extLst>
              <a:ext uri="{FF2B5EF4-FFF2-40B4-BE49-F238E27FC236}">
                <a16:creationId xmlns:a16="http://schemas.microsoft.com/office/drawing/2014/main" id="{5A7727F1-2FC9-40B4-BBC2-027AA6DE3BCB}"/>
              </a:ext>
            </a:extLst>
          </p:cNvPr>
          <p:cNvSpPr>
            <a:spLocks noGrp="1"/>
          </p:cNvSpPr>
          <p:nvPr/>
        </p:nvSpPr>
        <p:spPr>
          <a:xfrm>
            <a:off x="9048750" y="1809750"/>
            <a:ext cx="2571750" cy="2857500"/>
          </a:xfrm>
          <a:prstGeom prst="roundRect">
            <a:avLst>
              <a:gd name="adj" fmla="val 4444"/>
            </a:avLst>
          </a:prstGeom>
          <a:solidFill>
            <a:srgbClr val="102A43"/>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6AEF6082-1168-4670-9B39-257372BBCCA4}"/>
              </a:ext>
            </a:extLst>
          </p:cNvPr>
          <p:cNvSpPr>
            <a:spLocks noGrp="1"/>
          </p:cNvSpPr>
          <p:nvPr/>
        </p:nvSpPr>
        <p:spPr>
          <a:xfrm>
            <a:off x="9048750" y="1809750"/>
            <a:ext cx="2571750" cy="95250"/>
          </a:xfrm>
          <a:prstGeom prst="rect">
            <a:avLst/>
          </a:prstGeom>
          <a:solidFill>
            <a:srgbClr val="5AA9FF"/>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D0725649-8CFE-4FC7-83CA-F230F9C5BF2D}"/>
              </a:ext>
            </a:extLst>
          </p:cNvPr>
          <p:cNvSpPr>
            <a:spLocks noGrp="1"/>
          </p:cNvSpPr>
          <p:nvPr/>
        </p:nvSpPr>
        <p:spPr>
          <a:xfrm>
            <a:off x="9239250" y="2143125"/>
            <a:ext cx="2190750" cy="400050"/>
          </a:xfrm>
          <a:prstGeom prst="rect">
            <a:avLst/>
          </a:prstGeom>
          <a:noFill/>
          <a:ln w="0">
            <a:noFill/>
            <a:prstDash val="solid"/>
          </a:ln>
        </p:spPr>
        <p:txBody>
          <a:bodyPr anchor="ctr"/>
          <a:lstStyle/>
          <a:p>
            <a:pPr algn="l">
              <a:defRPr sz="1725" b="1">
                <a:solidFill>
                  <a:srgbClr val="5AA9FF"/>
                </a:solidFill>
              </a:defRPr>
            </a:pPr>
            <a:r>
              <a:rPr sz="1725" b="1">
                <a:solidFill>
                  <a:srgbClr val="5AA9FF"/>
                </a:solidFill>
              </a:rPr>
              <a:t>Feedback loop</a:t>
            </a:r>
          </a:p>
        </p:txBody>
      </p:sp>
      <p:sp>
        <p:nvSpPr>
          <p:cNvPr id="20" name="Rectangle 19">
            <a:extLst>
              <a:ext uri="{FF2B5EF4-FFF2-40B4-BE49-F238E27FC236}">
                <a16:creationId xmlns:a16="http://schemas.microsoft.com/office/drawing/2014/main" id="{107982A0-73AA-4423-9216-26634C9A6689}"/>
              </a:ext>
            </a:extLst>
          </p:cNvPr>
          <p:cNvSpPr>
            <a:spLocks noGrp="1"/>
          </p:cNvSpPr>
          <p:nvPr/>
        </p:nvSpPr>
        <p:spPr>
          <a:xfrm>
            <a:off x="9239250" y="2762250"/>
            <a:ext cx="2190750" cy="952500"/>
          </a:xfrm>
          <a:prstGeom prst="rect">
            <a:avLst/>
          </a:prstGeom>
          <a:noFill/>
          <a:ln w="0">
            <a:noFill/>
            <a:prstDash val="solid"/>
          </a:ln>
        </p:spPr>
        <p:txBody>
          <a:bodyPr anchor="ctr"/>
          <a:lstStyle/>
          <a:p>
            <a:pPr algn="l">
              <a:defRPr sz="1425" b="0">
                <a:solidFill>
                  <a:srgbClr val="F8FBFF"/>
                </a:solidFill>
              </a:defRPr>
            </a:pPr>
            <a:r>
              <a:rPr sz="1425" b="0">
                <a:solidFill>
                  <a:srgbClr val="F8FBFF"/>
                </a:solidFill>
              </a:rPr>
              <a:t>Popularity becomes future training evidence</a:t>
            </a:r>
          </a:p>
        </p:txBody>
      </p:sp>
      <p:sp>
        <p:nvSpPr>
          <p:cNvPr id="21" name="Rectangle 20">
            <a:extLst>
              <a:ext uri="{FF2B5EF4-FFF2-40B4-BE49-F238E27FC236}">
                <a16:creationId xmlns:a16="http://schemas.microsoft.com/office/drawing/2014/main" id="{04D049E5-A186-42D9-B2B2-D27C20779ED6}"/>
              </a:ext>
            </a:extLst>
          </p:cNvPr>
          <p:cNvSpPr>
            <a:spLocks noGrp="1"/>
          </p:cNvSpPr>
          <p:nvPr/>
        </p:nvSpPr>
        <p:spPr>
          <a:xfrm>
            <a:off x="762000" y="5238750"/>
            <a:ext cx="10668000" cy="400050"/>
          </a:xfrm>
          <a:prstGeom prst="rect">
            <a:avLst/>
          </a:prstGeom>
          <a:noFill/>
          <a:ln w="0">
            <a:noFill/>
            <a:prstDash val="solid"/>
          </a:ln>
        </p:spPr>
        <p:txBody>
          <a:bodyPr anchor="ctr"/>
          <a:lstStyle/>
          <a:p>
            <a:pPr algn="ctr">
              <a:defRPr sz="1500" b="1">
                <a:solidFill>
                  <a:srgbClr val="F8FBFF"/>
                </a:solidFill>
              </a:defRPr>
            </a:pPr>
            <a:r>
              <a:rPr sz="1500" b="1">
                <a:solidFill>
                  <a:srgbClr val="F8FBFF"/>
                </a:solidFill>
              </a:rPr>
              <a:t>Safeguards: minimise data • encrypt • limit retention • enable controls • monitor exposure</a:t>
            </a:r>
          </a:p>
        </p:txBody>
      </p:sp>
      <p:sp>
        <p:nvSpPr>
          <p:cNvPr id="22" name="Rectangle 21">
            <a:extLst>
              <a:ext uri="{FF2B5EF4-FFF2-40B4-BE49-F238E27FC236}">
                <a16:creationId xmlns:a16="http://schemas.microsoft.com/office/drawing/2014/main" id="{C04500BA-E25D-4600-A0E4-C715706DE9F6}"/>
              </a:ext>
            </a:extLst>
          </p:cNvPr>
          <p:cNvSpPr>
            <a:spLocks noGrp="1"/>
          </p:cNvSpPr>
          <p:nvPr/>
        </p:nvSpPr>
        <p:spPr>
          <a:xfrm>
            <a:off x="609600" y="6286500"/>
            <a:ext cx="9810750" cy="171450"/>
          </a:xfrm>
          <a:prstGeom prst="rect">
            <a:avLst/>
          </a:prstGeom>
          <a:noFill/>
          <a:ln w="0">
            <a:noFill/>
            <a:prstDash val="solid"/>
          </a:ln>
        </p:spPr>
        <p:txBody>
          <a:bodyPr anchor="ctr"/>
          <a:lstStyle/>
          <a:p>
            <a:pPr algn="l">
              <a:defRPr sz="750" b="0">
                <a:solidFill>
                  <a:srgbClr val="A8B8C8"/>
                </a:solidFill>
              </a:defRPr>
            </a:pPr>
            <a:r>
              <a:rPr sz="750" b="0">
                <a:solidFill>
                  <a:srgbClr val="A8B8C8"/>
                </a:solidFill>
              </a:rPr>
              <a:t>Ethical framing informed by NIST AI RMF 1.0 (2023).</a:t>
            </a:r>
          </a:p>
        </p:txBody>
      </p:sp>
    </p:spTree>
    <p:extLst>
      <p:ext uri="{BB962C8B-B14F-4D97-AF65-F5344CB8AC3E}">
        <p14:creationId xmlns:p14="http://schemas.microsoft.com/office/powerpoint/2010/main" val="13169261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CD122EB-951F-4DE8-B893-7406D2EAB252}"/>
              </a:ext>
            </a:extLst>
          </p:cNvPr>
          <p:cNvSpPr>
            <a:spLocks noGrp="1"/>
          </p:cNvSpPr>
          <p:nvPr/>
        </p:nvSpPr>
        <p:spPr>
          <a:xfrm>
            <a:off x="609600" y="323850"/>
            <a:ext cx="4762500" cy="228600"/>
          </a:xfrm>
          <a:prstGeom prst="rect">
            <a:avLst/>
          </a:prstGeom>
          <a:noFill/>
          <a:ln w="0">
            <a:noFill/>
            <a:prstDash val="solid"/>
          </a:ln>
        </p:spPr>
        <p:txBody>
          <a:bodyPr anchor="ctr"/>
          <a:lstStyle/>
          <a:p>
            <a:pPr algn="l">
              <a:defRPr sz="975" b="1">
                <a:solidFill>
                  <a:srgbClr val="32D3C7"/>
                </a:solidFill>
              </a:defRPr>
            </a:pPr>
            <a:r>
              <a:rPr sz="975" b="1">
                <a:solidFill>
                  <a:srgbClr val="32D3C7"/>
                </a:solidFill>
              </a:rPr>
              <a:t>REAL-WORLD DEPLOYMENT</a:t>
            </a:r>
          </a:p>
        </p:txBody>
      </p:sp>
      <p:sp>
        <p:nvSpPr>
          <p:cNvPr id="2" name="Rectangle 1">
            <a:extLst>
              <a:ext uri="{FF2B5EF4-FFF2-40B4-BE49-F238E27FC236}">
                <a16:creationId xmlns:a16="http://schemas.microsoft.com/office/drawing/2014/main" id="{3F09BA94-CCB6-4A81-BA97-710822CCFAF9}"/>
              </a:ext>
            </a:extLst>
          </p:cNvPr>
          <p:cNvSpPr>
            <a:spLocks noGrp="1"/>
          </p:cNvSpPr>
          <p:nvPr/>
        </p:nvSpPr>
        <p:spPr>
          <a:xfrm>
            <a:off x="609600" y="638175"/>
            <a:ext cx="10668000" cy="552450"/>
          </a:xfrm>
          <a:prstGeom prst="rect">
            <a:avLst/>
          </a:prstGeom>
          <a:noFill/>
          <a:ln w="0">
            <a:noFill/>
            <a:prstDash val="solid"/>
          </a:ln>
        </p:spPr>
        <p:txBody>
          <a:bodyPr anchor="ctr"/>
          <a:lstStyle/>
          <a:p>
            <a:pPr algn="l">
              <a:defRPr sz="2700" b="1">
                <a:solidFill>
                  <a:srgbClr val="F8FBFF"/>
                </a:solidFill>
              </a:defRPr>
            </a:pPr>
            <a:r>
              <a:rPr sz="2700" b="1">
                <a:solidFill>
                  <a:srgbClr val="F8FBFF"/>
                </a:solidFill>
              </a:rPr>
              <a:t>Deployment needs a policy layer around the predictive model</a:t>
            </a:r>
          </a:p>
        </p:txBody>
      </p:sp>
      <p:sp>
        <p:nvSpPr>
          <p:cNvPr id="3" name="Straight Connector 2">
            <a:extLst>
              <a:ext uri="{FF2B5EF4-FFF2-40B4-BE49-F238E27FC236}">
                <a16:creationId xmlns:a16="http://schemas.microsoft.com/office/drawing/2014/main" id="{7885F2A8-04BF-4119-968A-00C48834D1D0}"/>
              </a:ext>
            </a:extLst>
          </p:cNvPr>
          <p:cNvSpPr>
            <a:spLocks noGrp="1"/>
          </p:cNvSpPr>
          <p:nvPr/>
        </p:nvSpPr>
        <p:spPr>
          <a:xfrm>
            <a:off x="609600" y="1304925"/>
            <a:ext cx="10972800" cy="0"/>
          </a:xfrm>
          <a:prstGeom prst="line">
            <a:avLst/>
          </a:prstGeom>
          <a:ln w="9525">
            <a:solidFill>
              <a:srgbClr val="28445F"/>
            </a:solidFill>
            <a:prstDash val="solid"/>
          </a:ln>
        </p:spPr>
        <p:txBody>
          <a:bodyPr/>
          <a:lstStyle/>
          <a:p>
            <a:endParaRPr lang="en-US"/>
          </a:p>
        </p:txBody>
      </p:sp>
      <p:sp>
        <p:nvSpPr>
          <p:cNvPr id="4" name="Rectangle 3">
            <a:extLst>
              <a:ext uri="{FF2B5EF4-FFF2-40B4-BE49-F238E27FC236}">
                <a16:creationId xmlns:a16="http://schemas.microsoft.com/office/drawing/2014/main" id="{6C4FE619-2672-42FE-9D64-603B604F07DE}"/>
              </a:ext>
            </a:extLst>
          </p:cNvPr>
          <p:cNvSpPr>
            <a:spLocks noGrp="1"/>
          </p:cNvSpPr>
          <p:nvPr/>
        </p:nvSpPr>
        <p:spPr>
          <a:xfrm>
            <a:off x="11239500" y="6238875"/>
            <a:ext cx="428625" cy="228600"/>
          </a:xfrm>
          <a:prstGeom prst="rect">
            <a:avLst/>
          </a:prstGeom>
          <a:noFill/>
          <a:ln w="0">
            <a:noFill/>
            <a:prstDash val="solid"/>
          </a:ln>
        </p:spPr>
        <p:txBody>
          <a:bodyPr anchor="ctr"/>
          <a:lstStyle/>
          <a:p>
            <a:pPr algn="r">
              <a:defRPr sz="900" b="1">
                <a:solidFill>
                  <a:srgbClr val="A8B8C8"/>
                </a:solidFill>
              </a:defRPr>
            </a:pPr>
            <a:r>
              <a:rPr sz="900" b="1">
                <a:solidFill>
                  <a:srgbClr val="A8B8C8"/>
                </a:solidFill>
              </a:rPr>
              <a:t>14</a:t>
            </a:r>
          </a:p>
        </p:txBody>
      </p:sp>
      <p:sp>
        <p:nvSpPr>
          <p:cNvPr id="5" name="Straight Connector 4">
            <a:extLst>
              <a:ext uri="{FF2B5EF4-FFF2-40B4-BE49-F238E27FC236}">
                <a16:creationId xmlns:a16="http://schemas.microsoft.com/office/drawing/2014/main" id="{2FAAB5CC-3070-40BA-8220-1D37C0B2B78F}"/>
              </a:ext>
            </a:extLst>
          </p:cNvPr>
          <p:cNvSpPr>
            <a:spLocks noGrp="1"/>
          </p:cNvSpPr>
          <p:nvPr/>
        </p:nvSpPr>
        <p:spPr>
          <a:xfrm>
            <a:off x="1762125" y="2781300"/>
            <a:ext cx="714375" cy="0"/>
          </a:xfrm>
          <a:prstGeom prst="line">
            <a:avLst/>
          </a:prstGeom>
          <a:ln w="28575">
            <a:solidFill>
              <a:srgbClr val="32D3C7"/>
            </a:solidFill>
            <a:prstDash val="solid"/>
          </a:ln>
        </p:spPr>
        <p:txBody>
          <a:bodyPr/>
          <a:lstStyle/>
          <a:p>
            <a:endParaRPr lang="en-US"/>
          </a:p>
        </p:txBody>
      </p:sp>
      <p:sp>
        <p:nvSpPr>
          <p:cNvPr id="6" name="Rectangle: Rounded Corners 5">
            <a:extLst>
              <a:ext uri="{FF2B5EF4-FFF2-40B4-BE49-F238E27FC236}">
                <a16:creationId xmlns:a16="http://schemas.microsoft.com/office/drawing/2014/main" id="{CD9AF622-2275-4E1F-B02F-7C82C43B8D70}"/>
              </a:ext>
            </a:extLst>
          </p:cNvPr>
          <p:cNvSpPr>
            <a:spLocks noGrp="1"/>
          </p:cNvSpPr>
          <p:nvPr/>
        </p:nvSpPr>
        <p:spPr>
          <a:xfrm>
            <a:off x="523875" y="2333625"/>
            <a:ext cx="1238250" cy="904875"/>
          </a:xfrm>
          <a:prstGeom prst="roundRect">
            <a:avLst>
              <a:gd name="adj" fmla="val 12632"/>
            </a:avLst>
          </a:prstGeom>
          <a:solidFill>
            <a:srgbClr val="102A43"/>
          </a:solidFill>
          <a:ln w="0">
            <a:noFill/>
            <a:prstDash val="solid"/>
          </a:ln>
        </p:spPr>
        <p:txBody>
          <a:bodyPr/>
          <a:lstStyle/>
          <a:p>
            <a:endParaRPr lang="en-US"/>
          </a:p>
        </p:txBody>
      </p:sp>
      <p:sp>
        <p:nvSpPr>
          <p:cNvPr id="7" name="Rectangle 6">
            <a:extLst>
              <a:ext uri="{FF2B5EF4-FFF2-40B4-BE49-F238E27FC236}">
                <a16:creationId xmlns:a16="http://schemas.microsoft.com/office/drawing/2014/main" id="{00443C74-2B35-48F6-B951-939D8BD20800}"/>
              </a:ext>
            </a:extLst>
          </p:cNvPr>
          <p:cNvSpPr>
            <a:spLocks noGrp="1"/>
          </p:cNvSpPr>
          <p:nvPr/>
        </p:nvSpPr>
        <p:spPr>
          <a:xfrm>
            <a:off x="571500" y="2333625"/>
            <a:ext cx="1143000" cy="904875"/>
          </a:xfrm>
          <a:prstGeom prst="rect">
            <a:avLst/>
          </a:prstGeom>
          <a:noFill/>
          <a:ln w="0">
            <a:noFill/>
            <a:prstDash val="solid"/>
          </a:ln>
        </p:spPr>
        <p:txBody>
          <a:bodyPr anchor="ctr"/>
          <a:lstStyle/>
          <a:p>
            <a:pPr algn="ctr">
              <a:defRPr sz="1350" b="1">
                <a:solidFill>
                  <a:srgbClr val="F8FBFF"/>
                </a:solidFill>
              </a:defRPr>
            </a:pPr>
            <a:r>
              <a:rPr sz="1350" b="1">
                <a:solidFill>
                  <a:srgbClr val="F8FBFF"/>
                </a:solidFill>
              </a:rPr>
              <a:t>Client</a:t>
            </a:r>
          </a:p>
        </p:txBody>
      </p:sp>
      <p:sp>
        <p:nvSpPr>
          <p:cNvPr id="8" name="Straight Connector 7">
            <a:extLst>
              <a:ext uri="{FF2B5EF4-FFF2-40B4-BE49-F238E27FC236}">
                <a16:creationId xmlns:a16="http://schemas.microsoft.com/office/drawing/2014/main" id="{C2ED4114-6B4E-4C25-889D-874300D511E9}"/>
              </a:ext>
            </a:extLst>
          </p:cNvPr>
          <p:cNvSpPr>
            <a:spLocks noGrp="1"/>
          </p:cNvSpPr>
          <p:nvPr/>
        </p:nvSpPr>
        <p:spPr>
          <a:xfrm>
            <a:off x="3714750" y="2781300"/>
            <a:ext cx="714375" cy="0"/>
          </a:xfrm>
          <a:prstGeom prst="line">
            <a:avLst/>
          </a:prstGeom>
          <a:ln w="28575">
            <a:solidFill>
              <a:srgbClr val="32D3C7"/>
            </a:solidFill>
            <a:prstDash val="solid"/>
          </a:ln>
        </p:spPr>
        <p:txBody>
          <a:bodyPr/>
          <a:lstStyle/>
          <a:p>
            <a:endParaRPr lang="en-US"/>
          </a:p>
        </p:txBody>
      </p:sp>
      <p:sp>
        <p:nvSpPr>
          <p:cNvPr id="9" name="Rectangle: Rounded Corners 8">
            <a:extLst>
              <a:ext uri="{FF2B5EF4-FFF2-40B4-BE49-F238E27FC236}">
                <a16:creationId xmlns:a16="http://schemas.microsoft.com/office/drawing/2014/main" id="{7BDAC1D5-DCBD-4F94-A7B2-9033AF03629B}"/>
              </a:ext>
            </a:extLst>
          </p:cNvPr>
          <p:cNvSpPr>
            <a:spLocks noGrp="1"/>
          </p:cNvSpPr>
          <p:nvPr/>
        </p:nvSpPr>
        <p:spPr>
          <a:xfrm>
            <a:off x="2476500" y="2333625"/>
            <a:ext cx="1238250" cy="904875"/>
          </a:xfrm>
          <a:prstGeom prst="roundRect">
            <a:avLst>
              <a:gd name="adj" fmla="val 12632"/>
            </a:avLst>
          </a:prstGeom>
          <a:solidFill>
            <a:srgbClr val="102A43"/>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44CEB69-196B-4FF1-A98F-B69C50575D4F}"/>
              </a:ext>
            </a:extLst>
          </p:cNvPr>
          <p:cNvSpPr>
            <a:spLocks noGrp="1"/>
          </p:cNvSpPr>
          <p:nvPr/>
        </p:nvSpPr>
        <p:spPr>
          <a:xfrm>
            <a:off x="2524125" y="2333625"/>
            <a:ext cx="1143000" cy="904875"/>
          </a:xfrm>
          <a:prstGeom prst="rect">
            <a:avLst/>
          </a:prstGeom>
          <a:noFill/>
          <a:ln w="0">
            <a:noFill/>
            <a:prstDash val="solid"/>
          </a:ln>
        </p:spPr>
        <p:txBody>
          <a:bodyPr anchor="ctr"/>
          <a:lstStyle/>
          <a:p>
            <a:pPr algn="ctr">
              <a:defRPr sz="1350" b="1">
                <a:solidFill>
                  <a:srgbClr val="F8FBFF"/>
                </a:solidFill>
              </a:defRPr>
            </a:pPr>
            <a:r>
              <a:rPr sz="1350" b="1">
                <a:solidFill>
                  <a:srgbClr val="F8FBFF"/>
                </a:solidFill>
              </a:rPr>
              <a:t>API</a:t>
            </a:r>
          </a:p>
        </p:txBody>
      </p:sp>
      <p:sp>
        <p:nvSpPr>
          <p:cNvPr id="11" name="Straight Connector 10">
            <a:extLst>
              <a:ext uri="{FF2B5EF4-FFF2-40B4-BE49-F238E27FC236}">
                <a16:creationId xmlns:a16="http://schemas.microsoft.com/office/drawing/2014/main" id="{4237CD5E-F8BA-4BCB-BE22-3905A7B96604}"/>
              </a:ext>
            </a:extLst>
          </p:cNvPr>
          <p:cNvSpPr>
            <a:spLocks noGrp="1"/>
          </p:cNvSpPr>
          <p:nvPr/>
        </p:nvSpPr>
        <p:spPr>
          <a:xfrm>
            <a:off x="5810250" y="2781300"/>
            <a:ext cx="714375" cy="0"/>
          </a:xfrm>
          <a:prstGeom prst="line">
            <a:avLst/>
          </a:prstGeom>
          <a:ln w="28575">
            <a:solidFill>
              <a:srgbClr val="32D3C7"/>
            </a:solidFill>
            <a:prstDash val="solid"/>
          </a:ln>
        </p:spPr>
        <p:txBody>
          <a:bodyPr/>
          <a:lstStyle/>
          <a:p>
            <a:endParaRPr lang="en-US"/>
          </a:p>
        </p:txBody>
      </p:sp>
      <p:sp>
        <p:nvSpPr>
          <p:cNvPr id="12" name="Rectangle: Rounded Corners 11">
            <a:extLst>
              <a:ext uri="{FF2B5EF4-FFF2-40B4-BE49-F238E27FC236}">
                <a16:creationId xmlns:a16="http://schemas.microsoft.com/office/drawing/2014/main" id="{FA0AAF12-486E-44F5-BBF6-2F60E6935C9A}"/>
              </a:ext>
            </a:extLst>
          </p:cNvPr>
          <p:cNvSpPr>
            <a:spLocks noGrp="1"/>
          </p:cNvSpPr>
          <p:nvPr/>
        </p:nvSpPr>
        <p:spPr>
          <a:xfrm>
            <a:off x="4572000" y="2333625"/>
            <a:ext cx="1238250" cy="904875"/>
          </a:xfrm>
          <a:prstGeom prst="roundRect">
            <a:avLst>
              <a:gd name="adj" fmla="val 12632"/>
            </a:avLst>
          </a:prstGeom>
          <a:solidFill>
            <a:srgbClr val="102A43"/>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63E8F072-29CB-4B81-B4CC-DF1F560950F9}"/>
              </a:ext>
            </a:extLst>
          </p:cNvPr>
          <p:cNvSpPr>
            <a:spLocks noGrp="1"/>
          </p:cNvSpPr>
          <p:nvPr/>
        </p:nvSpPr>
        <p:spPr>
          <a:xfrm>
            <a:off x="4619625" y="2333625"/>
            <a:ext cx="1143000" cy="904875"/>
          </a:xfrm>
          <a:prstGeom prst="rect">
            <a:avLst/>
          </a:prstGeom>
          <a:noFill/>
          <a:ln w="0">
            <a:noFill/>
            <a:prstDash val="solid"/>
          </a:ln>
        </p:spPr>
        <p:txBody>
          <a:bodyPr anchor="ctr"/>
          <a:lstStyle/>
          <a:p>
            <a:pPr algn="ctr">
              <a:defRPr sz="1350" b="1">
                <a:solidFill>
                  <a:srgbClr val="F8FBFF"/>
                </a:solidFill>
              </a:defRPr>
            </a:pPr>
            <a:r>
              <a:rPr sz="1350" b="1">
                <a:solidFill>
                  <a:srgbClr val="F8FBFF"/>
                </a:solidFill>
              </a:rPr>
              <a:t>Candidates</a:t>
            </a:r>
          </a:p>
        </p:txBody>
      </p:sp>
      <p:sp>
        <p:nvSpPr>
          <p:cNvPr id="14" name="Straight Connector 13">
            <a:extLst>
              <a:ext uri="{FF2B5EF4-FFF2-40B4-BE49-F238E27FC236}">
                <a16:creationId xmlns:a16="http://schemas.microsoft.com/office/drawing/2014/main" id="{12EAAF45-26F9-468A-8114-A91C437D2E39}"/>
              </a:ext>
            </a:extLst>
          </p:cNvPr>
          <p:cNvSpPr>
            <a:spLocks noGrp="1"/>
          </p:cNvSpPr>
          <p:nvPr/>
        </p:nvSpPr>
        <p:spPr>
          <a:xfrm>
            <a:off x="7905750" y="2781300"/>
            <a:ext cx="714375" cy="0"/>
          </a:xfrm>
          <a:prstGeom prst="line">
            <a:avLst/>
          </a:prstGeom>
          <a:ln w="28575">
            <a:solidFill>
              <a:srgbClr val="32D3C7"/>
            </a:solidFill>
            <a:prstDash val="solid"/>
          </a:ln>
        </p:spPr>
        <p:txBody>
          <a:bodyPr/>
          <a:lstStyle/>
          <a:p>
            <a:endParaRPr lang="en-US"/>
          </a:p>
        </p:txBody>
      </p:sp>
      <p:sp>
        <p:nvSpPr>
          <p:cNvPr id="15" name="Rectangle: Rounded Corners 14">
            <a:extLst>
              <a:ext uri="{FF2B5EF4-FFF2-40B4-BE49-F238E27FC236}">
                <a16:creationId xmlns:a16="http://schemas.microsoft.com/office/drawing/2014/main" id="{2086BF32-A5F5-4459-B7C4-4A9C941D1D9A}"/>
              </a:ext>
            </a:extLst>
          </p:cNvPr>
          <p:cNvSpPr>
            <a:spLocks noGrp="1"/>
          </p:cNvSpPr>
          <p:nvPr/>
        </p:nvSpPr>
        <p:spPr>
          <a:xfrm>
            <a:off x="6667500" y="2333625"/>
            <a:ext cx="1238250" cy="904875"/>
          </a:xfrm>
          <a:prstGeom prst="roundRect">
            <a:avLst>
              <a:gd name="adj" fmla="val 12632"/>
            </a:avLst>
          </a:prstGeom>
          <a:solidFill>
            <a:srgbClr val="102A43"/>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AD9C32B7-0123-42E0-BA52-24C6AF84F67A}"/>
              </a:ext>
            </a:extLst>
          </p:cNvPr>
          <p:cNvSpPr>
            <a:spLocks noGrp="1"/>
          </p:cNvSpPr>
          <p:nvPr/>
        </p:nvSpPr>
        <p:spPr>
          <a:xfrm>
            <a:off x="6715125" y="2333625"/>
            <a:ext cx="1143000" cy="904875"/>
          </a:xfrm>
          <a:prstGeom prst="rect">
            <a:avLst/>
          </a:prstGeom>
          <a:noFill/>
          <a:ln w="0">
            <a:noFill/>
            <a:prstDash val="solid"/>
          </a:ln>
        </p:spPr>
        <p:txBody>
          <a:bodyPr anchor="ctr"/>
          <a:lstStyle/>
          <a:p>
            <a:pPr algn="ctr">
              <a:defRPr sz="1350" b="1">
                <a:solidFill>
                  <a:srgbClr val="F8FBFF"/>
                </a:solidFill>
              </a:defRPr>
            </a:pPr>
            <a:r>
              <a:rPr sz="1350" b="1">
                <a:solidFill>
                  <a:srgbClr val="F8FBFF"/>
                </a:solidFill>
              </a:rPr>
              <a:t>Score</a:t>
            </a:r>
          </a:p>
        </p:txBody>
      </p:sp>
      <p:sp>
        <p:nvSpPr>
          <p:cNvPr id="17" name="Straight Connector 16">
            <a:extLst>
              <a:ext uri="{FF2B5EF4-FFF2-40B4-BE49-F238E27FC236}">
                <a16:creationId xmlns:a16="http://schemas.microsoft.com/office/drawing/2014/main" id="{719D4101-8DE2-45C6-9AC4-1231DB929BB2}"/>
              </a:ext>
            </a:extLst>
          </p:cNvPr>
          <p:cNvSpPr>
            <a:spLocks noGrp="1"/>
          </p:cNvSpPr>
          <p:nvPr/>
        </p:nvSpPr>
        <p:spPr>
          <a:xfrm>
            <a:off x="10001250" y="2781300"/>
            <a:ext cx="714375" cy="0"/>
          </a:xfrm>
          <a:prstGeom prst="line">
            <a:avLst/>
          </a:prstGeom>
          <a:ln w="28575">
            <a:solidFill>
              <a:srgbClr val="32D3C7"/>
            </a:solidFill>
            <a:prstDash val="solid"/>
          </a:ln>
        </p:spPr>
        <p:txBody>
          <a:bodyPr/>
          <a:lstStyle/>
          <a:p>
            <a:endParaRPr lang="en-US"/>
          </a:p>
        </p:txBody>
      </p:sp>
      <p:sp>
        <p:nvSpPr>
          <p:cNvPr id="18" name="Rectangle: Rounded Corners 17">
            <a:extLst>
              <a:ext uri="{FF2B5EF4-FFF2-40B4-BE49-F238E27FC236}">
                <a16:creationId xmlns:a16="http://schemas.microsoft.com/office/drawing/2014/main" id="{E16EC2F7-EEBF-4899-AED4-829E1384CD7E}"/>
              </a:ext>
            </a:extLst>
          </p:cNvPr>
          <p:cNvSpPr>
            <a:spLocks noGrp="1"/>
          </p:cNvSpPr>
          <p:nvPr/>
        </p:nvSpPr>
        <p:spPr>
          <a:xfrm>
            <a:off x="8763000" y="2333625"/>
            <a:ext cx="1238250" cy="904875"/>
          </a:xfrm>
          <a:prstGeom prst="roundRect">
            <a:avLst>
              <a:gd name="adj" fmla="val 12632"/>
            </a:avLst>
          </a:prstGeom>
          <a:solidFill>
            <a:srgbClr val="FFB547"/>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AFDCDA59-4118-4F53-99E9-49A79E052CA8}"/>
              </a:ext>
            </a:extLst>
          </p:cNvPr>
          <p:cNvSpPr>
            <a:spLocks noGrp="1"/>
          </p:cNvSpPr>
          <p:nvPr/>
        </p:nvSpPr>
        <p:spPr>
          <a:xfrm>
            <a:off x="8810625" y="2333625"/>
            <a:ext cx="1143000" cy="904875"/>
          </a:xfrm>
          <a:prstGeom prst="rect">
            <a:avLst/>
          </a:prstGeom>
          <a:noFill/>
          <a:ln w="0">
            <a:noFill/>
            <a:prstDash val="solid"/>
          </a:ln>
        </p:spPr>
        <p:txBody>
          <a:bodyPr anchor="ctr"/>
          <a:lstStyle/>
          <a:p>
            <a:pPr algn="ctr">
              <a:defRPr sz="1350" b="1">
                <a:solidFill>
                  <a:srgbClr val="071525"/>
                </a:solidFill>
              </a:defRPr>
            </a:pPr>
            <a:r>
              <a:rPr sz="1350" b="1">
                <a:solidFill>
                  <a:srgbClr val="071525"/>
                </a:solidFill>
              </a:rPr>
              <a:t>Policy</a:t>
            </a:r>
          </a:p>
        </p:txBody>
      </p:sp>
      <p:sp>
        <p:nvSpPr>
          <p:cNvPr id="20" name="Rectangle: Rounded Corners 19">
            <a:extLst>
              <a:ext uri="{FF2B5EF4-FFF2-40B4-BE49-F238E27FC236}">
                <a16:creationId xmlns:a16="http://schemas.microsoft.com/office/drawing/2014/main" id="{2DF4D893-3C16-4FF9-BFBA-8C16D3FC29F0}"/>
              </a:ext>
            </a:extLst>
          </p:cNvPr>
          <p:cNvSpPr>
            <a:spLocks noGrp="1"/>
          </p:cNvSpPr>
          <p:nvPr/>
        </p:nvSpPr>
        <p:spPr>
          <a:xfrm>
            <a:off x="10477500" y="2333625"/>
            <a:ext cx="1190625" cy="904875"/>
          </a:xfrm>
          <a:prstGeom prst="roundRect">
            <a:avLst>
              <a:gd name="adj" fmla="val 12632"/>
            </a:avLst>
          </a:prstGeom>
          <a:solidFill>
            <a:srgbClr val="102A43"/>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E8001451-DA15-4A64-AF01-136E84E21FDB}"/>
              </a:ext>
            </a:extLst>
          </p:cNvPr>
          <p:cNvSpPr>
            <a:spLocks noGrp="1"/>
          </p:cNvSpPr>
          <p:nvPr/>
        </p:nvSpPr>
        <p:spPr>
          <a:xfrm>
            <a:off x="10525125" y="2333625"/>
            <a:ext cx="1095375" cy="904875"/>
          </a:xfrm>
          <a:prstGeom prst="rect">
            <a:avLst/>
          </a:prstGeom>
          <a:noFill/>
          <a:ln w="0">
            <a:noFill/>
            <a:prstDash val="solid"/>
          </a:ln>
        </p:spPr>
        <p:txBody>
          <a:bodyPr anchor="ctr"/>
          <a:lstStyle/>
          <a:p>
            <a:pPr algn="ctr">
              <a:defRPr sz="1350" b="1">
                <a:solidFill>
                  <a:srgbClr val="F8FBFF"/>
                </a:solidFill>
              </a:defRPr>
            </a:pPr>
            <a:r>
              <a:rPr sz="1350" b="1">
                <a:solidFill>
                  <a:srgbClr val="F8FBFF"/>
                </a:solidFill>
              </a:rPr>
              <a:t>Ranked</a:t>
            </a:r>
          </a:p>
        </p:txBody>
      </p:sp>
      <p:sp>
        <p:nvSpPr>
          <p:cNvPr id="22" name="Rectangle: Rounded Corners 21">
            <a:extLst>
              <a:ext uri="{FF2B5EF4-FFF2-40B4-BE49-F238E27FC236}">
                <a16:creationId xmlns:a16="http://schemas.microsoft.com/office/drawing/2014/main" id="{2D59D5E2-3AAC-4E1A-B319-1819527FEE94}"/>
              </a:ext>
            </a:extLst>
          </p:cNvPr>
          <p:cNvSpPr>
            <a:spLocks noGrp="1"/>
          </p:cNvSpPr>
          <p:nvPr/>
        </p:nvSpPr>
        <p:spPr>
          <a:xfrm>
            <a:off x="2381250" y="4095750"/>
            <a:ext cx="7429500" cy="952500"/>
          </a:xfrm>
          <a:prstGeom prst="roundRect">
            <a:avLst>
              <a:gd name="adj" fmla="val 12000"/>
            </a:avLst>
          </a:prstGeom>
          <a:solidFill>
            <a:srgbClr val="0D2237"/>
          </a:solidFill>
          <a:ln w="9525">
            <a:solidFill>
              <a:srgbClr val="28445F"/>
            </a:solidFill>
            <a:prstDash val="solid"/>
          </a:ln>
        </p:spPr>
        <p:txBody>
          <a:bodyPr/>
          <a:lstStyle/>
          <a:p>
            <a:endParaRPr lang="en-US"/>
          </a:p>
        </p:txBody>
      </p:sp>
      <p:sp>
        <p:nvSpPr>
          <p:cNvPr id="23" name="Rectangle 22">
            <a:extLst>
              <a:ext uri="{FF2B5EF4-FFF2-40B4-BE49-F238E27FC236}">
                <a16:creationId xmlns:a16="http://schemas.microsoft.com/office/drawing/2014/main" id="{BD7F9AFF-8AE3-4F15-88D4-7D4CC2426862}"/>
              </a:ext>
            </a:extLst>
          </p:cNvPr>
          <p:cNvSpPr>
            <a:spLocks noGrp="1"/>
          </p:cNvSpPr>
          <p:nvPr/>
        </p:nvSpPr>
        <p:spPr>
          <a:xfrm>
            <a:off x="2619375" y="4286250"/>
            <a:ext cx="1143000" cy="285750"/>
          </a:xfrm>
          <a:prstGeom prst="rect">
            <a:avLst/>
          </a:prstGeom>
          <a:noFill/>
          <a:ln w="0">
            <a:noFill/>
            <a:prstDash val="solid"/>
          </a:ln>
        </p:spPr>
        <p:txBody>
          <a:bodyPr anchor="ctr"/>
          <a:lstStyle/>
          <a:p>
            <a:pPr algn="l">
              <a:defRPr sz="1500" b="1">
                <a:solidFill>
                  <a:srgbClr val="32D3C7"/>
                </a:solidFill>
              </a:defRPr>
            </a:pPr>
            <a:r>
              <a:rPr sz="1500" b="1">
                <a:solidFill>
                  <a:srgbClr val="32D3C7"/>
                </a:solidFill>
              </a:rPr>
              <a:t>Monitor</a:t>
            </a:r>
          </a:p>
        </p:txBody>
      </p:sp>
      <p:sp>
        <p:nvSpPr>
          <p:cNvPr id="24" name="Rectangle 23">
            <a:extLst>
              <a:ext uri="{FF2B5EF4-FFF2-40B4-BE49-F238E27FC236}">
                <a16:creationId xmlns:a16="http://schemas.microsoft.com/office/drawing/2014/main" id="{809B3024-E41D-47F2-8065-E459C0D9BEC9}"/>
              </a:ext>
            </a:extLst>
          </p:cNvPr>
          <p:cNvSpPr>
            <a:spLocks noGrp="1"/>
          </p:cNvSpPr>
          <p:nvPr/>
        </p:nvSpPr>
        <p:spPr>
          <a:xfrm>
            <a:off x="3810000" y="4191000"/>
            <a:ext cx="5667375" cy="523875"/>
          </a:xfrm>
          <a:prstGeom prst="rect">
            <a:avLst/>
          </a:prstGeom>
          <a:noFill/>
          <a:ln w="0">
            <a:noFill/>
            <a:prstDash val="solid"/>
          </a:ln>
        </p:spPr>
        <p:txBody>
          <a:bodyPr anchor="ctr"/>
          <a:lstStyle/>
          <a:p>
            <a:pPr algn="l">
              <a:defRPr sz="1350" b="0">
                <a:solidFill>
                  <a:srgbClr val="F8FBFF"/>
                </a:solidFill>
              </a:defRPr>
            </a:pPr>
            <a:r>
              <a:rPr sz="1350" b="0">
                <a:solidFill>
                  <a:srgbClr val="F8FBFF"/>
                </a:solidFill>
              </a:rPr>
              <a:t>p95 latency • failures • drift • coverage • subgroup NDCG • exposure</a:t>
            </a:r>
          </a:p>
        </p:txBody>
      </p:sp>
      <p:sp>
        <p:nvSpPr>
          <p:cNvPr id="25" name="Rectangle 24">
            <a:extLst>
              <a:ext uri="{FF2B5EF4-FFF2-40B4-BE49-F238E27FC236}">
                <a16:creationId xmlns:a16="http://schemas.microsoft.com/office/drawing/2014/main" id="{E1458278-BF13-4FAA-9848-3C3AB99B89AB}"/>
              </a:ext>
            </a:extLst>
          </p:cNvPr>
          <p:cNvSpPr>
            <a:spLocks noGrp="1"/>
          </p:cNvSpPr>
          <p:nvPr/>
        </p:nvSpPr>
        <p:spPr>
          <a:xfrm>
            <a:off x="2381250" y="5381625"/>
            <a:ext cx="7429500" cy="304800"/>
          </a:xfrm>
          <a:prstGeom prst="rect">
            <a:avLst/>
          </a:prstGeom>
          <a:noFill/>
          <a:ln w="0">
            <a:noFill/>
            <a:prstDash val="solid"/>
          </a:ln>
        </p:spPr>
        <p:txBody>
          <a:bodyPr anchor="ctr"/>
          <a:lstStyle/>
          <a:p>
            <a:pPr algn="ctr">
              <a:defRPr sz="1350" b="1">
                <a:solidFill>
                  <a:srgbClr val="A8B8C8"/>
                </a:solidFill>
              </a:defRPr>
            </a:pPr>
            <a:r>
              <a:rPr sz="1350" b="1">
                <a:solidFill>
                  <a:srgbClr val="A8B8C8"/>
                </a:solidFill>
              </a:rPr>
              <a:t>Version model + ID maps • human approval • fallback • rollback</a:t>
            </a:r>
          </a:p>
        </p:txBody>
      </p:sp>
    </p:spTree>
    <p:extLst>
      <p:ext uri="{BB962C8B-B14F-4D97-AF65-F5344CB8AC3E}">
        <p14:creationId xmlns:p14="http://schemas.microsoft.com/office/powerpoint/2010/main" val="117648722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093F0E3-1372-4FC3-9475-69A34CD23E1D}"/>
              </a:ext>
            </a:extLst>
          </p:cNvPr>
          <p:cNvSpPr>
            <a:spLocks noGrp="1"/>
          </p:cNvSpPr>
          <p:nvPr/>
        </p:nvSpPr>
        <p:spPr>
          <a:xfrm>
            <a:off x="609600" y="323850"/>
            <a:ext cx="4762500" cy="228600"/>
          </a:xfrm>
          <a:prstGeom prst="rect">
            <a:avLst/>
          </a:prstGeom>
          <a:noFill/>
          <a:ln w="0">
            <a:noFill/>
            <a:prstDash val="solid"/>
          </a:ln>
        </p:spPr>
        <p:txBody>
          <a:bodyPr anchor="ctr"/>
          <a:lstStyle/>
          <a:p>
            <a:pPr algn="l">
              <a:defRPr sz="975" b="1">
                <a:solidFill>
                  <a:srgbClr val="32D3C7"/>
                </a:solidFill>
              </a:defRPr>
            </a:pPr>
            <a:r>
              <a:rPr sz="975" b="1">
                <a:solidFill>
                  <a:srgbClr val="32D3C7"/>
                </a:solidFill>
              </a:rPr>
              <a:t>DEPLOYMENT RECOMMENDATION</a:t>
            </a:r>
          </a:p>
        </p:txBody>
      </p:sp>
      <p:sp>
        <p:nvSpPr>
          <p:cNvPr id="2" name="Rectangle 1">
            <a:extLst>
              <a:ext uri="{FF2B5EF4-FFF2-40B4-BE49-F238E27FC236}">
                <a16:creationId xmlns:a16="http://schemas.microsoft.com/office/drawing/2014/main" id="{06B17984-0E51-4AA3-BDDB-FF61CC9126D1}"/>
              </a:ext>
            </a:extLst>
          </p:cNvPr>
          <p:cNvSpPr>
            <a:spLocks noGrp="1"/>
          </p:cNvSpPr>
          <p:nvPr/>
        </p:nvSpPr>
        <p:spPr>
          <a:xfrm>
            <a:off x="609600" y="638175"/>
            <a:ext cx="10668000" cy="552450"/>
          </a:xfrm>
          <a:prstGeom prst="rect">
            <a:avLst/>
          </a:prstGeom>
          <a:noFill/>
          <a:ln w="0">
            <a:noFill/>
            <a:prstDash val="solid"/>
          </a:ln>
        </p:spPr>
        <p:txBody>
          <a:bodyPr anchor="ctr"/>
          <a:lstStyle/>
          <a:p>
            <a:pPr algn="l">
              <a:defRPr sz="2700" b="1">
                <a:solidFill>
                  <a:srgbClr val="F8FBFF"/>
                </a:solidFill>
              </a:defRPr>
            </a:pPr>
            <a:r>
              <a:rPr sz="2700" b="1">
                <a:solidFill>
                  <a:srgbClr val="F8FBFF"/>
                </a:solidFill>
              </a:rPr>
              <a:t>Start with MF; promote NCF only when evidence clears the bar</a:t>
            </a:r>
          </a:p>
        </p:txBody>
      </p:sp>
      <p:sp>
        <p:nvSpPr>
          <p:cNvPr id="3" name="Straight Connector 2">
            <a:extLst>
              <a:ext uri="{FF2B5EF4-FFF2-40B4-BE49-F238E27FC236}">
                <a16:creationId xmlns:a16="http://schemas.microsoft.com/office/drawing/2014/main" id="{4D1B9DEF-EEF5-40BC-A5DF-4EFA4AF87812}"/>
              </a:ext>
            </a:extLst>
          </p:cNvPr>
          <p:cNvSpPr>
            <a:spLocks noGrp="1"/>
          </p:cNvSpPr>
          <p:nvPr/>
        </p:nvSpPr>
        <p:spPr>
          <a:xfrm>
            <a:off x="609600" y="1304925"/>
            <a:ext cx="10972800" cy="0"/>
          </a:xfrm>
          <a:prstGeom prst="line">
            <a:avLst/>
          </a:prstGeom>
          <a:ln w="9525">
            <a:solidFill>
              <a:srgbClr val="28445F"/>
            </a:solidFill>
            <a:prstDash val="solid"/>
          </a:ln>
        </p:spPr>
        <p:txBody>
          <a:bodyPr/>
          <a:lstStyle/>
          <a:p>
            <a:endParaRPr lang="en-US"/>
          </a:p>
        </p:txBody>
      </p:sp>
      <p:sp>
        <p:nvSpPr>
          <p:cNvPr id="4" name="Rectangle 3">
            <a:extLst>
              <a:ext uri="{FF2B5EF4-FFF2-40B4-BE49-F238E27FC236}">
                <a16:creationId xmlns:a16="http://schemas.microsoft.com/office/drawing/2014/main" id="{FF3BE920-6F93-4CD0-891E-DBEB5F6B5DCF}"/>
              </a:ext>
            </a:extLst>
          </p:cNvPr>
          <p:cNvSpPr>
            <a:spLocks noGrp="1"/>
          </p:cNvSpPr>
          <p:nvPr/>
        </p:nvSpPr>
        <p:spPr>
          <a:xfrm>
            <a:off x="11239500" y="6238875"/>
            <a:ext cx="428625" cy="228600"/>
          </a:xfrm>
          <a:prstGeom prst="rect">
            <a:avLst/>
          </a:prstGeom>
          <a:noFill/>
          <a:ln w="0">
            <a:noFill/>
            <a:prstDash val="solid"/>
          </a:ln>
        </p:spPr>
        <p:txBody>
          <a:bodyPr anchor="ctr"/>
          <a:lstStyle/>
          <a:p>
            <a:pPr algn="r">
              <a:defRPr sz="900" b="1">
                <a:solidFill>
                  <a:srgbClr val="A8B8C8"/>
                </a:solidFill>
              </a:defRPr>
            </a:pPr>
            <a:r>
              <a:rPr sz="900" b="1">
                <a:solidFill>
                  <a:srgbClr val="A8B8C8"/>
                </a:solidFill>
              </a:rPr>
              <a:t>15</a:t>
            </a:r>
          </a:p>
        </p:txBody>
      </p:sp>
      <p:sp>
        <p:nvSpPr>
          <p:cNvPr id="5" name="Rectangle: Rounded Corners 4">
            <a:extLst>
              <a:ext uri="{FF2B5EF4-FFF2-40B4-BE49-F238E27FC236}">
                <a16:creationId xmlns:a16="http://schemas.microsoft.com/office/drawing/2014/main" id="{B3D92777-BE4A-4214-B471-A9C98A2616E8}"/>
              </a:ext>
            </a:extLst>
          </p:cNvPr>
          <p:cNvSpPr>
            <a:spLocks noGrp="1"/>
          </p:cNvSpPr>
          <p:nvPr/>
        </p:nvSpPr>
        <p:spPr>
          <a:xfrm>
            <a:off x="857250" y="1762125"/>
            <a:ext cx="4524375" cy="3190875"/>
          </a:xfrm>
          <a:prstGeom prst="roundRect">
            <a:avLst>
              <a:gd name="adj" fmla="val 3582"/>
            </a:avLst>
          </a:prstGeom>
          <a:solidFill>
            <a:srgbClr val="32D3C7"/>
          </a:solidFill>
          <a:ln w="0">
            <a:noFill/>
            <a:prstDash val="solid"/>
          </a:ln>
        </p:spPr>
        <p:txBody>
          <a:bodyPr/>
          <a:lstStyle/>
          <a:p>
            <a:endParaRPr lang="en-US"/>
          </a:p>
        </p:txBody>
      </p:sp>
      <p:sp>
        <p:nvSpPr>
          <p:cNvPr id="6" name="Rectangle 5">
            <a:extLst>
              <a:ext uri="{FF2B5EF4-FFF2-40B4-BE49-F238E27FC236}">
                <a16:creationId xmlns:a16="http://schemas.microsoft.com/office/drawing/2014/main" id="{8212E574-70E6-4152-BE77-798AB6E2925D}"/>
              </a:ext>
            </a:extLst>
          </p:cNvPr>
          <p:cNvSpPr>
            <a:spLocks noGrp="1"/>
          </p:cNvSpPr>
          <p:nvPr/>
        </p:nvSpPr>
        <p:spPr>
          <a:xfrm>
            <a:off x="1143000" y="2047875"/>
            <a:ext cx="3905250" cy="238125"/>
          </a:xfrm>
          <a:prstGeom prst="rect">
            <a:avLst/>
          </a:prstGeom>
          <a:noFill/>
          <a:ln w="0">
            <a:noFill/>
            <a:prstDash val="solid"/>
          </a:ln>
        </p:spPr>
        <p:txBody>
          <a:bodyPr anchor="ctr"/>
          <a:lstStyle/>
          <a:p>
            <a:pPr algn="l">
              <a:defRPr sz="1125" b="1">
                <a:solidFill>
                  <a:srgbClr val="071525"/>
                </a:solidFill>
              </a:defRPr>
            </a:pPr>
            <a:r>
              <a:rPr sz="1125" b="1">
                <a:solidFill>
                  <a:srgbClr val="071525"/>
                </a:solidFill>
              </a:rPr>
              <a:t>DEFAULT</a:t>
            </a:r>
          </a:p>
        </p:txBody>
      </p:sp>
      <p:sp>
        <p:nvSpPr>
          <p:cNvPr id="7" name="Rectangle 6">
            <a:extLst>
              <a:ext uri="{FF2B5EF4-FFF2-40B4-BE49-F238E27FC236}">
                <a16:creationId xmlns:a16="http://schemas.microsoft.com/office/drawing/2014/main" id="{760F5156-3EE7-43F9-996A-E7169AE9B8DC}"/>
              </a:ext>
            </a:extLst>
          </p:cNvPr>
          <p:cNvSpPr>
            <a:spLocks noGrp="1"/>
          </p:cNvSpPr>
          <p:nvPr/>
        </p:nvSpPr>
        <p:spPr>
          <a:xfrm>
            <a:off x="1143000" y="2524125"/>
            <a:ext cx="3905250" cy="952500"/>
          </a:xfrm>
          <a:prstGeom prst="rect">
            <a:avLst/>
          </a:prstGeom>
          <a:noFill/>
          <a:ln w="0">
            <a:noFill/>
            <a:prstDash val="solid"/>
          </a:ln>
        </p:spPr>
        <p:txBody>
          <a:bodyPr anchor="ctr"/>
          <a:lstStyle/>
          <a:p>
            <a:pPr algn="l">
              <a:defRPr sz="2850" b="1">
                <a:solidFill>
                  <a:srgbClr val="071525"/>
                </a:solidFill>
              </a:defRPr>
            </a:pPr>
            <a:r>
              <a:rPr sz="2850" b="1">
                <a:solidFill>
                  <a:srgbClr val="071525"/>
                </a:solidFill>
              </a:rPr>
              <a:t>Matrix</a:t>
            </a:r>
          </a:p>
          <a:p>
            <a:pPr algn="l">
              <a:defRPr sz="2850" b="1">
                <a:solidFill>
                  <a:srgbClr val="071525"/>
                </a:solidFill>
              </a:defRPr>
            </a:pPr>
            <a:r>
              <a:rPr sz="2850" b="1">
                <a:solidFill>
                  <a:srgbClr val="071525"/>
                </a:solidFill>
              </a:rPr>
              <a:t>factorisation</a:t>
            </a:r>
          </a:p>
        </p:txBody>
      </p:sp>
      <p:sp>
        <p:nvSpPr>
          <p:cNvPr id="8" name="Rectangle 7">
            <a:extLst>
              <a:ext uri="{FF2B5EF4-FFF2-40B4-BE49-F238E27FC236}">
                <a16:creationId xmlns:a16="http://schemas.microsoft.com/office/drawing/2014/main" id="{2DB2CF3C-C541-467E-91BF-D906AB08EB5B}"/>
              </a:ext>
            </a:extLst>
          </p:cNvPr>
          <p:cNvSpPr>
            <a:spLocks noGrp="1"/>
          </p:cNvSpPr>
          <p:nvPr/>
        </p:nvSpPr>
        <p:spPr>
          <a:xfrm>
            <a:off x="1143000" y="3857625"/>
            <a:ext cx="3905250" cy="666750"/>
          </a:xfrm>
          <a:prstGeom prst="rect">
            <a:avLst/>
          </a:prstGeom>
          <a:noFill/>
          <a:ln w="0">
            <a:noFill/>
            <a:prstDash val="solid"/>
          </a:ln>
        </p:spPr>
        <p:txBody>
          <a:bodyPr anchor="ctr"/>
          <a:lstStyle/>
          <a:p>
            <a:pPr algn="l">
              <a:defRPr sz="1425" b="0">
                <a:solidFill>
                  <a:srgbClr val="071525"/>
                </a:solidFill>
              </a:defRPr>
            </a:pPr>
            <a:r>
              <a:rPr sz="1425" b="0">
                <a:solidFill>
                  <a:srgbClr val="071525"/>
                </a:solidFill>
              </a:rPr>
              <a:t>Smaller • faster • decomposable</a:t>
            </a:r>
          </a:p>
          <a:p>
            <a:pPr algn="l">
              <a:defRPr sz="1425" b="0">
                <a:solidFill>
                  <a:srgbClr val="071525"/>
                </a:solidFill>
              </a:defRPr>
            </a:pPr>
            <a:r>
              <a:rPr sz="1425" b="0">
                <a:solidFill>
                  <a:srgbClr val="071525"/>
                </a:solidFill>
              </a:rPr>
              <a:t>Strong benchmark for modest data</a:t>
            </a:r>
          </a:p>
        </p:txBody>
      </p:sp>
      <p:sp>
        <p:nvSpPr>
          <p:cNvPr id="9" name="Rectangle: Rounded Corners 8">
            <a:extLst>
              <a:ext uri="{FF2B5EF4-FFF2-40B4-BE49-F238E27FC236}">
                <a16:creationId xmlns:a16="http://schemas.microsoft.com/office/drawing/2014/main" id="{1F6B7F07-DE26-49A9-B287-F3800F1300BD}"/>
              </a:ext>
            </a:extLst>
          </p:cNvPr>
          <p:cNvSpPr>
            <a:spLocks noGrp="1"/>
          </p:cNvSpPr>
          <p:nvPr/>
        </p:nvSpPr>
        <p:spPr>
          <a:xfrm>
            <a:off x="6810375" y="1762125"/>
            <a:ext cx="4524375" cy="3190875"/>
          </a:xfrm>
          <a:prstGeom prst="roundRect">
            <a:avLst>
              <a:gd name="adj" fmla="val 3582"/>
            </a:avLst>
          </a:prstGeom>
          <a:solidFill>
            <a:srgbClr val="102A43"/>
          </a:solidFill>
          <a:ln w="0">
            <a:noFill/>
            <a:prstDash val="solid"/>
          </a:ln>
        </p:spPr>
        <p:txBody>
          <a:bodyPr/>
          <a:lstStyle/>
          <a:p>
            <a:endParaRPr lang="en-US"/>
          </a:p>
        </p:txBody>
      </p:sp>
      <p:sp>
        <p:nvSpPr>
          <p:cNvPr id="10" name="Rectangle 9">
            <a:extLst>
              <a:ext uri="{FF2B5EF4-FFF2-40B4-BE49-F238E27FC236}">
                <a16:creationId xmlns:a16="http://schemas.microsoft.com/office/drawing/2014/main" id="{D9B6998A-39C7-4B10-8BF5-CBFBB288DF90}"/>
              </a:ext>
            </a:extLst>
          </p:cNvPr>
          <p:cNvSpPr>
            <a:spLocks noGrp="1"/>
          </p:cNvSpPr>
          <p:nvPr/>
        </p:nvSpPr>
        <p:spPr>
          <a:xfrm>
            <a:off x="7096125" y="2047875"/>
            <a:ext cx="3905250" cy="238125"/>
          </a:xfrm>
          <a:prstGeom prst="rect">
            <a:avLst/>
          </a:prstGeom>
          <a:noFill/>
          <a:ln w="0">
            <a:noFill/>
            <a:prstDash val="solid"/>
          </a:ln>
        </p:spPr>
        <p:txBody>
          <a:bodyPr anchor="ctr"/>
          <a:lstStyle/>
          <a:p>
            <a:pPr algn="l">
              <a:defRPr sz="1125" b="1">
                <a:solidFill>
                  <a:srgbClr val="FFB547"/>
                </a:solidFill>
              </a:defRPr>
            </a:pPr>
            <a:r>
              <a:rPr sz="1125" b="1">
                <a:solidFill>
                  <a:srgbClr val="FFB547"/>
                </a:solidFill>
              </a:rPr>
              <a:t>PROMOTE ONLY IF</a:t>
            </a:r>
          </a:p>
        </p:txBody>
      </p:sp>
      <p:sp>
        <p:nvSpPr>
          <p:cNvPr id="11" name="Rectangle 10">
            <a:extLst>
              <a:ext uri="{FF2B5EF4-FFF2-40B4-BE49-F238E27FC236}">
                <a16:creationId xmlns:a16="http://schemas.microsoft.com/office/drawing/2014/main" id="{28325F2B-4934-4D6E-862D-23669B0723CD}"/>
              </a:ext>
            </a:extLst>
          </p:cNvPr>
          <p:cNvSpPr>
            <a:spLocks noGrp="1"/>
          </p:cNvSpPr>
          <p:nvPr/>
        </p:nvSpPr>
        <p:spPr>
          <a:xfrm>
            <a:off x="7096125" y="2619375"/>
            <a:ext cx="3905250" cy="571500"/>
          </a:xfrm>
          <a:prstGeom prst="rect">
            <a:avLst/>
          </a:prstGeom>
          <a:noFill/>
          <a:ln w="0">
            <a:noFill/>
            <a:prstDash val="solid"/>
          </a:ln>
        </p:spPr>
        <p:txBody>
          <a:bodyPr anchor="ctr"/>
          <a:lstStyle/>
          <a:p>
            <a:pPr algn="l">
              <a:defRPr sz="2850" b="1">
                <a:solidFill>
                  <a:srgbClr val="F8FBFF"/>
                </a:solidFill>
              </a:defRPr>
            </a:pPr>
            <a:r>
              <a:rPr sz="2850" b="1">
                <a:solidFill>
                  <a:srgbClr val="F8FBFF"/>
                </a:solidFill>
              </a:rPr>
              <a:t>Neural CF</a:t>
            </a:r>
          </a:p>
        </p:txBody>
      </p:sp>
      <p:sp>
        <p:nvSpPr>
          <p:cNvPr id="12" name="Rectangle 11">
            <a:extLst>
              <a:ext uri="{FF2B5EF4-FFF2-40B4-BE49-F238E27FC236}">
                <a16:creationId xmlns:a16="http://schemas.microsoft.com/office/drawing/2014/main" id="{83A838DB-1103-4848-B9C9-8FAEEF8D0D6A}"/>
              </a:ext>
            </a:extLst>
          </p:cNvPr>
          <p:cNvSpPr>
            <a:spLocks noGrp="1"/>
          </p:cNvSpPr>
          <p:nvPr/>
        </p:nvSpPr>
        <p:spPr>
          <a:xfrm>
            <a:off x="7096125" y="3619500"/>
            <a:ext cx="3905250" cy="904875"/>
          </a:xfrm>
          <a:prstGeom prst="rect">
            <a:avLst/>
          </a:prstGeom>
          <a:noFill/>
          <a:ln w="0">
            <a:noFill/>
            <a:prstDash val="solid"/>
          </a:ln>
        </p:spPr>
        <p:txBody>
          <a:bodyPr anchor="ctr"/>
          <a:lstStyle/>
          <a:p>
            <a:pPr algn="l">
              <a:defRPr sz="1425" b="0">
                <a:solidFill>
                  <a:srgbClr val="A8B8C8"/>
                </a:solidFill>
              </a:defRPr>
            </a:pPr>
            <a:r>
              <a:rPr sz="1425" b="0">
                <a:solidFill>
                  <a:srgbClr val="A8B8C8"/>
                </a:solidFill>
              </a:rPr>
              <a:t>Stable ranking gain</a:t>
            </a:r>
          </a:p>
          <a:p>
            <a:pPr algn="l">
              <a:defRPr sz="1425" b="0">
                <a:solidFill>
                  <a:srgbClr val="A8B8C8"/>
                </a:solidFill>
              </a:defRPr>
            </a:pPr>
            <a:r>
              <a:rPr sz="1425" b="0">
                <a:solidFill>
                  <a:srgbClr val="A8B8C8"/>
                </a:solidFill>
              </a:rPr>
              <a:t>Acceptable latency and energy</a:t>
            </a:r>
          </a:p>
          <a:p>
            <a:pPr algn="l">
              <a:defRPr sz="1425" b="0">
                <a:solidFill>
                  <a:srgbClr val="A8B8C8"/>
                </a:solidFill>
              </a:defRPr>
            </a:pPr>
            <a:r>
              <a:rPr sz="1425" b="0">
                <a:solidFill>
                  <a:srgbClr val="A8B8C8"/>
                </a:solidFill>
              </a:rPr>
              <a:t>Adequate explanation and fairness</a:t>
            </a:r>
          </a:p>
        </p:txBody>
      </p:sp>
      <p:sp>
        <p:nvSpPr>
          <p:cNvPr id="13" name="Rectangle 12">
            <a:extLst>
              <a:ext uri="{FF2B5EF4-FFF2-40B4-BE49-F238E27FC236}">
                <a16:creationId xmlns:a16="http://schemas.microsoft.com/office/drawing/2014/main" id="{C58E988D-06F6-4BAF-9C7F-02EBED08F1C6}"/>
              </a:ext>
            </a:extLst>
          </p:cNvPr>
          <p:cNvSpPr>
            <a:spLocks noGrp="1"/>
          </p:cNvSpPr>
          <p:nvPr/>
        </p:nvSpPr>
        <p:spPr>
          <a:xfrm>
            <a:off x="857250" y="5381625"/>
            <a:ext cx="10477500" cy="438150"/>
          </a:xfrm>
          <a:prstGeom prst="rect">
            <a:avLst/>
          </a:prstGeom>
          <a:noFill/>
          <a:ln w="0">
            <a:noFill/>
            <a:prstDash val="solid"/>
          </a:ln>
        </p:spPr>
        <p:txBody>
          <a:bodyPr anchor="ctr"/>
          <a:lstStyle/>
          <a:p>
            <a:pPr algn="ctr">
              <a:defRPr sz="2250" b="1">
                <a:solidFill>
                  <a:srgbClr val="F8FBFF"/>
                </a:solidFill>
              </a:defRPr>
            </a:pPr>
            <a:r>
              <a:rPr sz="2250" b="1">
                <a:solidFill>
                  <a:srgbClr val="F8FBFF"/>
                </a:solidFill>
              </a:rPr>
              <a:t>Complexity must earn its place.</a:t>
            </a:r>
          </a:p>
        </p:txBody>
      </p:sp>
    </p:spTree>
    <p:extLst>
      <p:ext uri="{BB962C8B-B14F-4D97-AF65-F5344CB8AC3E}">
        <p14:creationId xmlns:p14="http://schemas.microsoft.com/office/powerpoint/2010/main" val="84598499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54C2CB9-4792-4E53-AEF2-C9DFF3F50CBC}"/>
              </a:ext>
            </a:extLst>
          </p:cNvPr>
          <p:cNvSpPr>
            <a:spLocks noGrp="1"/>
          </p:cNvSpPr>
          <p:nvPr/>
        </p:nvSpPr>
        <p:spPr>
          <a:xfrm>
            <a:off x="609600" y="323850"/>
            <a:ext cx="4762500" cy="228600"/>
          </a:xfrm>
          <a:prstGeom prst="rect">
            <a:avLst/>
          </a:prstGeom>
          <a:noFill/>
          <a:ln w="0">
            <a:noFill/>
            <a:prstDash val="solid"/>
          </a:ln>
        </p:spPr>
        <p:txBody>
          <a:bodyPr anchor="ctr"/>
          <a:lstStyle/>
          <a:p>
            <a:pPr algn="l">
              <a:defRPr sz="975" b="1">
                <a:solidFill>
                  <a:srgbClr val="32D3C7"/>
                </a:solidFill>
              </a:defRPr>
            </a:pPr>
            <a:r>
              <a:rPr sz="975" b="1">
                <a:solidFill>
                  <a:srgbClr val="32D3C7"/>
                </a:solidFill>
              </a:rPr>
              <a:t>CONCLUSION</a:t>
            </a:r>
          </a:p>
        </p:txBody>
      </p:sp>
      <p:sp>
        <p:nvSpPr>
          <p:cNvPr id="2" name="Rectangle 1">
            <a:extLst>
              <a:ext uri="{FF2B5EF4-FFF2-40B4-BE49-F238E27FC236}">
                <a16:creationId xmlns:a16="http://schemas.microsoft.com/office/drawing/2014/main" id="{9C72B241-2BEB-487B-8738-60A1A6BED96E}"/>
              </a:ext>
            </a:extLst>
          </p:cNvPr>
          <p:cNvSpPr>
            <a:spLocks noGrp="1"/>
          </p:cNvSpPr>
          <p:nvPr/>
        </p:nvSpPr>
        <p:spPr>
          <a:xfrm>
            <a:off x="609600" y="638175"/>
            <a:ext cx="10668000" cy="552450"/>
          </a:xfrm>
          <a:prstGeom prst="rect">
            <a:avLst/>
          </a:prstGeom>
          <a:noFill/>
          <a:ln w="0">
            <a:noFill/>
            <a:prstDash val="solid"/>
          </a:ln>
        </p:spPr>
        <p:txBody>
          <a:bodyPr anchor="ctr"/>
          <a:lstStyle/>
          <a:p>
            <a:pPr algn="l">
              <a:defRPr sz="2700" b="1">
                <a:solidFill>
                  <a:srgbClr val="F8FBFF"/>
                </a:solidFill>
              </a:defRPr>
            </a:pPr>
            <a:r>
              <a:rPr sz="2700" b="1">
                <a:solidFill>
                  <a:srgbClr val="F8FBFF"/>
                </a:solidFill>
              </a:rPr>
              <a:t>Responsible intelligence is measured after the model leaves training</a:t>
            </a:r>
          </a:p>
        </p:txBody>
      </p:sp>
      <p:sp>
        <p:nvSpPr>
          <p:cNvPr id="3" name="Straight Connector 2">
            <a:extLst>
              <a:ext uri="{FF2B5EF4-FFF2-40B4-BE49-F238E27FC236}">
                <a16:creationId xmlns:a16="http://schemas.microsoft.com/office/drawing/2014/main" id="{FA033A13-291E-462A-A8AB-C3BCD83C4EC0}"/>
              </a:ext>
            </a:extLst>
          </p:cNvPr>
          <p:cNvSpPr>
            <a:spLocks noGrp="1"/>
          </p:cNvSpPr>
          <p:nvPr/>
        </p:nvSpPr>
        <p:spPr>
          <a:xfrm>
            <a:off x="609600" y="1304925"/>
            <a:ext cx="10972800" cy="0"/>
          </a:xfrm>
          <a:prstGeom prst="line">
            <a:avLst/>
          </a:prstGeom>
          <a:ln w="9525">
            <a:solidFill>
              <a:srgbClr val="28445F"/>
            </a:solidFill>
            <a:prstDash val="solid"/>
          </a:ln>
        </p:spPr>
        <p:txBody>
          <a:bodyPr/>
          <a:lstStyle/>
          <a:p>
            <a:endParaRPr lang="en-US"/>
          </a:p>
        </p:txBody>
      </p:sp>
      <p:sp>
        <p:nvSpPr>
          <p:cNvPr id="4" name="Rectangle 3">
            <a:extLst>
              <a:ext uri="{FF2B5EF4-FFF2-40B4-BE49-F238E27FC236}">
                <a16:creationId xmlns:a16="http://schemas.microsoft.com/office/drawing/2014/main" id="{66BC7A93-699E-4415-8826-28733CF3A529}"/>
              </a:ext>
            </a:extLst>
          </p:cNvPr>
          <p:cNvSpPr>
            <a:spLocks noGrp="1"/>
          </p:cNvSpPr>
          <p:nvPr/>
        </p:nvSpPr>
        <p:spPr>
          <a:xfrm>
            <a:off x="11239500" y="6238875"/>
            <a:ext cx="428625" cy="228600"/>
          </a:xfrm>
          <a:prstGeom prst="rect">
            <a:avLst/>
          </a:prstGeom>
          <a:noFill/>
          <a:ln w="0">
            <a:noFill/>
            <a:prstDash val="solid"/>
          </a:ln>
        </p:spPr>
        <p:txBody>
          <a:bodyPr anchor="ctr"/>
          <a:lstStyle/>
          <a:p>
            <a:pPr algn="r">
              <a:defRPr sz="900" b="1">
                <a:solidFill>
                  <a:srgbClr val="A8B8C8"/>
                </a:solidFill>
              </a:defRPr>
            </a:pPr>
            <a:r>
              <a:rPr sz="900" b="1">
                <a:solidFill>
                  <a:srgbClr val="A8B8C8"/>
                </a:solidFill>
              </a:rPr>
              <a:t>16</a:t>
            </a:r>
          </a:p>
        </p:txBody>
      </p:sp>
      <p:sp>
        <p:nvSpPr>
          <p:cNvPr id="5" name="Rectangle 4">
            <a:extLst>
              <a:ext uri="{FF2B5EF4-FFF2-40B4-BE49-F238E27FC236}">
                <a16:creationId xmlns:a16="http://schemas.microsoft.com/office/drawing/2014/main" id="{B2686802-0420-467E-A5DE-969ABF0910DC}"/>
              </a:ext>
            </a:extLst>
          </p:cNvPr>
          <p:cNvSpPr>
            <a:spLocks noGrp="1"/>
          </p:cNvSpPr>
          <p:nvPr/>
        </p:nvSpPr>
        <p:spPr>
          <a:xfrm>
            <a:off x="904875" y="1857375"/>
            <a:ext cx="762000" cy="428625"/>
          </a:xfrm>
          <a:prstGeom prst="rect">
            <a:avLst/>
          </a:prstGeom>
          <a:noFill/>
          <a:ln w="0">
            <a:noFill/>
            <a:prstDash val="solid"/>
          </a:ln>
        </p:spPr>
        <p:txBody>
          <a:bodyPr anchor="ctr"/>
          <a:lstStyle/>
          <a:p>
            <a:pPr algn="l">
              <a:defRPr sz="1950" b="1">
                <a:solidFill>
                  <a:srgbClr val="32D3C7"/>
                </a:solidFill>
              </a:defRPr>
            </a:pPr>
            <a:r>
              <a:rPr sz="1950" b="1">
                <a:solidFill>
                  <a:srgbClr val="32D3C7"/>
                </a:solidFill>
              </a:rPr>
              <a:t>01</a:t>
            </a:r>
          </a:p>
        </p:txBody>
      </p:sp>
      <p:sp>
        <p:nvSpPr>
          <p:cNvPr id="6" name="Rectangle 5">
            <a:extLst>
              <a:ext uri="{FF2B5EF4-FFF2-40B4-BE49-F238E27FC236}">
                <a16:creationId xmlns:a16="http://schemas.microsoft.com/office/drawing/2014/main" id="{BFE88A88-7115-42C8-9C67-4B45598F8DB5}"/>
              </a:ext>
            </a:extLst>
          </p:cNvPr>
          <p:cNvSpPr>
            <a:spLocks noGrp="1"/>
          </p:cNvSpPr>
          <p:nvPr/>
        </p:nvSpPr>
        <p:spPr>
          <a:xfrm>
            <a:off x="1714500" y="1857375"/>
            <a:ext cx="8858250" cy="428625"/>
          </a:xfrm>
          <a:prstGeom prst="rect">
            <a:avLst/>
          </a:prstGeom>
          <a:noFill/>
          <a:ln w="0">
            <a:noFill/>
            <a:prstDash val="solid"/>
          </a:ln>
        </p:spPr>
        <p:txBody>
          <a:bodyPr anchor="ctr"/>
          <a:lstStyle/>
          <a:p>
            <a:pPr algn="l">
              <a:defRPr sz="2025" b="1">
                <a:solidFill>
                  <a:srgbClr val="F8FBFF"/>
                </a:solidFill>
              </a:defRPr>
            </a:pPr>
            <a:r>
              <a:rPr sz="2025" b="1">
                <a:solidFill>
                  <a:srgbClr val="F8FBFF"/>
                </a:solidFill>
              </a:rPr>
              <a:t>Same data, different assumptions</a:t>
            </a:r>
          </a:p>
        </p:txBody>
      </p:sp>
      <p:sp>
        <p:nvSpPr>
          <p:cNvPr id="7" name="Rectangle 6">
            <a:extLst>
              <a:ext uri="{FF2B5EF4-FFF2-40B4-BE49-F238E27FC236}">
                <a16:creationId xmlns:a16="http://schemas.microsoft.com/office/drawing/2014/main" id="{F4391C43-642E-4D02-BA6D-25F24D1B8E7F}"/>
              </a:ext>
            </a:extLst>
          </p:cNvPr>
          <p:cNvSpPr>
            <a:spLocks noGrp="1"/>
          </p:cNvSpPr>
          <p:nvPr/>
        </p:nvSpPr>
        <p:spPr>
          <a:xfrm>
            <a:off x="904875" y="2714625"/>
            <a:ext cx="762000" cy="428625"/>
          </a:xfrm>
          <a:prstGeom prst="rect">
            <a:avLst/>
          </a:prstGeom>
          <a:noFill/>
          <a:ln w="0">
            <a:noFill/>
            <a:prstDash val="solid"/>
          </a:ln>
        </p:spPr>
        <p:txBody>
          <a:bodyPr anchor="ctr"/>
          <a:lstStyle/>
          <a:p>
            <a:pPr algn="l">
              <a:defRPr sz="1950" b="1">
                <a:solidFill>
                  <a:srgbClr val="5AA9FF"/>
                </a:solidFill>
              </a:defRPr>
            </a:pPr>
            <a:r>
              <a:rPr sz="1950" b="1">
                <a:solidFill>
                  <a:srgbClr val="5AA9FF"/>
                </a:solidFill>
              </a:rPr>
              <a:t>02</a:t>
            </a:r>
          </a:p>
        </p:txBody>
      </p:sp>
      <p:sp>
        <p:nvSpPr>
          <p:cNvPr id="8" name="Rectangle 7">
            <a:extLst>
              <a:ext uri="{FF2B5EF4-FFF2-40B4-BE49-F238E27FC236}">
                <a16:creationId xmlns:a16="http://schemas.microsoft.com/office/drawing/2014/main" id="{4AE5DB7D-05BD-403D-AB71-461B9789A517}"/>
              </a:ext>
            </a:extLst>
          </p:cNvPr>
          <p:cNvSpPr>
            <a:spLocks noGrp="1"/>
          </p:cNvSpPr>
          <p:nvPr/>
        </p:nvSpPr>
        <p:spPr>
          <a:xfrm>
            <a:off x="1714500" y="2714625"/>
            <a:ext cx="8858250" cy="428625"/>
          </a:xfrm>
          <a:prstGeom prst="rect">
            <a:avLst/>
          </a:prstGeom>
          <a:noFill/>
          <a:ln w="0">
            <a:noFill/>
            <a:prstDash val="solid"/>
          </a:ln>
        </p:spPr>
        <p:txBody>
          <a:bodyPr anchor="ctr"/>
          <a:lstStyle/>
          <a:p>
            <a:pPr algn="l">
              <a:defRPr sz="2025" b="1">
                <a:solidFill>
                  <a:srgbClr val="F8FBFF"/>
                </a:solidFill>
              </a:defRPr>
            </a:pPr>
            <a:r>
              <a:rPr sz="2025" b="1">
                <a:solidFill>
                  <a:srgbClr val="F8FBFF"/>
                </a:solidFill>
              </a:rPr>
              <a:t>Validation turns scores into evidence</a:t>
            </a:r>
          </a:p>
        </p:txBody>
      </p:sp>
      <p:sp>
        <p:nvSpPr>
          <p:cNvPr id="9" name="Rectangle 8">
            <a:extLst>
              <a:ext uri="{FF2B5EF4-FFF2-40B4-BE49-F238E27FC236}">
                <a16:creationId xmlns:a16="http://schemas.microsoft.com/office/drawing/2014/main" id="{D3CC0930-5423-483A-ABB9-B1BD663B814D}"/>
              </a:ext>
            </a:extLst>
          </p:cNvPr>
          <p:cNvSpPr>
            <a:spLocks noGrp="1"/>
          </p:cNvSpPr>
          <p:nvPr/>
        </p:nvSpPr>
        <p:spPr>
          <a:xfrm>
            <a:off x="904875" y="3571875"/>
            <a:ext cx="762000" cy="428625"/>
          </a:xfrm>
          <a:prstGeom prst="rect">
            <a:avLst/>
          </a:prstGeom>
          <a:noFill/>
          <a:ln w="0">
            <a:noFill/>
            <a:prstDash val="solid"/>
          </a:ln>
        </p:spPr>
        <p:txBody>
          <a:bodyPr anchor="ctr"/>
          <a:lstStyle/>
          <a:p>
            <a:pPr algn="l">
              <a:defRPr sz="1950" b="1">
                <a:solidFill>
                  <a:srgbClr val="FFB547"/>
                </a:solidFill>
              </a:defRPr>
            </a:pPr>
            <a:r>
              <a:rPr sz="1950" b="1">
                <a:solidFill>
                  <a:srgbClr val="FFB547"/>
                </a:solidFill>
              </a:rPr>
              <a:t>03</a:t>
            </a:r>
          </a:p>
        </p:txBody>
      </p:sp>
      <p:sp>
        <p:nvSpPr>
          <p:cNvPr id="10" name="Rectangle 9">
            <a:extLst>
              <a:ext uri="{FF2B5EF4-FFF2-40B4-BE49-F238E27FC236}">
                <a16:creationId xmlns:a16="http://schemas.microsoft.com/office/drawing/2014/main" id="{F3952920-3782-4788-827A-EDAB5717370A}"/>
              </a:ext>
            </a:extLst>
          </p:cNvPr>
          <p:cNvSpPr>
            <a:spLocks noGrp="1"/>
          </p:cNvSpPr>
          <p:nvPr/>
        </p:nvSpPr>
        <p:spPr>
          <a:xfrm>
            <a:off x="1714500" y="3571875"/>
            <a:ext cx="8858250" cy="428625"/>
          </a:xfrm>
          <a:prstGeom prst="rect">
            <a:avLst/>
          </a:prstGeom>
          <a:noFill/>
          <a:ln w="0">
            <a:noFill/>
            <a:prstDash val="solid"/>
          </a:ln>
        </p:spPr>
        <p:txBody>
          <a:bodyPr anchor="ctr"/>
          <a:lstStyle/>
          <a:p>
            <a:pPr algn="l">
              <a:defRPr sz="2025" b="1">
                <a:solidFill>
                  <a:srgbClr val="F8FBFF"/>
                </a:solidFill>
              </a:defRPr>
            </a:pPr>
            <a:r>
              <a:rPr sz="2025" b="1">
                <a:solidFill>
                  <a:srgbClr val="F8FBFF"/>
                </a:solidFill>
              </a:rPr>
              <a:t>Explainability and subgroup analysis expose hidden costs</a:t>
            </a:r>
          </a:p>
        </p:txBody>
      </p:sp>
      <p:sp>
        <p:nvSpPr>
          <p:cNvPr id="11" name="Rectangle 10">
            <a:extLst>
              <a:ext uri="{FF2B5EF4-FFF2-40B4-BE49-F238E27FC236}">
                <a16:creationId xmlns:a16="http://schemas.microsoft.com/office/drawing/2014/main" id="{26F75963-F262-4DB3-9B34-81FD8825EF07}"/>
              </a:ext>
            </a:extLst>
          </p:cNvPr>
          <p:cNvSpPr>
            <a:spLocks noGrp="1"/>
          </p:cNvSpPr>
          <p:nvPr/>
        </p:nvSpPr>
        <p:spPr>
          <a:xfrm>
            <a:off x="904875" y="4429125"/>
            <a:ext cx="762000" cy="428625"/>
          </a:xfrm>
          <a:prstGeom prst="rect">
            <a:avLst/>
          </a:prstGeom>
          <a:noFill/>
          <a:ln w="0">
            <a:noFill/>
            <a:prstDash val="solid"/>
          </a:ln>
        </p:spPr>
        <p:txBody>
          <a:bodyPr anchor="ctr"/>
          <a:lstStyle/>
          <a:p>
            <a:pPr algn="l">
              <a:defRPr sz="1950" b="1">
                <a:solidFill>
                  <a:srgbClr val="62D99C"/>
                </a:solidFill>
              </a:defRPr>
            </a:pPr>
            <a:r>
              <a:rPr sz="1950" b="1">
                <a:solidFill>
                  <a:srgbClr val="62D99C"/>
                </a:solidFill>
              </a:rPr>
              <a:t>04</a:t>
            </a:r>
          </a:p>
        </p:txBody>
      </p:sp>
      <p:sp>
        <p:nvSpPr>
          <p:cNvPr id="12" name="Rectangle 11">
            <a:extLst>
              <a:ext uri="{FF2B5EF4-FFF2-40B4-BE49-F238E27FC236}">
                <a16:creationId xmlns:a16="http://schemas.microsoft.com/office/drawing/2014/main" id="{6E7447E0-D35B-4E5C-8EAA-A58D1EB20F77}"/>
              </a:ext>
            </a:extLst>
          </p:cNvPr>
          <p:cNvSpPr>
            <a:spLocks noGrp="1"/>
          </p:cNvSpPr>
          <p:nvPr/>
        </p:nvSpPr>
        <p:spPr>
          <a:xfrm>
            <a:off x="1714500" y="4429125"/>
            <a:ext cx="8858250" cy="428625"/>
          </a:xfrm>
          <a:prstGeom prst="rect">
            <a:avLst/>
          </a:prstGeom>
          <a:noFill/>
          <a:ln w="0">
            <a:noFill/>
            <a:prstDash val="solid"/>
          </a:ln>
        </p:spPr>
        <p:txBody>
          <a:bodyPr anchor="ctr"/>
          <a:lstStyle/>
          <a:p>
            <a:pPr algn="l">
              <a:defRPr sz="2025" b="1">
                <a:solidFill>
                  <a:srgbClr val="F8FBFF"/>
                </a:solidFill>
              </a:defRPr>
            </a:pPr>
            <a:r>
              <a:rPr sz="2025" b="1">
                <a:solidFill>
                  <a:srgbClr val="F8FBFF"/>
                </a:solidFill>
              </a:rPr>
              <a:t>Deployment requires monitoring, controls and rollback</a:t>
            </a:r>
          </a:p>
        </p:txBody>
      </p:sp>
      <p:sp>
        <p:nvSpPr>
          <p:cNvPr id="13" name="Rectangle 12">
            <a:extLst>
              <a:ext uri="{FF2B5EF4-FFF2-40B4-BE49-F238E27FC236}">
                <a16:creationId xmlns:a16="http://schemas.microsoft.com/office/drawing/2014/main" id="{CA2ECDBE-387A-4622-B8B8-B82F451D95FD}"/>
              </a:ext>
            </a:extLst>
          </p:cNvPr>
          <p:cNvSpPr>
            <a:spLocks noGrp="1"/>
          </p:cNvSpPr>
          <p:nvPr/>
        </p:nvSpPr>
        <p:spPr>
          <a:xfrm>
            <a:off x="904875" y="5476875"/>
            <a:ext cx="10382250" cy="428625"/>
          </a:xfrm>
          <a:prstGeom prst="rect">
            <a:avLst/>
          </a:prstGeom>
          <a:noFill/>
          <a:ln w="0">
            <a:noFill/>
            <a:prstDash val="solid"/>
          </a:ln>
        </p:spPr>
        <p:txBody>
          <a:bodyPr anchor="ctr"/>
          <a:lstStyle/>
          <a:p>
            <a:pPr algn="ctr">
              <a:defRPr sz="1875" b="1">
                <a:solidFill>
                  <a:srgbClr val="32D3C7"/>
                </a:solidFill>
              </a:defRPr>
            </a:pPr>
            <a:r>
              <a:rPr sz="1875" b="1">
                <a:solidFill>
                  <a:srgbClr val="32D3C7"/>
                </a:solidFill>
              </a:rPr>
              <a:t>Final message: choose the simplest model that reliably meets the real objective.</a:t>
            </a:r>
          </a:p>
        </p:txBody>
      </p:sp>
    </p:spTree>
    <p:extLst>
      <p:ext uri="{BB962C8B-B14F-4D97-AF65-F5344CB8AC3E}">
        <p14:creationId xmlns:p14="http://schemas.microsoft.com/office/powerpoint/2010/main" val="30980424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32632C9-D526-49FF-95E1-A2FEC5457A77}"/>
              </a:ext>
            </a:extLst>
          </p:cNvPr>
          <p:cNvSpPr>
            <a:spLocks noGrp="1"/>
          </p:cNvSpPr>
          <p:nvPr/>
        </p:nvSpPr>
        <p:spPr>
          <a:xfrm>
            <a:off x="609600" y="323850"/>
            <a:ext cx="4762500" cy="228600"/>
          </a:xfrm>
          <a:prstGeom prst="rect">
            <a:avLst/>
          </a:prstGeom>
          <a:noFill/>
          <a:ln w="0">
            <a:noFill/>
            <a:prstDash val="solid"/>
          </a:ln>
        </p:spPr>
        <p:txBody>
          <a:bodyPr anchor="ctr"/>
          <a:lstStyle/>
          <a:p>
            <a:pPr algn="l">
              <a:defRPr sz="975" b="1">
                <a:solidFill>
                  <a:srgbClr val="32D3C7"/>
                </a:solidFill>
              </a:defRPr>
            </a:pPr>
            <a:r>
              <a:rPr sz="975" b="1">
                <a:solidFill>
                  <a:srgbClr val="32D3C7"/>
                </a:solidFill>
              </a:rPr>
              <a:t>EVIDENCE BASE</a:t>
            </a:r>
          </a:p>
        </p:txBody>
      </p:sp>
      <p:sp>
        <p:nvSpPr>
          <p:cNvPr id="2" name="Rectangle 1">
            <a:extLst>
              <a:ext uri="{FF2B5EF4-FFF2-40B4-BE49-F238E27FC236}">
                <a16:creationId xmlns:a16="http://schemas.microsoft.com/office/drawing/2014/main" id="{4129244D-57C1-4C5B-A2B5-63E254D4D5A5}"/>
              </a:ext>
            </a:extLst>
          </p:cNvPr>
          <p:cNvSpPr>
            <a:spLocks noGrp="1"/>
          </p:cNvSpPr>
          <p:nvPr/>
        </p:nvSpPr>
        <p:spPr>
          <a:xfrm>
            <a:off x="609600" y="638175"/>
            <a:ext cx="10668000" cy="552450"/>
          </a:xfrm>
          <a:prstGeom prst="rect">
            <a:avLst/>
          </a:prstGeom>
          <a:noFill/>
          <a:ln w="0">
            <a:noFill/>
            <a:prstDash val="solid"/>
          </a:ln>
        </p:spPr>
        <p:txBody>
          <a:bodyPr anchor="ctr"/>
          <a:lstStyle/>
          <a:p>
            <a:pPr algn="l">
              <a:defRPr sz="2700" b="1">
                <a:solidFill>
                  <a:srgbClr val="F8FBFF"/>
                </a:solidFill>
              </a:defRPr>
            </a:pPr>
            <a:r>
              <a:rPr sz="2700" b="1">
                <a:solidFill>
                  <a:srgbClr val="F8FBFF"/>
                </a:solidFill>
              </a:rPr>
              <a:t>References</a:t>
            </a:r>
          </a:p>
        </p:txBody>
      </p:sp>
      <p:sp>
        <p:nvSpPr>
          <p:cNvPr id="3" name="Straight Connector 2">
            <a:extLst>
              <a:ext uri="{FF2B5EF4-FFF2-40B4-BE49-F238E27FC236}">
                <a16:creationId xmlns:a16="http://schemas.microsoft.com/office/drawing/2014/main" id="{A4FB16EC-EAAE-4FDD-AD99-11E8206CA8EF}"/>
              </a:ext>
            </a:extLst>
          </p:cNvPr>
          <p:cNvSpPr>
            <a:spLocks noGrp="1"/>
          </p:cNvSpPr>
          <p:nvPr/>
        </p:nvSpPr>
        <p:spPr>
          <a:xfrm>
            <a:off x="609600" y="1304925"/>
            <a:ext cx="10972800" cy="0"/>
          </a:xfrm>
          <a:prstGeom prst="line">
            <a:avLst/>
          </a:prstGeom>
          <a:ln w="9525">
            <a:solidFill>
              <a:srgbClr val="28445F"/>
            </a:solidFill>
            <a:prstDash val="solid"/>
          </a:ln>
        </p:spPr>
        <p:txBody>
          <a:bodyPr/>
          <a:lstStyle/>
          <a:p>
            <a:endParaRPr lang="en-US"/>
          </a:p>
        </p:txBody>
      </p:sp>
      <p:sp>
        <p:nvSpPr>
          <p:cNvPr id="4" name="Rectangle 3">
            <a:extLst>
              <a:ext uri="{FF2B5EF4-FFF2-40B4-BE49-F238E27FC236}">
                <a16:creationId xmlns:a16="http://schemas.microsoft.com/office/drawing/2014/main" id="{46518DAB-0CEC-440E-9301-D76F3C0DE290}"/>
              </a:ext>
            </a:extLst>
          </p:cNvPr>
          <p:cNvSpPr>
            <a:spLocks noGrp="1"/>
          </p:cNvSpPr>
          <p:nvPr/>
        </p:nvSpPr>
        <p:spPr>
          <a:xfrm>
            <a:off x="11239500" y="6238875"/>
            <a:ext cx="428625" cy="228600"/>
          </a:xfrm>
          <a:prstGeom prst="rect">
            <a:avLst/>
          </a:prstGeom>
          <a:noFill/>
          <a:ln w="0">
            <a:noFill/>
            <a:prstDash val="solid"/>
          </a:ln>
        </p:spPr>
        <p:txBody>
          <a:bodyPr anchor="ctr"/>
          <a:lstStyle/>
          <a:p>
            <a:pPr algn="r">
              <a:defRPr sz="900" b="1">
                <a:solidFill>
                  <a:srgbClr val="A8B8C8"/>
                </a:solidFill>
              </a:defRPr>
            </a:pPr>
            <a:r>
              <a:rPr sz="900" b="1">
                <a:solidFill>
                  <a:srgbClr val="A8B8C8"/>
                </a:solidFill>
              </a:rPr>
              <a:t>17</a:t>
            </a:r>
          </a:p>
        </p:txBody>
      </p:sp>
      <p:sp>
        <p:nvSpPr>
          <p:cNvPr id="5" name="Rectangle 4">
            <a:extLst>
              <a:ext uri="{FF2B5EF4-FFF2-40B4-BE49-F238E27FC236}">
                <a16:creationId xmlns:a16="http://schemas.microsoft.com/office/drawing/2014/main" id="{FF3A701C-6E49-4279-993D-8A25B3AA07AA}"/>
              </a:ext>
            </a:extLst>
          </p:cNvPr>
          <p:cNvSpPr>
            <a:spLocks noGrp="1"/>
          </p:cNvSpPr>
          <p:nvPr/>
        </p:nvSpPr>
        <p:spPr>
          <a:xfrm>
            <a:off x="809625" y="1619250"/>
            <a:ext cx="10382250" cy="523875"/>
          </a:xfrm>
          <a:prstGeom prst="rect">
            <a:avLst/>
          </a:prstGeom>
          <a:noFill/>
          <a:ln w="0">
            <a:noFill/>
            <a:prstDash val="solid"/>
          </a:ln>
        </p:spPr>
        <p:txBody>
          <a:bodyPr anchor="ctr"/>
          <a:lstStyle/>
          <a:p>
            <a:pPr algn="l">
              <a:defRPr sz="1350" b="0">
                <a:solidFill>
                  <a:srgbClr val="F8FBFF"/>
                </a:solidFill>
              </a:defRPr>
            </a:pPr>
            <a:r>
              <a:rPr sz="1350" b="0">
                <a:solidFill>
                  <a:srgbClr val="F8FBFF"/>
                </a:solidFill>
              </a:rPr>
              <a:t>Harper, F.M. and Konstan, J.A. (2015) “The MovieLens datasets: History and context”, ACM TiiS, 5(4), pp. 1–19.</a:t>
            </a:r>
          </a:p>
        </p:txBody>
      </p:sp>
      <p:sp>
        <p:nvSpPr>
          <p:cNvPr id="6" name="Rectangle 5">
            <a:extLst>
              <a:ext uri="{FF2B5EF4-FFF2-40B4-BE49-F238E27FC236}">
                <a16:creationId xmlns:a16="http://schemas.microsoft.com/office/drawing/2014/main" id="{A2908FB2-D746-426A-B73E-530D016AAA49}"/>
              </a:ext>
            </a:extLst>
          </p:cNvPr>
          <p:cNvSpPr>
            <a:spLocks noGrp="1"/>
          </p:cNvSpPr>
          <p:nvPr/>
        </p:nvSpPr>
        <p:spPr>
          <a:xfrm>
            <a:off x="809625" y="2305050"/>
            <a:ext cx="10382250" cy="523875"/>
          </a:xfrm>
          <a:prstGeom prst="rect">
            <a:avLst/>
          </a:prstGeom>
          <a:noFill/>
          <a:ln w="0">
            <a:noFill/>
            <a:prstDash val="solid"/>
          </a:ln>
        </p:spPr>
        <p:txBody>
          <a:bodyPr anchor="ctr"/>
          <a:lstStyle/>
          <a:p>
            <a:pPr algn="l">
              <a:defRPr sz="1350" b="0">
                <a:solidFill>
                  <a:srgbClr val="F8FBFF"/>
                </a:solidFill>
              </a:defRPr>
            </a:pPr>
            <a:r>
              <a:rPr sz="1350" b="0">
                <a:solidFill>
                  <a:srgbClr val="F8FBFF"/>
                </a:solidFill>
              </a:rPr>
              <a:t>He, X. et al. (2017) “Neural collaborative filtering”, WWW 2017, pp. 173–182.</a:t>
            </a:r>
          </a:p>
        </p:txBody>
      </p:sp>
      <p:sp>
        <p:nvSpPr>
          <p:cNvPr id="7" name="Rectangle 6">
            <a:extLst>
              <a:ext uri="{FF2B5EF4-FFF2-40B4-BE49-F238E27FC236}">
                <a16:creationId xmlns:a16="http://schemas.microsoft.com/office/drawing/2014/main" id="{BF23B26E-A0E9-46FF-9672-A4003C61D985}"/>
              </a:ext>
            </a:extLst>
          </p:cNvPr>
          <p:cNvSpPr>
            <a:spLocks noGrp="1"/>
          </p:cNvSpPr>
          <p:nvPr/>
        </p:nvSpPr>
        <p:spPr>
          <a:xfrm>
            <a:off x="809625" y="2990850"/>
            <a:ext cx="10382250" cy="523875"/>
          </a:xfrm>
          <a:prstGeom prst="rect">
            <a:avLst/>
          </a:prstGeom>
          <a:noFill/>
          <a:ln w="0">
            <a:noFill/>
            <a:prstDash val="solid"/>
          </a:ln>
        </p:spPr>
        <p:txBody>
          <a:bodyPr anchor="ctr"/>
          <a:lstStyle/>
          <a:p>
            <a:pPr algn="l">
              <a:defRPr sz="1350" b="0">
                <a:solidFill>
                  <a:srgbClr val="F8FBFF"/>
                </a:solidFill>
              </a:defRPr>
            </a:pPr>
            <a:r>
              <a:rPr sz="1350" b="0">
                <a:solidFill>
                  <a:srgbClr val="F8FBFF"/>
                </a:solidFill>
              </a:rPr>
              <a:t>Koren, Y., Bell, R. and Volinsky, C. (2009) “Matrix factorization techniques for recommender systems”, Computer, 42(8), pp. 30–37.</a:t>
            </a:r>
          </a:p>
        </p:txBody>
      </p:sp>
      <p:sp>
        <p:nvSpPr>
          <p:cNvPr id="8" name="Rectangle 7">
            <a:extLst>
              <a:ext uri="{FF2B5EF4-FFF2-40B4-BE49-F238E27FC236}">
                <a16:creationId xmlns:a16="http://schemas.microsoft.com/office/drawing/2014/main" id="{F8A77845-F8FA-4BBC-9D5E-37077FBDD8FF}"/>
              </a:ext>
            </a:extLst>
          </p:cNvPr>
          <p:cNvSpPr>
            <a:spLocks noGrp="1"/>
          </p:cNvSpPr>
          <p:nvPr/>
        </p:nvSpPr>
        <p:spPr>
          <a:xfrm>
            <a:off x="809625" y="3676650"/>
            <a:ext cx="10382250" cy="523875"/>
          </a:xfrm>
          <a:prstGeom prst="rect">
            <a:avLst/>
          </a:prstGeom>
          <a:noFill/>
          <a:ln w="0">
            <a:noFill/>
            <a:prstDash val="solid"/>
          </a:ln>
        </p:spPr>
        <p:txBody>
          <a:bodyPr anchor="ctr"/>
          <a:lstStyle/>
          <a:p>
            <a:pPr algn="l">
              <a:defRPr sz="1350" b="0">
                <a:solidFill>
                  <a:srgbClr val="A8B8C8"/>
                </a:solidFill>
              </a:defRPr>
            </a:pPr>
            <a:r>
              <a:rPr sz="1350" b="0">
                <a:solidFill>
                  <a:srgbClr val="A8B8C8"/>
                </a:solidFill>
              </a:rPr>
              <a:t>NIST (2023) Artificial Intelligence Risk Management Framework (AI RMF 1.0). NIST AI 100-1.</a:t>
            </a:r>
          </a:p>
        </p:txBody>
      </p:sp>
      <p:sp>
        <p:nvSpPr>
          <p:cNvPr id="9" name="Rectangle 8">
            <a:extLst>
              <a:ext uri="{FF2B5EF4-FFF2-40B4-BE49-F238E27FC236}">
                <a16:creationId xmlns:a16="http://schemas.microsoft.com/office/drawing/2014/main" id="{299F61B1-A61E-4DCF-BEC2-C2D31EF1FE8E}"/>
              </a:ext>
            </a:extLst>
          </p:cNvPr>
          <p:cNvSpPr>
            <a:spLocks noGrp="1"/>
          </p:cNvSpPr>
          <p:nvPr/>
        </p:nvSpPr>
        <p:spPr>
          <a:xfrm>
            <a:off x="809625" y="4362450"/>
            <a:ext cx="10382250" cy="523875"/>
          </a:xfrm>
          <a:prstGeom prst="rect">
            <a:avLst/>
          </a:prstGeom>
          <a:noFill/>
          <a:ln w="0">
            <a:noFill/>
            <a:prstDash val="solid"/>
          </a:ln>
        </p:spPr>
        <p:txBody>
          <a:bodyPr anchor="ctr"/>
          <a:lstStyle/>
          <a:p>
            <a:pPr algn="l">
              <a:defRPr sz="1350" b="0">
                <a:solidFill>
                  <a:srgbClr val="A8B8C8"/>
                </a:solidFill>
              </a:defRPr>
            </a:pPr>
            <a:r>
              <a:rPr sz="1350" b="0">
                <a:solidFill>
                  <a:srgbClr val="A8B8C8"/>
                </a:solidFill>
              </a:rPr>
              <a:t>Rendle, S., Zhang, L. and Koren, Y. (2019) “On the difficulty of evaluating baselines”, arXiv:1905.01395.</a:t>
            </a:r>
          </a:p>
        </p:txBody>
      </p:sp>
      <p:sp>
        <p:nvSpPr>
          <p:cNvPr id="10" name="Rectangle 9">
            <a:extLst>
              <a:ext uri="{FF2B5EF4-FFF2-40B4-BE49-F238E27FC236}">
                <a16:creationId xmlns:a16="http://schemas.microsoft.com/office/drawing/2014/main" id="{586FCE7B-9F7B-4CDC-8E62-F58CB457D916}"/>
              </a:ext>
            </a:extLst>
          </p:cNvPr>
          <p:cNvSpPr>
            <a:spLocks noGrp="1"/>
          </p:cNvSpPr>
          <p:nvPr/>
        </p:nvSpPr>
        <p:spPr>
          <a:xfrm>
            <a:off x="809625" y="5048250"/>
            <a:ext cx="10382250" cy="523875"/>
          </a:xfrm>
          <a:prstGeom prst="rect">
            <a:avLst/>
          </a:prstGeom>
          <a:noFill/>
          <a:ln w="0">
            <a:noFill/>
            <a:prstDash val="solid"/>
          </a:ln>
        </p:spPr>
        <p:txBody>
          <a:bodyPr anchor="ctr"/>
          <a:lstStyle/>
          <a:p>
            <a:pPr algn="l">
              <a:defRPr sz="1350" b="0">
                <a:solidFill>
                  <a:srgbClr val="A8B8C8"/>
                </a:solidFill>
              </a:defRPr>
            </a:pPr>
            <a:r>
              <a:rPr sz="1350" b="0">
                <a:solidFill>
                  <a:srgbClr val="A8B8C8"/>
                </a:solidFill>
              </a:rPr>
              <a:t>GroupLens Research (2026) MovieLens 100K Dataset. Available at: https://grouplens.org/datasets/movielens/100k/.</a:t>
            </a:r>
          </a:p>
        </p:txBody>
      </p:sp>
    </p:spTree>
    <p:extLst>
      <p:ext uri="{BB962C8B-B14F-4D97-AF65-F5344CB8AC3E}">
        <p14:creationId xmlns:p14="http://schemas.microsoft.com/office/powerpoint/2010/main" val="211287618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3721</Words>
  <Application>Microsoft Office PowerPoint</Application>
  <DocSecurity>0</DocSecurity>
  <PresentationFormat>Widescreen</PresentationFormat>
  <Paragraphs>313</Paragraphs>
  <Slides>17</Slides>
  <Notes>17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2026-07-13T21:08:22Z</dcterms:created>
  <dcterms:modified xsi:type="dcterms:W3CDTF">2026-07-13T21:11:06Z</dcterms:modified>
</cp:coreProperties>
</file>